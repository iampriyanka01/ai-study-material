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  <a:latin typeface="Verdana"/>
              </a:defRPr>
            </a:pPr>
            <a:r>
              <a:t>FOUNDATIONS OF AI AGENTS</a:t>
            </a:r>
          </a:p>
          <a:p>
            <a:pPr>
              <a:spcAft>
                <a:spcPts val="1400"/>
              </a:spcAft>
              <a:defRPr sz="4000" b="1">
                <a:solidFill>
                  <a:srgbClr val="F8FAFC"/>
                </a:solidFill>
                <a:latin typeface="Georgia"/>
              </a:defRPr>
            </a:pPr>
            <a:r>
              <a:t>Building Blocks of AI Agents</a:t>
            </a:r>
          </a:p>
          <a:p>
            <a:pPr>
              <a:defRPr sz="1800">
                <a:solidFill>
                  <a:srgbClr val="94A3B8"/>
                </a:solidFill>
                <a:latin typeface="Verdana"/>
              </a:defRPr>
            </a:pPr>
            <a:r>
              <a:t>A Complete Architectural Guide from PEAS Framework to Modern LLM Control Loops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PEAS Framework Defines Agent Boundaries Across 4 Critical Dimensions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Georgia"/>
              </a:defRPr>
            </a:pPr>
            <a:r>
              <a:t>P - Performance Measure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Defines metrics for success, quality, speed, safety, and user satisfaction.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Verdana"/>
              </a:defRPr>
            </a:pPr>
            <a:r>
              <a:t>REAL-WORLD EXAMPLES: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Self-Driving Taxi: Zero accidents, legal compliance, smooth ride, energy efficiency.</a:t>
            </a:r>
            <a:br/>
            <a:br/>
            <a:r>
              <a:t>Pizza Delivery: Delivered &lt;30 mins, hot pizza, accurate order, courteous service.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D9488"/>
                </a:solidFill>
                <a:latin typeface="Georgia"/>
              </a:defRPr>
            </a:pPr>
            <a:r>
              <a:t>E - Environment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The workspace or world in which the agent lives and operates.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Verdana"/>
              </a:defRPr>
            </a:pPr>
            <a:r>
              <a:t>REAL-WORLD EXAMPLES: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Chess Bot: 8x8 static board, fully observable, predictable rules.</a:t>
            </a:r>
            <a:br/>
            <a:br/>
            <a:r>
              <a:t>Taxi Bot: Chaotic city streets, dynamic, partially observable, unpredictable.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4688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t>A - Actuators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The physical or digital mechanisms used to take action and alter the environment.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Verdana"/>
              </a:defRPr>
            </a:pPr>
            <a:r>
              <a:t>REAL-WORLD EXAMPLES: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Robotic Arms: Steering, braking, physical movement.</a:t>
            </a:r>
            <a:br/>
            <a:br/>
            <a:r>
              <a:t>Digital Chatbot: Screen output, voice synthesis, API requests, database updates.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24688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4688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  <a:latin typeface="Georgia"/>
              </a:defRPr>
            </a:pPr>
            <a:r>
              <a:t>S - Sensors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Input devices or feeds through which the agent perceives its surroundings.</a:t>
            </a:r>
          </a:p>
          <a:p>
            <a:pPr>
              <a:spcAft>
                <a:spcPts val="400"/>
              </a:spcAft>
              <a:defRPr sz="1000" b="1">
                <a:solidFill>
                  <a:srgbClr val="475569"/>
                </a:solidFill>
                <a:latin typeface="Verdana"/>
              </a:defRPr>
            </a:pPr>
            <a:r>
              <a:t>REAL-WORLD EXAMPLES:</a:t>
            </a:r>
          </a:p>
          <a:p>
            <a:pPr>
              <a:defRPr sz="1100">
                <a:solidFill>
                  <a:srgbClr val="475569"/>
                </a:solidFill>
                <a:latin typeface="Verdana"/>
              </a:defRPr>
            </a:pPr>
            <a:r>
              <a:t>Physical: Cameras, LiDAR, radar, infrared, GPS, wheel encoders.</a:t>
            </a:r>
            <a:br/>
            <a:br/>
            <a:r>
              <a:t>Digital: Text prompts, JSON feeds, database queries, audio streams, CSV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645920"/>
            <a:ext cx="24688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Modern LLM Agents Consolidate 6 Classical Mind Functions into 4 Practical Pillars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475569"/>
                </a:solidFill>
                <a:latin typeface="Georgia"/>
              </a:defRPr>
            </a:pPr>
            <a:r>
              <a:t>Classical AI Architecture (6 Components)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1. Perception: Gathering raw inputs via sensors, cameras, or feeds.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2. Memory: Storing knowledge, past states, and historical experience.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3. Planning: Determining multi-step sequences to reach objectives.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4. Reasoning: Logical deduction, evaluating choices, and adapting.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5. Communication: Exchanging messages with humans or other agents.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6. Interaction: Executing actions that impact the external world.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Modern LLM Agent Architecture (4 Pillars)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1. Perception: NLU, intent detection, entity recognition, plus multimodal vision, audio &amp; structured data parsing.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2. Memory: Short-Term (LLM Context Window scratchpad) + Long-Term (Vector Databases, Embeddings, RAG).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3. Planning: Task decomposition and iterative reasoning frameworks like ReAct (Reason + Act + Observe).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4. Tools &amp; Actions: Interacting with digital systems via JSON function calls to APIs, search engines, and DBs.</a:t>
            </a:r>
          </a:p>
          <a:p>
            <a:pPr>
              <a:defRPr sz="1100" b="1">
                <a:solidFill>
                  <a:srgbClr val="0D9488"/>
                </a:solidFill>
                <a:latin typeface="Verdana"/>
              </a:defRPr>
            </a:pPr>
            <a:r>
              <a:t>Note: LLMs natively fold reasoning, communication, and interaction directly into these 4 engineering pillars.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Model-Based Agents Overcome Simple Reflex Blindspots Using Internal World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D97706"/>
                </a:solidFill>
                <a:latin typeface="Georgia"/>
              </a:defRPr>
            </a:pPr>
            <a:r>
              <a:t>1. Simple Reflex Agent (Stateless)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Mechanism: Direct mapping from current percept -&gt; action via rigid IF-THEN lookup rules.</a:t>
            </a:r>
            <a:br/>
            <a:r>
              <a:t>• Key Trait: No memory/history. Cannot handle partial observability or unobserved changes.</a:t>
            </a:r>
            <a:br/>
            <a:br/>
            <a:r>
              <a:t>Example 1: Automated Streetlight</a:t>
            </a:r>
            <a:br/>
            <a:r>
              <a:t>Rule: IF light &lt; 50 lux THEN ON; IF light &gt; 50 lux THEN OFF.</a:t>
            </a:r>
            <a:br/>
            <a:r>
              <a:t>Failure: Passing clouds cause frequent annoying flickering because it ignores time/history.</a:t>
            </a:r>
            <a:br/>
            <a:br/>
            <a:r>
              <a:t>Example 2: Blinding Sun Glare in Driving</a:t>
            </a:r>
            <a:br/>
            <a:r>
              <a:t>Flaw: Camera gets blinded for 1s -&gt; perceives 'nothing ahead' -&gt; accelerates dangerously into car ahead.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2. Model-Based Reflex Agent (Stateful)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Mechanism: Maintains an internal 'world model' combining past percepts + past actions + environmental rules.</a:t>
            </a:r>
            <a:br/>
            <a:r>
              <a:t>• Key Trait: Uses memory to 'fill in gaps' during temporary sensor failures or partial observability.</a:t>
            </a:r>
            <a:br/>
            <a:br/>
            <a:r>
              <a:t>Driving Glare Solution:</a:t>
            </a:r>
            <a:br/>
            <a:r>
              <a:t>1. Internal State remembers a vehicle was 10m ahead traveling at 60 km/h 1 second ago.</a:t>
            </a:r>
            <a:br/>
            <a:r>
              <a:t>2. World Model knows physical objects don't vanish into thin air.</a:t>
            </a:r>
            <a:br/>
            <a:r>
              <a:t>3. Action: Maintains safe distance and speed despite momentary blindness.</a:t>
            </a:r>
            <a:br/>
            <a:br/>
            <a:r>
              <a:t>LLM Connection: Context window &amp; Vector DBs act as the agent's internal world state!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Utility-Based Agents Optimize Multi-Factor Trade-offs Beyond Binary Goal Reaching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3. Goal-Based Agents (Proactive)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Core Principle: Operates with an explicit target state ('Deliver package to 123 Main St').</a:t>
            </a:r>
            <a:br/>
            <a:r>
              <a:t>• Planning: Evaluates future sequences of actions to transform current state into goal state.</a:t>
            </a:r>
            <a:br/>
            <a:r>
              <a:t>• Proactive Re-planning: If a roadblock appears, it calculates an alternate path rather than wandering aimlessly.</a:t>
            </a:r>
            <a:br/>
            <a:br/>
            <a:r>
              <a:t>Courier Robot Example:</a:t>
            </a:r>
            <a:br/>
            <a:r>
              <a:t>Calculates GPS route -&gt; hits blocked sidewalk -&gt; re-plans around obstacle toward destination.</a:t>
            </a:r>
            <a:br/>
            <a:br/>
            <a:r>
              <a:t>Limitation: Treats all successful paths equally (doesn't weigh trade-offs like comfort vs cost).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4. Utility-Based Agents (Trade-off Evaluator)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Core Principle: Employs a Utility Function measuring 'how good' an outcome is across competing dimensions.</a:t>
            </a:r>
            <a:br/>
            <a:r>
              <a:t>• Trade-off Matrix: Weighs Cost, Speed, Comfort, Ratings, and User Preferences.</a:t>
            </a:r>
            <a:br/>
            <a:br/>
            <a:r>
              <a:t>AI Travel Agent Case Study:</a:t>
            </a:r>
            <a:br/>
            <a:r>
              <a:t>• Option A: $1,200 Direct Flight | 0 Layovers | 7 hrs | High Rating</a:t>
            </a:r>
            <a:br/>
            <a:r>
              <a:t>• Option B: $500 Budget Flight | 2 Layovers | 19 hrs | Low Rating</a:t>
            </a:r>
            <a:br/>
            <a:br/>
            <a:r>
              <a:t>Decision: Calculates Utility Score based on user preferences and recommends Option A if layovers are heavily penalized.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Learning Agents Master Complex Domains via Critic Feedback and Exploration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D97706"/>
                </a:solidFill>
                <a:latin typeface="Georgia"/>
              </a:defRPr>
            </a:pPr>
            <a:r>
              <a:t>1. Critic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Observes outcomes against performance standards and issues feedback signals (rewards/penalties).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t>2. Learning Element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Takes critic feedback and modifies internal behavior, updating rules and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0D9488"/>
                </a:solidFill>
                <a:latin typeface="Georgia"/>
              </a:defRPr>
            </a:pPr>
            <a:r>
              <a:t>3. Performance Element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The external 'doer' executing chosen actions in the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t>4. Problem Generator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Encourages curiosity and exploration of novel strategies rather than repeating known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F8FAFC"/>
                </a:solidFill>
                <a:latin typeface="Verdana"/>
              </a:defRPr>
            </a:pPr>
            <a:r>
              <a:t>LLM Connection: RLHF (Reinforcement Learning from Human Feedback) &amp; Self-Reflective Loops (Reflexion) embody this exact paradigm.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Function Calling Is a Single Tool Invocation While Agency Is an Autonomous Control Loop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LLM + Function Calling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True AI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Verdana"/>
                        </a:defRPr>
                      </a:pPr>
                      <a:r>
                        <a:t>Control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Single-step (Prompt -&gt; JSON tool request -&gt; Response)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Multi-step autonomous loop (Decide -&gt; Act -&gt; Observe -&gt; Re-plan)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Verdana"/>
                        </a:defRPr>
                      </a:pPr>
                      <a:r>
                        <a:t>Goal Scope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Atomic tool query (e.g. 'Get weather in Delhi')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Broad multi-subtask goal (e.g. 'Plan 3-day Delhi itinerary &amp; book hotel')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Verdana"/>
                        </a:defRPr>
                      </a:pPr>
                      <a:r>
                        <a:t>State &amp;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Stateless / Ephemeral unless externally recorded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Persistent short-term scratchpad + long-term Vector DB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Verdana"/>
                        </a:defRPr>
                      </a:pPr>
                      <a:r>
                        <a:t>Error Recovery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Fails if single API call errors out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Monitors tool outputs, validates results, and retries/re-routes autonomously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563EB"/>
                          </a:solidFill>
                          <a:latin typeface="Verdana"/>
                        </a:defRPr>
                      </a:pPr>
                      <a:r>
                        <a:t>Analogy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An assistant who places a single requested phone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An autonomous Project Manager coordinating tasks to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The Agent Brain Reasons While the Agent Executor Handles Tool Orchestration &amp; Runtime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The Agent (The Brain)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Powered by the LLM (e.g., Gemini, GPT-4).</a:t>
            </a:r>
            <a:br/>
            <a:br/>
            <a:r>
              <a:t>• Responsibilities:</a:t>
            </a:r>
            <a:br/>
            <a:r>
              <a:t>  1. Interprets the user's high-level goal.</a:t>
            </a:r>
            <a:br/>
            <a:r>
              <a:t>  2. Decomposes goals into logical sub-tasks.</a:t>
            </a:r>
            <a:br/>
            <a:r>
              <a:t>  3. Reasons step-by-step using scratchpad thoughts.</a:t>
            </a:r>
            <a:br/>
            <a:r>
              <a:t>  4. Selects appropriate tools and formats parameters.</a:t>
            </a:r>
            <a:br/>
            <a:r>
              <a:t>  5. Evaluates tool observations against the target goal.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0D9488"/>
                </a:solidFill>
                <a:latin typeface="Georgia"/>
              </a:defRPr>
            </a:pPr>
            <a:r>
              <a:t>The Agent Executor (The Conductor / Hands)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Powered by the outer software runtime (e.g. LangChain, CrewAI).</a:t>
            </a:r>
            <a:br/>
            <a:br/>
            <a:r>
              <a:t>• Responsibilities:</a:t>
            </a:r>
            <a:br/>
            <a:r>
              <a:t>  1. Catches JSON tool call requests emitted by the LLM.</a:t>
            </a:r>
            <a:br/>
            <a:r>
              <a:t>  2. Executes actual Python functions, SQL queries, or HTTP API calls.</a:t>
            </a:r>
            <a:br/>
            <a:r>
              <a:t>  3. Feeds tool outputs (observations) back into the LLM context window.</a:t>
            </a:r>
            <a:br/>
            <a:r>
              <a:t>  4. Manages iteration loops, max-step limits, and error handling.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Production Agent Deployment Requires Multi-Layered Security &amp; Control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t>Risk: Prompt Injection Attacks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Malicious input overriding system instructions or stealing credentials.</a:t>
            </a:r>
          </a:p>
          <a:p>
            <a:pPr>
              <a:defRPr sz="1100" b="1">
                <a:solidFill>
                  <a:srgbClr val="0D9488"/>
                </a:solidFill>
                <a:latin typeface="Verdana"/>
              </a:defRPr>
            </a:pPr>
            <a:r>
              <a:t>Mitigation: Input Sanitization &amp; System Prompt Separation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t>Risk: Hallucinated Tool Calls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LLM fabricating non-existent API endpoints or parameter schemas.</a:t>
            </a:r>
          </a:p>
          <a:p>
            <a:pPr>
              <a:defRPr sz="1100" b="1">
                <a:solidFill>
                  <a:srgbClr val="0D9488"/>
                </a:solidFill>
                <a:latin typeface="Verdana"/>
              </a:defRPr>
            </a:pPr>
            <a:r>
              <a:t>Mitigation: Strict Tool Whitelisting &amp; Schema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t>Risk: Resource &amp; Cost Abuse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Infinite execution loops and rate-limit violations exhausting APIs.</a:t>
            </a:r>
          </a:p>
          <a:p>
            <a:pPr>
              <a:defRPr sz="1100" b="1">
                <a:solidFill>
                  <a:srgbClr val="0D9488"/>
                </a:solidFill>
                <a:latin typeface="Verdana"/>
              </a:defRPr>
            </a:pPr>
            <a:r>
              <a:t>Mitigation: Max Iteration Limits &amp; Cost Circuit Breakers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Georgia"/>
              </a:defRPr>
            </a:pPr>
            <a:r>
              <a:t>Risk: Unsanitized Actions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Executing destructive database deletions or financial transactions.</a:t>
            </a:r>
          </a:p>
          <a:p>
            <a:pPr>
              <a:defRPr sz="1100" b="1">
                <a:solidFill>
                  <a:srgbClr val="0D9488"/>
                </a:solidFill>
                <a:latin typeface="Verdana"/>
              </a:defRPr>
            </a:pPr>
            <a:r>
              <a:t>Mitigation: Human-in-the-Loop Approval &amp; Sandboxing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563EB"/>
                </a:solidFill>
                <a:latin typeface="Verdana"/>
              </a:defRPr>
            </a:pPr>
            <a:r>
              <a:t>BUILDING BLOCKS OF AI AGENTS</a:t>
            </a:r>
          </a:p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Summary Checklist: Evaluating True Agentic Autonomy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Does Your System Qualify as a True AI Agent?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Goal Decomposition — Does it autonomously break high-level prompts into actionable sub-tasks?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Dynamic Tool Selection — Does it choose tools based on reasoning rather than following a rigid script?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Iterative Control Loop — Does it run a 'Decide -&gt; Act -&gt; Observe -&gt; Re-plan' loop until complete?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Stateful Memory — Does it maintain context across multiple steps via context window &amp; Vector DBs?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Error Self-Correction — Does it analyze tool failure observations and attempt alternative paths?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✓ Safety &amp; Meta-Control — Does it know when it has satisfied the goal or when to request human approval?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