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revision companion for the 'Overview of GenAI Platforms' session. It covers: how LLMs are trained (pre-training, supervised fine-tuning, RLHF), open-source vs closed-source platforms, parameters and small language models (SLMs), and ethical considerations in GenAI. Use each slide's notes for the plain-language explanation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goals for this module: (1) understand LLMs and their 3-stage training; (2) compare open- vs closed-source platforms; (3) understand Small Language Models and why they matter; (4) interpret what 'parameters' mean; (5) practice with good/bad prompts; (6) evaluate ethical issues like bias, privacy, misinformation, and responsible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analogy: predictive text on your phone only knows your own messages and is often wrong. An LLM (Large Language Model) is trained on a massive slice of human writing — books, Wikipedia, news, forums, research papers — hundreds of billions of words. Because of this scale, it can predict full sentences/paragraphs, keep context across long conversations, mimic tone and intent, and produce coherent, creative responses. Example: unlike your phone's keyboard, ChatGPT/Claude can write an essay, debug code, or hold a multi-turn conversation because it has seen patterns across nearly the whole internet's worth of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an LLM has 3 stages, based on the Transformer architecture: Stage 1 - Generative Pre-training on massive internet text to produce a 'Base GPT Model' that only predicts next words. Stage 2 - Supervised Fine-Tuning (SFT) using labeled prompt-response pairs so the model learns to follow instructions. Stage 3 - Reinforcement Learning with Human Feedback (RLHF) where humans rank multiple answers so the model learns which responses people actually prefer, producing a chat-ready model like ChatGPT or Claude. Analogy: a student first reads widely (pre-training), then does guided exercises with an answer key (SFT), then gets feedback from a mentor on which answers are genuinely better (RLHF).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goal: enable the model to understand and generate human language by learning statistical patterns, grammar, semantics, and context. Flow: Internet Huge Data -&gt; Transformer -&gt; Base GPT Model. Three challenges researchers faced: (1) the model doesn't know language at all, solved by collecting huge real-world text (Wikipedia, books, news, Reddit, Stack Overflow, product reviews, research papers - hundreds of billions of words); (2) raw internet data is messy (ads, spam, broken characters), solved with cleaning pipelines (dedupe, filter spam, strip unsafe content, normalize formatting); (3) machines don't understand words, solved with tokenization - splitting text into tokens (full words, sub-words like 'bat'+'tery', or punctuation) and converting to numeric IDs. Key idea: the model doesn't learn facts, it learns patterns - e.g., 'I'm feeling anxious' is often followed by 'can't sleep'; 'The battery life of iPhone 14' is often followed by 'is decent'. The result is the Base GPT Model - a general-purpose language model that can complete sentences, summarize articles, generate fluent paragraphs - but doesn't yet follow instructions, isn't polite, and doesn't know what's true or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trains the Base GPT Model to perform specific tasks (Q&amp;A, summarizing, conversation) using labeled data - human-written prompt-response pairs, e.g. 'Translate to Hindi: Climate change' -&gt; the correct Hindi translation. This is supervised learning (correct answer known), unlike Stage 1's unsupervised pattern learning. Training loop: model generates a response -&gt; compare to correct answer -&gt; compute the 'loss' (difference) -&gt; update model weights via an optimizer (e.g. SGD) to reduce that loss -&gt; repeat millions of times across diverse tasks. Result: a Supervised Fine-Tuned model that knows how to respond to questions, format answers, sound polite/concise, and stay on topic. Limitation: it still doesn't have real judgment - it can be factually wrong, sound blunt/robotic, hallucinate, or be overconfident about uncertain/dangerous topics, and doesn't know what humans consider helpful, polite, or safe. RLHF (Stage 3) addresses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RLHF teaches the model to respond not just correctly, but helpfully, politely, and safely - like a human would. Process: the SFT model generates multiple alternate responses to the same prompt; human reviewers rank them from best to worst (e.g. for 'Explain depression to someone going through it', a supportive human-sounding answer ranks above a clinical DSM-5 definition, an oversimplified answer, or overconfident advice like 'try meditation, it works for most people'). These rankings train a separate Reward Model whose only job is to score how good/preferred a piece of text is - it doesn't generate text itself. Then reinforcement learning (commonly PPO - Proximal Policy Optimization) is used: the base model generates a response, the Reward Model scores it, high scores are rewarded and low scores penalized, and the model updates itself to prefer higher-scoring outputs. This is repeated thousands of times. Over time the model learns 'I should answer more like the response humans preferred' - it moves from just predicting the next word to shaping responses based on what humans actually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Open-source LLMs (Gemma by Google, LLaMA by Meta, Qwen by Alibaba, BLOOM by BigScience, Falcon by TII UAE) have publicly available source code/weights that anyone can access, use, modify, and distribute - encouraging collaboration and community-driven improvement, like an electric-car maker publishing its blueprints. Closed-source LLMs (GPT-4 by OpenAI, Claude by Anthropic, Gemini by Google DeepMind) are privately owned and commercially controlled - you access them via an app or API, but the model weights and code are hidden, like renting a supercar without getting the engine design. Example comparison: Student A uses ChatGPT (closed) for a career-counselor chatbot - polished and reliable but can't be customized, can't run offline, and costs API fees. Student B uses LLaMA 3 (open) - more setup work, but can be hosted locally, customized, and fine-tuned on his own career data, becoming truly his own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popular open-source LLM families: Gemma (Google) - 2B/7B parameters, Gemini-derived research, runs on local machines, great for offline study-assistant apps. LLaMA 3 (Meta) - 8B/70B parameters, top-tier open performance often competing with GPT-4, used for e.g. an AI teacher fine-tuned on local textbooks for rural schools. Qwen (Alibaba Cloud) - multilingual (English, Chinese, more), optimized for enterprise use, e.g. a bilingual customer-support bot. BLOOM (BigScience, 1000+ researchers) - supports 40+ languages, promotes AI democratization especially for underrepresented languages, e.g. news summaries in Swahili/Bengali. Falcon (Technology Innovation Institute, UAE) - 40B+ parameters trained on 1 trillion tokens, one of the largest public models at release, e.g. a private offline legal-contract review assistant. Each shows governments, companies and research collectives can all lead open AI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Popular closed-source LLMs: GPT-4 (OpenAI) powers ChatGPT, accessed via app/API not download. Claude (Anthropic) is known for being ethical and safe, used in business/productivity tools, weights stay private. Gemini (Google DeepMind) integrates with Google Search and Workspace and is multimodal, but only usable inside Google's ecosystem. Multimodal AI means an AI that can see, hear, read, and understand all at once, like a human - it processes images, documents, audio, and video together instead of only typed text, giving context-aware responses. Example: take a photo of a textbook diagram, upload PDF notes, and ask a spoken question ('explain this diagram and summarize my notes') - an advanced multimodal AI like GPT-4o or Gemini can analyze the diagram, read the PDF, understand the voice query, and respond with a usable summary/slide.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across four metrics. Performance: closed-source (GPT-4, Gemini, Claude) usually leads in raw capability, is multimodal, and runs on powerful cloud infra ('serverful') for low latency; open-source (LLaMA 3, Falcon, Gemma) is catching up fast but may need fine-tuning, and has no built-in server - it runs locally or on paid cloud you set up yourself. Accessibility: closed-source needs internet, API keys, rate limits, mostly paid usage, and depends on the company's pricing/uptime/data policies; open-source is free to download and run even offline - great for remote colleges, hackathons, and sensitive use cases like legal/medical chatbots. Customization: closed-source limits you to prompt engineering or API-based fine-tuning; open-source gives total flexibility - retrain, fine-tune on your own data, modify architecture. Community Support: closed-source has great official docs but you're limited to what the company shares; open-source has huge GitHub/Hugging Face/Discord communities that can help you debug and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parameter is a learned weight in a machine learning model - like a dial adjusted during training so the model predicts better. Think of it as a 'memory slot': more parameters means more capacity to remember language patterns, word relationships, facts, and reasoning steps - similar to how a human brain has billions of neurons. In Transformer models (GPT, BERT, LLaMA), layers contain neurons, each neuron has weights and biases (the actual parameters), and training adjusts these using backpropagation and gradient descent based on prediction error. So a '13 billion parameter' model has 13 billion individually optimized values. Scale examples from the chart: Gemma ~2B, LLaMA 3 ~8B, Falcon ~40B, Qwen ~72B, GPT-3 ~175B. The parameter count signals model capacity (how much it can learn), complexity (how deep/wide the architecture is), and resource requirements (how much hardware/GPU memory is needed to run it) - more parameters generally means more capability but also more cost and compute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Language Model (SLM) understands and generates text like an LLM but with far fewer parameters (millions to a few billion). Analogy: an LLM is a 100-seat luxury bus; an SLM is a compact car - fewer extras but still gets the job done, faster and more efficiently. Why SLMs are important in open source: lightweight (runs on laptops/mobile), fast (low lag, real-time), private (runs locally, data stays on-device), accessible (usable/fine-tunable without expensive GPUs). Why they matter overall: lower cost (training under $1,000 vs. millions for LLMs; cheaper inference with no API fees), faster &amp; more efficient (real-time for mobile/IoT, less energy = more sustainable), and greater privacy &amp; control (on-device deployment, ideal for healthcare/legal/enterprise data security). Examples: Phi by Microsoft (Phi-1, Phi-2 at 1.3B parameters, trained on curated textbook/reasoning datasets, near-larger-model performance while resource-friendly) and Gemma by Google DeepMind (2B/7B, built on Gemini tech, open/safe/efficient).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limitations of Small Language Models: (1) Limited knowledge scope - smaller datasets/parameters restrict understanding of rare events, niche domains, newer topics; critical for medical/legal/policy use cases; e.g. Phi-2 or Gemma may give a vague/outdated answer about the latest quantum computing breakthrough. (2) Struggles with complex reasoning - lack multi-step logical reasoning across paragraphs; affects finance, planning, and educational tools; e.g. a simple multi-step word problem about apples and bananas may be answered incorrectly. (3) Reduced multimodal abilities - most SLMs are text-only or need external image encoders (vs GPT-4o/Gemini's direct image understanding), limiting AI tutors, image search, or assistive tech. (4) Security &amp; hallucination risk - smaller models are more prone to confidently generating wrong info, e.g. inventing a fake research paper title/authors/journal when asked to cite one - risky for academia, journalism, healthcare. (5) Poorer generalization/adaptability - a model fine-tuned narrowly (e.g. for HR queries) performs poorly outside that domain (e.g. legal compliance or sales), so organizations may need multiple separate SLMs.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&amp; Fairness: if AI is trained on biased data, it perpetuates inequality faster. Example: a career-recommendation chatbot trained on historical data where most engineers were men and most nurses were women may keep suggesting roles along gender lines even for equally skilled students - bias baked unintentionally into training data. Real-world case: in 2018 Amazon scrapped an internal AI hiring tool after finding it downgraded resumes containing the word 'women's' (e.g. 'women's chess club'), because it learned from 10 years of male-dominated hiring data. This matters because bias causes unfair treatment in job screening, loans, healthcare decisions, etc. Mitigation: use balanced/diverse datasets, regularly audit outputs, keep humans in high-stakes decisions. Privacy Concerns: if AI trains on your data, who owns your privacy? Uploading personal content (notes, journals) to an AI tool risks that data being stored and potentially used to train future models without consent. Real-world case: in 2023 Samsung employees accidentally leaked sensitive source code by pasting it into ChatGPT; the data was stored on OpenAI's servers and could not be retrieved, so Samsung banned internal ChatGPT use. Once personal data is used in training it's nearly impossible to fully remove, which can violate privacy laws. Mitigation: never input private/sensitive info into untrusted AI tools, use tools that anonymize/delete data, and learn local laws like GDPR.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Intellectual Property: when AI creates something, who owns it? Generating content in the style of copyrighted characters/work raises legal and ethical issues. Real case: in 2023 Getty Images sued Stability AI (maker of Stable Diffusion) for allegedly training on millions of copyrighted images without permission - even AI-generated content can legally resemble copyrighted work. Mitigation: use open-source/public-domain datasets, clearly label AI-generated content, give credit where due. Misinformation: AI doesn't know truth, only patterns - it can 'hallucinate' false but confident-sounding answers. Real case: in 2023 a New York lawyer used ChatGPT to generate legal case references; the tool fabricated case names/judgments, he submitted them to court, and was sanctioned when the fabrication was discovered. Mitigation: always fact-check AI outputs, use AI alongside trusted sources, train models on high-quality verified datasets. Deepfakes &amp; Misuse: AI can create fake videos/voices indistinguishable from reality, useful for deception, blackmail, or manipulation. Real case: in 2024 a deepfake of a world leader urging troops to surrender spread online during wartime, sowing confusion before being debunked. Mitigation: watermark/label AI-generated content, use deepfake detection tools, build public awareness to help people spot fakes.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practices should be part of the AI development process, not an afterthought. Real-world example: Google's AI Principles (2018) - a public commitment not to pursue AI for surveillance or weapons, and to design models with fairness, privacy, and accountability in mind. Five guiding principles to follow: Transparency (let users know when content is AI-generated), Inclusivity (test models across genders, cultures, and languages), Accountability (if something goes wrong, someone must take responsibility), Consent (always respect data privacy and user rights), and Continuous Feedback (keep improving the model based on human input). These principles tie together the risks covered earlier - bias, privacy, IP, misinformation, and deepfakes - into a practical checklist for responsible AI development 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whole module: (1) LLM training pipeline has 3 stages - generative pre-training on massive internet data using the Transformer architecture, supervised fine-tuning with labeled prompt-response pairs, and RLHF to align model behavior with human preferences. (2) Open-source models (LLaMA, Gemma, Qwen) offer transparency, customization, and offline use; closed-source models (ChatGPT, Gemini, Claude) offer high performance but limited flexibility/accessibility. (3) Small Language Models like Phi and Gemma (2B/7B) are lightweight, resource-efficient alternatives ideal for mobile devices, offline apps, and data-sensitive environments. (4) Ethical considerations - bias, privacy breaches, misinformation, IP, and misuse like deepfakes - require transparency, fairness, and continuous human oversight. (5) Hands-on exploration is encouraged: try both open-source (via Hugging Face) and closed-source tools (ChatGPT, Gemini, Claude) with good and bad prompts to observe behavior, output variation, and real-world GenAI application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list for hands-on practice. Open-source: Hugging Face (huggingface.co) is the main platform for exploring open-source models, with a chat interface at huggingface.co/chat. Closed-source: ChatGPT (chatgpt.com) by OpenAI, Gemini (gemini.google.com/app, plus AI Studio at aistudio.google.com) by Google DeepMind, and Claude (claude.ai/new) by Anthropic. For staying current: News Trends in AI (artificialintelligence-news.com) and Analytics Trends in AI (artificialanalysis.ai). Suggested exercise: pick one open-source and one closed-source tool, give both the same clear 'good' prompt and the same vague 'bad' prompt, and compare the tone, accuracy, and alignment of their responses - this is the hands-on exploration encouraged in the session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41B45"/>
          </a:solidFill>
          <a:ln/>
        </p:spPr>
      </p:sp>
      <p:sp>
        <p:nvSpPr>
          <p:cNvPr id="3" name="Shape 1"/>
          <p:cNvSpPr/>
          <p:nvPr/>
        </p:nvSpPr>
        <p:spPr>
          <a:xfrm>
            <a:off x="-1280160" y="4754880"/>
            <a:ext cx="3291840" cy="3291840"/>
          </a:xfrm>
          <a:prstGeom prst="ellipse">
            <a:avLst/>
          </a:prstGeom>
          <a:solidFill>
            <a:srgbClr val="141B45"/>
          </a:solidFill>
          <a:ln/>
        </p:spPr>
      </p:sp>
      <p:sp>
        <p:nvSpPr>
          <p:cNvPr id="4" name="Shape 2"/>
          <p:cNvSpPr/>
          <p:nvPr/>
        </p:nvSpPr>
        <p:spPr>
          <a:xfrm>
            <a:off x="10607040" y="4206240"/>
            <a:ext cx="1463040" cy="1463040"/>
          </a:xfrm>
          <a:prstGeom prst="ellipse">
            <a:avLst/>
          </a:prstGeom>
          <a:solidFill>
            <a:srgbClr val="F2994A"/>
          </a:solidFill>
          <a:ln/>
        </p:spPr>
      </p:sp>
      <p:sp>
        <p:nvSpPr>
          <p:cNvPr id="5" name="Text 3"/>
          <p:cNvSpPr/>
          <p:nvPr/>
        </p:nvSpPr>
        <p:spPr>
          <a:xfrm>
            <a:off x="822960" y="1965960"/>
            <a:ext cx="5486400" cy="365760"/>
          </a:xfrm>
          <a:prstGeom prst="rect">
            <a:avLst/>
          </a:prstGeom>
          <a:noFill/>
          <a:ln/>
        </p:spPr>
        <p:txBody>
          <a:bodyPr wrap="square" rtlCol="0" anchor="ctr"/>
          <a:lstStyle/>
          <a:p>
            <a:pPr indent="0" marL="0">
              <a:buNone/>
            </a:pPr>
            <a:r>
              <a:rPr lang="en-US" sz="1500" b="1" spc="300" kern="0" dirty="0">
                <a:solidFill>
                  <a:srgbClr val="3EC1D3"/>
                </a:solidFill>
                <a:latin typeface="Calibri" pitchFamily="34" charset="0"/>
                <a:ea typeface="Calibri" pitchFamily="34" charset="-122"/>
                <a:cs typeface="Calibri" pitchFamily="34" charset="-120"/>
              </a:rPr>
              <a:t>MODULE 2</a:t>
            </a:r>
            <a:endParaRPr lang="en-US" sz="1500" dirty="0"/>
          </a:p>
        </p:txBody>
      </p:sp>
      <p:sp>
        <p:nvSpPr>
          <p:cNvPr id="6" name="Text 4"/>
          <p:cNvSpPr/>
          <p:nvPr/>
        </p:nvSpPr>
        <p:spPr>
          <a:xfrm>
            <a:off x="777240" y="2331720"/>
            <a:ext cx="9601200" cy="12801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Overview of GenAI Platforms</a:t>
            </a:r>
            <a:endParaRPr lang="en-US" sz="4000" dirty="0"/>
          </a:p>
        </p:txBody>
      </p:sp>
      <p:sp>
        <p:nvSpPr>
          <p:cNvPr id="7" name="Text 5"/>
          <p:cNvSpPr/>
          <p:nvPr/>
        </p:nvSpPr>
        <p:spPr>
          <a:xfrm>
            <a:off x="822960" y="3520440"/>
            <a:ext cx="786384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How Large Language Models are trained, the open-source vs closed-source landscape, small language models, parameters, and the ethics that keep GenAI responsible.</a:t>
            </a:r>
            <a:endParaRPr lang="en-US" sz="1400" dirty="0"/>
          </a:p>
        </p:txBody>
      </p:sp>
      <p:sp>
        <p:nvSpPr>
          <p:cNvPr id="8" name="Text 6"/>
          <p:cNvSpPr/>
          <p:nvPr/>
        </p:nvSpPr>
        <p:spPr>
          <a:xfrm>
            <a:off x="822960" y="6126480"/>
            <a:ext cx="5486400" cy="365760"/>
          </a:xfrm>
          <a:prstGeom prst="rect">
            <a:avLst/>
          </a:prstGeom>
          <a:noFill/>
          <a:ln/>
        </p:spPr>
        <p:txBody>
          <a:bodyPr wrap="square" rtlCol="0" anchor="ctr"/>
          <a:lstStyle/>
          <a:p>
            <a:pPr indent="0" marL="0">
              <a:buNone/>
            </a:pPr>
            <a:r>
              <a:rPr lang="en-US" sz="1200" dirty="0">
                <a:solidFill>
                  <a:srgbClr val="5A6B87"/>
                </a:solidFill>
                <a:latin typeface="Calibri" pitchFamily="34" charset="0"/>
                <a:ea typeface="Calibri" pitchFamily="34" charset="-122"/>
                <a:cs typeface="Calibri" pitchFamily="34" charset="-120"/>
              </a:rPr>
              <a:t>Revision Deck  |  Coding Ninjas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Session Objectives</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By the end of this topic, you should be able to do the following</a:t>
            </a:r>
            <a:endParaRPr lang="en-US" sz="1400" dirty="0"/>
          </a:p>
        </p:txBody>
      </p:sp>
      <p:sp>
        <p:nvSpPr>
          <p:cNvPr id="4" name="Shape 2"/>
          <p:cNvSpPr/>
          <p:nvPr/>
        </p:nvSpPr>
        <p:spPr>
          <a:xfrm>
            <a:off x="457200" y="1508760"/>
            <a:ext cx="3657600" cy="21488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Shape 3"/>
          <p:cNvSpPr/>
          <p:nvPr/>
        </p:nvSpPr>
        <p:spPr>
          <a:xfrm>
            <a:off x="685800" y="1737360"/>
            <a:ext cx="457200" cy="457200"/>
          </a:xfrm>
          <a:prstGeom prst="ellipse">
            <a:avLst/>
          </a:prstGeom>
          <a:solidFill>
            <a:srgbClr val="F2994A"/>
          </a:solidFill>
          <a:ln/>
        </p:spPr>
      </p:sp>
      <p:sp>
        <p:nvSpPr>
          <p:cNvPr id="6" name="Text 4"/>
          <p:cNvSpPr/>
          <p:nvPr/>
        </p:nvSpPr>
        <p:spPr>
          <a:xfrm>
            <a:off x="68580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685800" y="2331720"/>
            <a:ext cx="32004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Understand LLMs</a:t>
            </a:r>
            <a:endParaRPr lang="en-US" sz="1500" dirty="0"/>
          </a:p>
        </p:txBody>
      </p:sp>
      <p:sp>
        <p:nvSpPr>
          <p:cNvPr id="8" name="Text 6"/>
          <p:cNvSpPr/>
          <p:nvPr/>
        </p:nvSpPr>
        <p:spPr>
          <a:xfrm>
            <a:off x="685800" y="2679192"/>
            <a:ext cx="3200400" cy="868680"/>
          </a:xfrm>
          <a:prstGeom prst="rect">
            <a:avLst/>
          </a:prstGeom>
          <a:noFill/>
          <a:ln/>
        </p:spPr>
        <p:txBody>
          <a:bodyPr wrap="square" rtlCol="0" anchor="t"/>
          <a:lstStyle/>
          <a:p>
            <a:pPr indent="0" marL="0">
              <a:buNone/>
            </a:pPr>
            <a:r>
              <a:rPr lang="en-US" sz="1100" dirty="0">
                <a:solidFill>
                  <a:srgbClr val="5A6B87"/>
                </a:solidFill>
                <a:latin typeface="Calibri" pitchFamily="34" charset="0"/>
                <a:ea typeface="Calibri" pitchFamily="34" charset="-122"/>
                <a:cs typeface="Calibri" pitchFamily="34" charset="-120"/>
              </a:rPr>
              <a:t>What they are and how they're trained: pre-training, supervised fine-tuning, and RLHF.</a:t>
            </a:r>
            <a:endParaRPr lang="en-US" sz="1100" dirty="0"/>
          </a:p>
        </p:txBody>
      </p:sp>
      <p:sp>
        <p:nvSpPr>
          <p:cNvPr id="9" name="Shape 7"/>
          <p:cNvSpPr/>
          <p:nvPr/>
        </p:nvSpPr>
        <p:spPr>
          <a:xfrm>
            <a:off x="4315968" y="1508760"/>
            <a:ext cx="3657600" cy="21488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0" name="Shape 8"/>
          <p:cNvSpPr/>
          <p:nvPr/>
        </p:nvSpPr>
        <p:spPr>
          <a:xfrm>
            <a:off x="4544568" y="1737360"/>
            <a:ext cx="457200" cy="457200"/>
          </a:xfrm>
          <a:prstGeom prst="ellipse">
            <a:avLst/>
          </a:prstGeom>
          <a:solidFill>
            <a:srgbClr val="F2994A"/>
          </a:solidFill>
          <a:ln/>
        </p:spPr>
      </p:sp>
      <p:sp>
        <p:nvSpPr>
          <p:cNvPr id="11" name="Text 9"/>
          <p:cNvSpPr/>
          <p:nvPr/>
        </p:nvSpPr>
        <p:spPr>
          <a:xfrm>
            <a:off x="4544568"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544568" y="2331720"/>
            <a:ext cx="32004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Compare Platforms</a:t>
            </a:r>
            <a:endParaRPr lang="en-US" sz="1500" dirty="0"/>
          </a:p>
        </p:txBody>
      </p:sp>
      <p:sp>
        <p:nvSpPr>
          <p:cNvPr id="13" name="Text 11"/>
          <p:cNvSpPr/>
          <p:nvPr/>
        </p:nvSpPr>
        <p:spPr>
          <a:xfrm>
            <a:off x="4544568" y="2679192"/>
            <a:ext cx="3200400" cy="868680"/>
          </a:xfrm>
          <a:prstGeom prst="rect">
            <a:avLst/>
          </a:prstGeom>
          <a:noFill/>
          <a:ln/>
        </p:spPr>
        <p:txBody>
          <a:bodyPr wrap="square" rtlCol="0" anchor="t"/>
          <a:lstStyle/>
          <a:p>
            <a:pPr indent="0" marL="0">
              <a:buNone/>
            </a:pPr>
            <a:r>
              <a:rPr lang="en-US" sz="1100" dirty="0">
                <a:solidFill>
                  <a:srgbClr val="5A6B87"/>
                </a:solidFill>
                <a:latin typeface="Calibri" pitchFamily="34" charset="0"/>
                <a:ea typeface="Calibri" pitchFamily="34" charset="-122"/>
                <a:cs typeface="Calibri" pitchFamily="34" charset="-120"/>
              </a:rPr>
              <a:t>Explore open-source vs closed-source GenAI platforms — strengths, limits, use cases.</a:t>
            </a:r>
            <a:endParaRPr lang="en-US" sz="1100" dirty="0"/>
          </a:p>
        </p:txBody>
      </p:sp>
      <p:sp>
        <p:nvSpPr>
          <p:cNvPr id="14" name="Shape 12"/>
          <p:cNvSpPr/>
          <p:nvPr/>
        </p:nvSpPr>
        <p:spPr>
          <a:xfrm>
            <a:off x="8174736" y="1508760"/>
            <a:ext cx="3657600" cy="21488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5" name="Shape 13"/>
          <p:cNvSpPr/>
          <p:nvPr/>
        </p:nvSpPr>
        <p:spPr>
          <a:xfrm>
            <a:off x="8403336" y="1737360"/>
            <a:ext cx="457200" cy="457200"/>
          </a:xfrm>
          <a:prstGeom prst="ellipse">
            <a:avLst/>
          </a:prstGeom>
          <a:solidFill>
            <a:srgbClr val="F2994A"/>
          </a:solidFill>
          <a:ln/>
        </p:spPr>
      </p:sp>
      <p:sp>
        <p:nvSpPr>
          <p:cNvPr id="16" name="Text 14"/>
          <p:cNvSpPr/>
          <p:nvPr/>
        </p:nvSpPr>
        <p:spPr>
          <a:xfrm>
            <a:off x="8403336"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8403336" y="2331720"/>
            <a:ext cx="32004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Know SLMs</a:t>
            </a:r>
            <a:endParaRPr lang="en-US" sz="1500" dirty="0"/>
          </a:p>
        </p:txBody>
      </p:sp>
      <p:sp>
        <p:nvSpPr>
          <p:cNvPr id="18" name="Text 16"/>
          <p:cNvSpPr/>
          <p:nvPr/>
        </p:nvSpPr>
        <p:spPr>
          <a:xfrm>
            <a:off x="8403336" y="2679192"/>
            <a:ext cx="3200400" cy="868680"/>
          </a:xfrm>
          <a:prstGeom prst="rect">
            <a:avLst/>
          </a:prstGeom>
          <a:noFill/>
          <a:ln/>
        </p:spPr>
        <p:txBody>
          <a:bodyPr wrap="square" rtlCol="0" anchor="t"/>
          <a:lstStyle/>
          <a:p>
            <a:pPr indent="0" marL="0">
              <a:buNone/>
            </a:pPr>
            <a:r>
              <a:rPr lang="en-US" sz="1100" dirty="0">
                <a:solidFill>
                  <a:srgbClr val="5A6B87"/>
                </a:solidFill>
                <a:latin typeface="Calibri" pitchFamily="34" charset="0"/>
                <a:ea typeface="Calibri" pitchFamily="34" charset="-122"/>
                <a:cs typeface="Calibri" pitchFamily="34" charset="-120"/>
              </a:rPr>
              <a:t>Learn about Small Language Models and why they matter in resource-constrained settings.</a:t>
            </a:r>
            <a:endParaRPr lang="en-US" sz="1100" dirty="0"/>
          </a:p>
        </p:txBody>
      </p:sp>
      <p:sp>
        <p:nvSpPr>
          <p:cNvPr id="19" name="Shape 17"/>
          <p:cNvSpPr/>
          <p:nvPr/>
        </p:nvSpPr>
        <p:spPr>
          <a:xfrm>
            <a:off x="457200" y="3858768"/>
            <a:ext cx="3657600" cy="21488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0" name="Shape 18"/>
          <p:cNvSpPr/>
          <p:nvPr/>
        </p:nvSpPr>
        <p:spPr>
          <a:xfrm>
            <a:off x="685800" y="4087368"/>
            <a:ext cx="457200" cy="457200"/>
          </a:xfrm>
          <a:prstGeom prst="ellipse">
            <a:avLst/>
          </a:prstGeom>
          <a:solidFill>
            <a:srgbClr val="F2994A"/>
          </a:solidFill>
          <a:ln/>
        </p:spPr>
      </p:sp>
      <p:sp>
        <p:nvSpPr>
          <p:cNvPr id="21" name="Text 19"/>
          <p:cNvSpPr/>
          <p:nvPr/>
        </p:nvSpPr>
        <p:spPr>
          <a:xfrm>
            <a:off x="685800" y="40873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685800" y="4681728"/>
            <a:ext cx="32004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Read Parameters</a:t>
            </a:r>
            <a:endParaRPr lang="en-US" sz="1500" dirty="0"/>
          </a:p>
        </p:txBody>
      </p:sp>
      <p:sp>
        <p:nvSpPr>
          <p:cNvPr id="23" name="Text 21"/>
          <p:cNvSpPr/>
          <p:nvPr/>
        </p:nvSpPr>
        <p:spPr>
          <a:xfrm>
            <a:off x="685800" y="5029200"/>
            <a:ext cx="3200400" cy="868680"/>
          </a:xfrm>
          <a:prstGeom prst="rect">
            <a:avLst/>
          </a:prstGeom>
          <a:noFill/>
          <a:ln/>
        </p:spPr>
        <p:txBody>
          <a:bodyPr wrap="square" rtlCol="0" anchor="t"/>
          <a:lstStyle/>
          <a:p>
            <a:pPr indent="0" marL="0">
              <a:buNone/>
            </a:pPr>
            <a:r>
              <a:rPr lang="en-US" sz="1100" dirty="0">
                <a:solidFill>
                  <a:srgbClr val="5A6B87"/>
                </a:solidFill>
                <a:latin typeface="Calibri" pitchFamily="34" charset="0"/>
                <a:ea typeface="Calibri" pitchFamily="34" charset="-122"/>
                <a:cs typeface="Calibri" pitchFamily="34" charset="-120"/>
              </a:rPr>
              <a:t>Interpret what billion-parameter counts mean for performance and scope.</a:t>
            </a:r>
            <a:endParaRPr lang="en-US" sz="1100" dirty="0"/>
          </a:p>
        </p:txBody>
      </p:sp>
      <p:sp>
        <p:nvSpPr>
          <p:cNvPr id="24" name="Shape 22"/>
          <p:cNvSpPr/>
          <p:nvPr/>
        </p:nvSpPr>
        <p:spPr>
          <a:xfrm>
            <a:off x="4315968" y="3858768"/>
            <a:ext cx="3657600" cy="21488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5" name="Shape 23"/>
          <p:cNvSpPr/>
          <p:nvPr/>
        </p:nvSpPr>
        <p:spPr>
          <a:xfrm>
            <a:off x="4544568" y="4087368"/>
            <a:ext cx="457200" cy="457200"/>
          </a:xfrm>
          <a:prstGeom prst="ellipse">
            <a:avLst/>
          </a:prstGeom>
          <a:solidFill>
            <a:srgbClr val="F2994A"/>
          </a:solidFill>
          <a:ln/>
        </p:spPr>
      </p:sp>
      <p:sp>
        <p:nvSpPr>
          <p:cNvPr id="26" name="Text 24"/>
          <p:cNvSpPr/>
          <p:nvPr/>
        </p:nvSpPr>
        <p:spPr>
          <a:xfrm>
            <a:off x="4544568" y="40873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4544568" y="4681728"/>
            <a:ext cx="32004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Test Prompts</a:t>
            </a:r>
            <a:endParaRPr lang="en-US" sz="1500" dirty="0"/>
          </a:p>
        </p:txBody>
      </p:sp>
      <p:sp>
        <p:nvSpPr>
          <p:cNvPr id="28" name="Text 26"/>
          <p:cNvSpPr/>
          <p:nvPr/>
        </p:nvSpPr>
        <p:spPr>
          <a:xfrm>
            <a:off x="4544568" y="5029200"/>
            <a:ext cx="3200400" cy="868680"/>
          </a:xfrm>
          <a:prstGeom prst="rect">
            <a:avLst/>
          </a:prstGeom>
          <a:noFill/>
          <a:ln/>
        </p:spPr>
        <p:txBody>
          <a:bodyPr wrap="square" rtlCol="0" anchor="t"/>
          <a:lstStyle/>
          <a:p>
            <a:pPr indent="0" marL="0">
              <a:buNone/>
            </a:pPr>
            <a:r>
              <a:rPr lang="en-US" sz="1100" dirty="0">
                <a:solidFill>
                  <a:srgbClr val="5A6B87"/>
                </a:solidFill>
                <a:latin typeface="Calibri" pitchFamily="34" charset="0"/>
                <a:ea typeface="Calibri" pitchFamily="34" charset="-122"/>
                <a:cs typeface="Calibri" pitchFamily="34" charset="-120"/>
              </a:rPr>
              <a:t>Try good vs bad prompts hands-on to see behavior, quality, and alignment differ.</a:t>
            </a:r>
            <a:endParaRPr lang="en-US" sz="1100" dirty="0"/>
          </a:p>
        </p:txBody>
      </p:sp>
      <p:sp>
        <p:nvSpPr>
          <p:cNvPr id="29" name="Shape 27"/>
          <p:cNvSpPr/>
          <p:nvPr/>
        </p:nvSpPr>
        <p:spPr>
          <a:xfrm>
            <a:off x="8174736" y="3858768"/>
            <a:ext cx="3657600" cy="21488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30" name="Shape 28"/>
          <p:cNvSpPr/>
          <p:nvPr/>
        </p:nvSpPr>
        <p:spPr>
          <a:xfrm>
            <a:off x="8403336" y="4087368"/>
            <a:ext cx="457200" cy="457200"/>
          </a:xfrm>
          <a:prstGeom prst="ellipse">
            <a:avLst/>
          </a:prstGeom>
          <a:solidFill>
            <a:srgbClr val="F2994A"/>
          </a:solidFill>
          <a:ln/>
        </p:spPr>
      </p:sp>
      <p:sp>
        <p:nvSpPr>
          <p:cNvPr id="31" name="Text 29"/>
          <p:cNvSpPr/>
          <p:nvPr/>
        </p:nvSpPr>
        <p:spPr>
          <a:xfrm>
            <a:off x="8403336" y="40873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8403336" y="4681728"/>
            <a:ext cx="32004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Apply Ethics</a:t>
            </a:r>
            <a:endParaRPr lang="en-US" sz="1500" dirty="0"/>
          </a:p>
        </p:txBody>
      </p:sp>
      <p:sp>
        <p:nvSpPr>
          <p:cNvPr id="33" name="Text 31"/>
          <p:cNvSpPr/>
          <p:nvPr/>
        </p:nvSpPr>
        <p:spPr>
          <a:xfrm>
            <a:off x="8403336" y="5029200"/>
            <a:ext cx="3200400" cy="868680"/>
          </a:xfrm>
          <a:prstGeom prst="rect">
            <a:avLst/>
          </a:prstGeom>
          <a:noFill/>
          <a:ln/>
        </p:spPr>
        <p:txBody>
          <a:bodyPr wrap="square" rtlCol="0" anchor="t"/>
          <a:lstStyle/>
          <a:p>
            <a:pPr indent="0" marL="0">
              <a:buNone/>
            </a:pPr>
            <a:r>
              <a:rPr lang="en-US" sz="1100" dirty="0">
                <a:solidFill>
                  <a:srgbClr val="5A6B87"/>
                </a:solidFill>
                <a:latin typeface="Calibri" pitchFamily="34" charset="0"/>
                <a:ea typeface="Calibri" pitchFamily="34" charset="-122"/>
                <a:cs typeface="Calibri" pitchFamily="34" charset="-120"/>
              </a:rPr>
              <a:t>Evaluate bias, privacy, misinformation, and responsible AI practices.</a:t>
            </a:r>
            <a:endParaRPr lang="en-US" sz="1100" dirty="0"/>
          </a:p>
        </p:txBody>
      </p:sp>
      <p:sp>
        <p:nvSpPr>
          <p:cNvPr id="34" name="Text 32"/>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5" name="Text 33"/>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an LLM?</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From predictive text to a system that has 'read' almost everything ever written</a:t>
            </a:r>
            <a:endParaRPr lang="en-US" sz="1400" dirty="0"/>
          </a:p>
        </p:txBody>
      </p:sp>
      <p:sp>
        <p:nvSpPr>
          <p:cNvPr id="4" name="Shape 2"/>
          <p:cNvSpPr/>
          <p:nvPr/>
        </p:nvSpPr>
        <p:spPr>
          <a:xfrm>
            <a:off x="457200" y="1417320"/>
            <a:ext cx="3383280" cy="4663440"/>
          </a:xfrm>
          <a:prstGeom prst="roundRect">
            <a:avLst>
              <a:gd name="adj" fmla="val 2162"/>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Shape 3"/>
          <p:cNvSpPr/>
          <p:nvPr/>
        </p:nvSpPr>
        <p:spPr>
          <a:xfrm>
            <a:off x="777240" y="1691640"/>
            <a:ext cx="640080" cy="640080"/>
          </a:xfrm>
          <a:prstGeom prst="ellipse">
            <a:avLst/>
          </a:prstGeom>
          <a:solidFill>
            <a:srgbClr val="CADCFC"/>
          </a:solidFill>
          <a:ln/>
        </p:spPr>
      </p:sp>
      <p:sp>
        <p:nvSpPr>
          <p:cNvPr id="6" name="Text 4"/>
          <p:cNvSpPr/>
          <p:nvPr/>
        </p:nvSpPr>
        <p:spPr>
          <a:xfrm>
            <a:off x="777240" y="169164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640080" y="2468880"/>
            <a:ext cx="3108960" cy="45720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Your phone's predictive text</a:t>
            </a:r>
            <a:endParaRPr lang="en-US" sz="1400" dirty="0"/>
          </a:p>
        </p:txBody>
      </p:sp>
      <p:sp>
        <p:nvSpPr>
          <p:cNvPr id="8" name="Text 6"/>
          <p:cNvSpPr/>
          <p:nvPr/>
        </p:nvSpPr>
        <p:spPr>
          <a:xfrm>
            <a:off x="685800" y="2926080"/>
            <a:ext cx="3017520" cy="914400"/>
          </a:xfrm>
          <a:prstGeom prst="rect">
            <a:avLst/>
          </a:prstGeom>
          <a:noFill/>
          <a:ln/>
        </p:spPr>
        <p:txBody>
          <a:bodyPr wrap="square" rtlCol="0" anchor="ctr"/>
          <a:lstStyle/>
          <a:p>
            <a:pPr algn="ctr" indent="0" marL="0">
              <a:buNone/>
            </a:pPr>
            <a:r>
              <a:rPr lang="en-US" sz="1200" dirty="0">
                <a:solidFill>
                  <a:srgbClr val="5A6B87"/>
                </a:solidFill>
                <a:latin typeface="Calibri" pitchFamily="34" charset="0"/>
                <a:ea typeface="Calibri" pitchFamily="34" charset="-122"/>
                <a:cs typeface="Calibri" pitchFamily="34" charset="-120"/>
              </a:rPr>
              <a:t>Guesses your next word — but it only knows YOUR data, and it's often wrong.</a:t>
            </a:r>
            <a:endParaRPr lang="en-US" sz="1200" dirty="0"/>
          </a:p>
        </p:txBody>
      </p:sp>
      <p:sp>
        <p:nvSpPr>
          <p:cNvPr id="9" name="Shape 7"/>
          <p:cNvSpPr/>
          <p:nvPr/>
        </p:nvSpPr>
        <p:spPr>
          <a:xfrm>
            <a:off x="822960" y="3977640"/>
            <a:ext cx="2743200" cy="0"/>
          </a:xfrm>
          <a:prstGeom prst="line">
            <a:avLst/>
          </a:prstGeom>
          <a:noFill/>
          <a:ln w="19050">
            <a:solidFill>
              <a:srgbClr val="CADCFC"/>
            </a:solidFill>
            <a:prstDash val="dash"/>
          </a:ln>
        </p:spPr>
      </p:sp>
      <p:sp>
        <p:nvSpPr>
          <p:cNvPr id="10" name="Text 8"/>
          <p:cNvSpPr/>
          <p:nvPr/>
        </p:nvSpPr>
        <p:spPr>
          <a:xfrm>
            <a:off x="640080" y="4114800"/>
            <a:ext cx="3108960" cy="365760"/>
          </a:xfrm>
          <a:prstGeom prst="rect">
            <a:avLst/>
          </a:prstGeom>
          <a:noFill/>
          <a:ln/>
        </p:spPr>
        <p:txBody>
          <a:bodyPr wrap="square" rtlCol="0" anchor="ctr"/>
          <a:lstStyle/>
          <a:p>
            <a:pPr algn="ctr" indent="0" marL="0">
              <a:buNone/>
            </a:pPr>
            <a:r>
              <a:rPr lang="en-US" sz="1100" i="1" dirty="0">
                <a:solidFill>
                  <a:srgbClr val="EB5757"/>
                </a:solidFill>
                <a:latin typeface="Calibri" pitchFamily="34" charset="0"/>
                <a:ea typeface="Calibri" pitchFamily="34" charset="-122"/>
                <a:cs typeface="Calibri" pitchFamily="34" charset="-120"/>
              </a:rPr>
              <a:t>Limited. Narrow. Personal.</a:t>
            </a:r>
            <a:endParaRPr lang="en-US" sz="1100" dirty="0"/>
          </a:p>
        </p:txBody>
      </p:sp>
      <p:sp>
        <p:nvSpPr>
          <p:cNvPr id="11" name="Shape 9"/>
          <p:cNvSpPr/>
          <p:nvPr/>
        </p:nvSpPr>
        <p:spPr>
          <a:xfrm>
            <a:off x="4069080" y="3383280"/>
            <a:ext cx="640080" cy="640080"/>
          </a:xfrm>
          <a:prstGeom prst="ellipse">
            <a:avLst/>
          </a:prstGeom>
          <a:solidFill>
            <a:srgbClr val="F2994A"/>
          </a:solidFill>
          <a:ln/>
        </p:spPr>
      </p:sp>
      <p:sp>
        <p:nvSpPr>
          <p:cNvPr id="12" name="Text 10"/>
          <p:cNvSpPr/>
          <p:nvPr/>
        </p:nvSpPr>
        <p:spPr>
          <a:xfrm>
            <a:off x="4069080" y="33832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VS</a:t>
            </a:r>
            <a:endParaRPr lang="en-US" sz="1400" dirty="0"/>
          </a:p>
        </p:txBody>
      </p:sp>
      <p:sp>
        <p:nvSpPr>
          <p:cNvPr id="13" name="Shape 11"/>
          <p:cNvSpPr/>
          <p:nvPr/>
        </p:nvSpPr>
        <p:spPr>
          <a:xfrm>
            <a:off x="4937760" y="1417320"/>
            <a:ext cx="6812280" cy="4663440"/>
          </a:xfrm>
          <a:prstGeom prst="roundRect">
            <a:avLst>
              <a:gd name="adj" fmla="val 1569"/>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4" name="Shape 12"/>
          <p:cNvSpPr/>
          <p:nvPr/>
        </p:nvSpPr>
        <p:spPr>
          <a:xfrm>
            <a:off x="5257800" y="1691640"/>
            <a:ext cx="640080" cy="640080"/>
          </a:xfrm>
          <a:prstGeom prst="ellipse">
            <a:avLst/>
          </a:prstGeom>
          <a:solidFill>
            <a:srgbClr val="3EC1D3"/>
          </a:solidFill>
          <a:ln/>
        </p:spPr>
      </p:sp>
      <p:sp>
        <p:nvSpPr>
          <p:cNvPr id="15" name="Text 13"/>
          <p:cNvSpPr/>
          <p:nvPr/>
        </p:nvSpPr>
        <p:spPr>
          <a:xfrm>
            <a:off x="5257800" y="169164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5120640" y="2468880"/>
            <a:ext cx="640080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Large Language Model (LLM)</a:t>
            </a:r>
            <a:endParaRPr lang="en-US" sz="1600" dirty="0"/>
          </a:p>
        </p:txBody>
      </p:sp>
      <p:sp>
        <p:nvSpPr>
          <p:cNvPr id="17" name="Text 15"/>
          <p:cNvSpPr/>
          <p:nvPr/>
        </p:nvSpPr>
        <p:spPr>
          <a:xfrm>
            <a:off x="5166360" y="2971800"/>
            <a:ext cx="6309360" cy="8229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Trained on nearly every book, article, blog, research paper, Wikipedia entry, and public web page ever published — hundreds of billions of words.</a:t>
            </a:r>
            <a:endParaRPr lang="en-US" sz="1250" dirty="0"/>
          </a:p>
        </p:txBody>
      </p:sp>
      <p:sp>
        <p:nvSpPr>
          <p:cNvPr id="18" name="Shape 16"/>
          <p:cNvSpPr/>
          <p:nvPr/>
        </p:nvSpPr>
        <p:spPr>
          <a:xfrm>
            <a:off x="5166360" y="3959352"/>
            <a:ext cx="164592" cy="164592"/>
          </a:xfrm>
          <a:prstGeom prst="ellipse">
            <a:avLst/>
          </a:prstGeom>
          <a:solidFill>
            <a:srgbClr val="F2994A"/>
          </a:solidFill>
          <a:ln/>
        </p:spPr>
      </p:sp>
      <p:sp>
        <p:nvSpPr>
          <p:cNvPr id="19" name="Text 17"/>
          <p:cNvSpPr/>
          <p:nvPr/>
        </p:nvSpPr>
        <p:spPr>
          <a:xfrm>
            <a:off x="5440680" y="3858768"/>
            <a:ext cx="603504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Predict entire sentences &amp; paragraphs</a:t>
            </a:r>
            <a:endParaRPr lang="en-US" sz="1250" dirty="0"/>
          </a:p>
        </p:txBody>
      </p:sp>
      <p:sp>
        <p:nvSpPr>
          <p:cNvPr id="20" name="Shape 18"/>
          <p:cNvSpPr/>
          <p:nvPr/>
        </p:nvSpPr>
        <p:spPr>
          <a:xfrm>
            <a:off x="5166360" y="4443984"/>
            <a:ext cx="164592" cy="164592"/>
          </a:xfrm>
          <a:prstGeom prst="ellipse">
            <a:avLst/>
          </a:prstGeom>
          <a:solidFill>
            <a:srgbClr val="F2994A"/>
          </a:solidFill>
          <a:ln/>
        </p:spPr>
      </p:sp>
      <p:sp>
        <p:nvSpPr>
          <p:cNvPr id="21" name="Text 19"/>
          <p:cNvSpPr/>
          <p:nvPr/>
        </p:nvSpPr>
        <p:spPr>
          <a:xfrm>
            <a:off x="5440680" y="4343400"/>
            <a:ext cx="603504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Understand context across long conversations</a:t>
            </a:r>
            <a:endParaRPr lang="en-US" sz="1250" dirty="0"/>
          </a:p>
        </p:txBody>
      </p:sp>
      <p:sp>
        <p:nvSpPr>
          <p:cNvPr id="22" name="Shape 20"/>
          <p:cNvSpPr/>
          <p:nvPr/>
        </p:nvSpPr>
        <p:spPr>
          <a:xfrm>
            <a:off x="5166360" y="4928616"/>
            <a:ext cx="164592" cy="164592"/>
          </a:xfrm>
          <a:prstGeom prst="ellipse">
            <a:avLst/>
          </a:prstGeom>
          <a:solidFill>
            <a:srgbClr val="F2994A"/>
          </a:solidFill>
          <a:ln/>
        </p:spPr>
      </p:sp>
      <p:sp>
        <p:nvSpPr>
          <p:cNvPr id="23" name="Text 21"/>
          <p:cNvSpPr/>
          <p:nvPr/>
        </p:nvSpPr>
        <p:spPr>
          <a:xfrm>
            <a:off x="5440680" y="4828032"/>
            <a:ext cx="603504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Mimic human tone, emotion &amp; intent</a:t>
            </a:r>
            <a:endParaRPr lang="en-US" sz="1250" dirty="0"/>
          </a:p>
        </p:txBody>
      </p:sp>
      <p:sp>
        <p:nvSpPr>
          <p:cNvPr id="24" name="Shape 22"/>
          <p:cNvSpPr/>
          <p:nvPr/>
        </p:nvSpPr>
        <p:spPr>
          <a:xfrm>
            <a:off x="5166360" y="5413248"/>
            <a:ext cx="164592" cy="164592"/>
          </a:xfrm>
          <a:prstGeom prst="ellipse">
            <a:avLst/>
          </a:prstGeom>
          <a:solidFill>
            <a:srgbClr val="F2994A"/>
          </a:solidFill>
          <a:ln/>
        </p:spPr>
      </p:sp>
      <p:sp>
        <p:nvSpPr>
          <p:cNvPr id="25" name="Text 23"/>
          <p:cNvSpPr/>
          <p:nvPr/>
        </p:nvSpPr>
        <p:spPr>
          <a:xfrm>
            <a:off x="5440680" y="5312664"/>
            <a:ext cx="6035040" cy="365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Respond with coherence and creativity</a:t>
            </a:r>
            <a:endParaRPr lang="en-US" sz="1250" dirty="0"/>
          </a:p>
        </p:txBody>
      </p:sp>
      <p:sp>
        <p:nvSpPr>
          <p:cNvPr id="26" name="Text 24"/>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27" name="Text 25"/>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is an LLM Built?</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Three stages turn raw internet text into a helpful assistant like ChatGPT or Claude</a:t>
            </a:r>
            <a:endParaRPr lang="en-US" sz="1400" dirty="0"/>
          </a:p>
        </p:txBody>
      </p:sp>
      <p:sp>
        <p:nvSpPr>
          <p:cNvPr id="4" name="Text 2"/>
          <p:cNvSpPr/>
          <p:nvPr/>
        </p:nvSpPr>
        <p:spPr>
          <a:xfrm>
            <a:off x="457200" y="1234440"/>
            <a:ext cx="11247120" cy="457200"/>
          </a:xfrm>
          <a:prstGeom prst="rect">
            <a:avLst/>
          </a:prstGeom>
          <a:noFill/>
          <a:ln/>
        </p:spPr>
        <p:txBody>
          <a:bodyPr wrap="square" rtlCol="0" anchor="ctr"/>
          <a:lstStyle/>
          <a:p>
            <a:pPr indent="0" marL="0">
              <a:buNone/>
            </a:pPr>
            <a:r>
              <a:rPr lang="en-US" sz="1300" i="1" dirty="0">
                <a:solidFill>
                  <a:srgbClr val="5A6B87"/>
                </a:solidFill>
                <a:latin typeface="Calibri" pitchFamily="34" charset="0"/>
                <a:ea typeface="Calibri" pitchFamily="34" charset="-122"/>
                <a:cs typeface="Calibri" pitchFamily="34" charset="-120"/>
              </a:rPr>
              <a:t>Just like a student reads widely before specializing, an LLM learns general language first, then is fine-tuned for specific tasks, then aligned to human preferences.</a:t>
            </a:r>
            <a:endParaRPr lang="en-US" sz="1300" dirty="0"/>
          </a:p>
        </p:txBody>
      </p:sp>
      <p:sp>
        <p:nvSpPr>
          <p:cNvPr id="5" name="Shape 3"/>
          <p:cNvSpPr/>
          <p:nvPr/>
        </p:nvSpPr>
        <p:spPr>
          <a:xfrm>
            <a:off x="640080" y="2103120"/>
            <a:ext cx="3246120" cy="2651760"/>
          </a:xfrm>
          <a:prstGeom prst="roundRect">
            <a:avLst>
              <a:gd name="adj" fmla="val 2759"/>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6" name="Shape 4"/>
          <p:cNvSpPr/>
          <p:nvPr/>
        </p:nvSpPr>
        <p:spPr>
          <a:xfrm>
            <a:off x="1943100" y="2331720"/>
            <a:ext cx="640080" cy="640080"/>
          </a:xfrm>
          <a:prstGeom prst="ellipse">
            <a:avLst/>
          </a:prstGeom>
          <a:solidFill>
            <a:srgbClr val="1E2761"/>
          </a:solidFill>
          <a:ln/>
        </p:spPr>
      </p:sp>
      <p:sp>
        <p:nvSpPr>
          <p:cNvPr id="7" name="Text 5"/>
          <p:cNvSpPr/>
          <p:nvPr/>
        </p:nvSpPr>
        <p:spPr>
          <a:xfrm>
            <a:off x="194310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777240" y="3108960"/>
            <a:ext cx="2971800" cy="640080"/>
          </a:xfrm>
          <a:prstGeom prst="rect">
            <a:avLst/>
          </a:prstGeom>
          <a:noFill/>
          <a:ln/>
        </p:spPr>
        <p:txBody>
          <a:bodyPr wrap="square"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Generative</a:t>
            </a:r>
            <a:endParaRPr lang="en-US" sz="1500" dirty="0"/>
          </a:p>
          <a:p>
            <a:pPr algn="ctr" indent="0" marL="0">
              <a:buNone/>
            </a:pPr>
            <a:r>
              <a:rPr lang="en-US" sz="1500" b="1" dirty="0">
                <a:solidFill>
                  <a:srgbClr val="1E2761"/>
                </a:solidFill>
                <a:latin typeface="Calibri" pitchFamily="34" charset="0"/>
                <a:ea typeface="Calibri" pitchFamily="34" charset="-122"/>
                <a:cs typeface="Calibri" pitchFamily="34" charset="-120"/>
              </a:rPr>
              <a:t>Pre-training</a:t>
            </a:r>
            <a:endParaRPr lang="en-US" sz="1500" dirty="0"/>
          </a:p>
        </p:txBody>
      </p:sp>
      <p:sp>
        <p:nvSpPr>
          <p:cNvPr id="9" name="Text 7"/>
          <p:cNvSpPr/>
          <p:nvPr/>
        </p:nvSpPr>
        <p:spPr>
          <a:xfrm>
            <a:off x="868680" y="3749040"/>
            <a:ext cx="2788920" cy="594360"/>
          </a:xfrm>
          <a:prstGeom prst="rect">
            <a:avLst/>
          </a:prstGeom>
          <a:noFill/>
          <a:ln/>
        </p:spPr>
        <p:txBody>
          <a:bodyPr wrap="square" rtlCol="0" anchor="ctr"/>
          <a:lstStyle/>
          <a:p>
            <a:pPr algn="ctr" indent="0" marL="0">
              <a:buNone/>
            </a:pPr>
            <a:r>
              <a:rPr lang="en-US" sz="1100" dirty="0">
                <a:solidFill>
                  <a:srgbClr val="5A6B87"/>
                </a:solidFill>
                <a:latin typeface="Calibri" pitchFamily="34" charset="0"/>
                <a:ea typeface="Calibri" pitchFamily="34" charset="-122"/>
                <a:cs typeface="Calibri" pitchFamily="34" charset="-120"/>
              </a:rPr>
              <a:t>Learn language patterns from huge internet text</a:t>
            </a:r>
            <a:endParaRPr lang="en-US" sz="1100" dirty="0"/>
          </a:p>
        </p:txBody>
      </p:sp>
      <p:sp>
        <p:nvSpPr>
          <p:cNvPr id="10" name="Shape 8"/>
          <p:cNvSpPr/>
          <p:nvPr/>
        </p:nvSpPr>
        <p:spPr>
          <a:xfrm>
            <a:off x="960120" y="4251960"/>
            <a:ext cx="2606040" cy="384048"/>
          </a:xfrm>
          <a:prstGeom prst="roundRect">
            <a:avLst>
              <a:gd name="adj" fmla="val 14286"/>
            </a:avLst>
          </a:prstGeom>
          <a:solidFill>
            <a:srgbClr val="F2994A"/>
          </a:solidFill>
          <a:ln/>
        </p:spPr>
      </p:sp>
      <p:sp>
        <p:nvSpPr>
          <p:cNvPr id="11" name="Text 9"/>
          <p:cNvSpPr/>
          <p:nvPr/>
        </p:nvSpPr>
        <p:spPr>
          <a:xfrm>
            <a:off x="960120" y="4251960"/>
            <a:ext cx="26060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Base GPT Model</a:t>
            </a:r>
            <a:endParaRPr lang="en-US" sz="1050" dirty="0"/>
          </a:p>
        </p:txBody>
      </p:sp>
      <p:sp>
        <p:nvSpPr>
          <p:cNvPr id="12" name="Shape 10"/>
          <p:cNvSpPr/>
          <p:nvPr/>
        </p:nvSpPr>
        <p:spPr>
          <a:xfrm>
            <a:off x="3941064" y="3227832"/>
            <a:ext cx="457200" cy="402336"/>
          </a:xfrm>
          <a:prstGeom prst="rightArrow">
            <a:avLst/>
          </a:prstGeom>
          <a:solidFill>
            <a:srgbClr val="3EC1D3"/>
          </a:solidFill>
          <a:ln/>
        </p:spPr>
      </p:sp>
      <p:sp>
        <p:nvSpPr>
          <p:cNvPr id="13" name="Shape 11"/>
          <p:cNvSpPr/>
          <p:nvPr/>
        </p:nvSpPr>
        <p:spPr>
          <a:xfrm>
            <a:off x="4453128" y="2103120"/>
            <a:ext cx="3246120" cy="2651760"/>
          </a:xfrm>
          <a:prstGeom prst="roundRect">
            <a:avLst>
              <a:gd name="adj" fmla="val 2759"/>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4" name="Shape 12"/>
          <p:cNvSpPr/>
          <p:nvPr/>
        </p:nvSpPr>
        <p:spPr>
          <a:xfrm>
            <a:off x="5756148" y="2331720"/>
            <a:ext cx="640080" cy="640080"/>
          </a:xfrm>
          <a:prstGeom prst="ellipse">
            <a:avLst/>
          </a:prstGeom>
          <a:solidFill>
            <a:srgbClr val="1E2761"/>
          </a:solidFill>
          <a:ln/>
        </p:spPr>
      </p:sp>
      <p:sp>
        <p:nvSpPr>
          <p:cNvPr id="15" name="Text 13"/>
          <p:cNvSpPr/>
          <p:nvPr/>
        </p:nvSpPr>
        <p:spPr>
          <a:xfrm>
            <a:off x="5756148"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6" name="Text 14"/>
          <p:cNvSpPr/>
          <p:nvPr/>
        </p:nvSpPr>
        <p:spPr>
          <a:xfrm>
            <a:off x="4590288" y="3108960"/>
            <a:ext cx="2971800" cy="640080"/>
          </a:xfrm>
          <a:prstGeom prst="rect">
            <a:avLst/>
          </a:prstGeom>
          <a:noFill/>
          <a:ln/>
        </p:spPr>
        <p:txBody>
          <a:bodyPr wrap="square"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Supervised</a:t>
            </a:r>
            <a:endParaRPr lang="en-US" sz="1500" dirty="0"/>
          </a:p>
          <a:p>
            <a:pPr algn="ctr" indent="0" marL="0">
              <a:buNone/>
            </a:pPr>
            <a:r>
              <a:rPr lang="en-US" sz="1500" b="1" dirty="0">
                <a:solidFill>
                  <a:srgbClr val="1E2761"/>
                </a:solidFill>
                <a:latin typeface="Calibri" pitchFamily="34" charset="0"/>
                <a:ea typeface="Calibri" pitchFamily="34" charset="-122"/>
                <a:cs typeface="Calibri" pitchFamily="34" charset="-120"/>
              </a:rPr>
              <a:t>Fine-Tuning (SFT)</a:t>
            </a:r>
            <a:endParaRPr lang="en-US" sz="1500" dirty="0"/>
          </a:p>
        </p:txBody>
      </p:sp>
      <p:sp>
        <p:nvSpPr>
          <p:cNvPr id="17" name="Text 15"/>
          <p:cNvSpPr/>
          <p:nvPr/>
        </p:nvSpPr>
        <p:spPr>
          <a:xfrm>
            <a:off x="4681728" y="3749040"/>
            <a:ext cx="2788920" cy="594360"/>
          </a:xfrm>
          <a:prstGeom prst="rect">
            <a:avLst/>
          </a:prstGeom>
          <a:noFill/>
          <a:ln/>
        </p:spPr>
        <p:txBody>
          <a:bodyPr wrap="square" rtlCol="0" anchor="ctr"/>
          <a:lstStyle/>
          <a:p>
            <a:pPr algn="ctr" indent="0" marL="0">
              <a:buNone/>
            </a:pPr>
            <a:r>
              <a:rPr lang="en-US" sz="1100" dirty="0">
                <a:solidFill>
                  <a:srgbClr val="5A6B87"/>
                </a:solidFill>
                <a:latin typeface="Calibri" pitchFamily="34" charset="0"/>
                <a:ea typeface="Calibri" pitchFamily="34" charset="-122"/>
                <a:cs typeface="Calibri" pitchFamily="34" charset="-120"/>
              </a:rPr>
              <a:t>Learn from labeled prompt → correct response pairs</a:t>
            </a:r>
            <a:endParaRPr lang="en-US" sz="1100" dirty="0"/>
          </a:p>
        </p:txBody>
      </p:sp>
      <p:sp>
        <p:nvSpPr>
          <p:cNvPr id="18" name="Shape 16"/>
          <p:cNvSpPr/>
          <p:nvPr/>
        </p:nvSpPr>
        <p:spPr>
          <a:xfrm>
            <a:off x="4773168" y="4251960"/>
            <a:ext cx="2606040" cy="384048"/>
          </a:xfrm>
          <a:prstGeom prst="roundRect">
            <a:avLst>
              <a:gd name="adj" fmla="val 14286"/>
            </a:avLst>
          </a:prstGeom>
          <a:solidFill>
            <a:srgbClr val="F2994A"/>
          </a:solidFill>
          <a:ln/>
        </p:spPr>
      </p:sp>
      <p:sp>
        <p:nvSpPr>
          <p:cNvPr id="19" name="Text 17"/>
          <p:cNvSpPr/>
          <p:nvPr/>
        </p:nvSpPr>
        <p:spPr>
          <a:xfrm>
            <a:off x="4773168" y="4251960"/>
            <a:ext cx="26060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Fine-Tuned Model</a:t>
            </a:r>
            <a:endParaRPr lang="en-US" sz="1050" dirty="0"/>
          </a:p>
        </p:txBody>
      </p:sp>
      <p:sp>
        <p:nvSpPr>
          <p:cNvPr id="20" name="Shape 18"/>
          <p:cNvSpPr/>
          <p:nvPr/>
        </p:nvSpPr>
        <p:spPr>
          <a:xfrm>
            <a:off x="7754112" y="3227832"/>
            <a:ext cx="457200" cy="402336"/>
          </a:xfrm>
          <a:prstGeom prst="rightArrow">
            <a:avLst/>
          </a:prstGeom>
          <a:solidFill>
            <a:srgbClr val="3EC1D3"/>
          </a:solidFill>
          <a:ln/>
        </p:spPr>
      </p:sp>
      <p:sp>
        <p:nvSpPr>
          <p:cNvPr id="21" name="Shape 19"/>
          <p:cNvSpPr/>
          <p:nvPr/>
        </p:nvSpPr>
        <p:spPr>
          <a:xfrm>
            <a:off x="8266176" y="2103120"/>
            <a:ext cx="3246120" cy="2651760"/>
          </a:xfrm>
          <a:prstGeom prst="roundRect">
            <a:avLst>
              <a:gd name="adj" fmla="val 2759"/>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2" name="Shape 20"/>
          <p:cNvSpPr/>
          <p:nvPr/>
        </p:nvSpPr>
        <p:spPr>
          <a:xfrm>
            <a:off x="9569196" y="2331720"/>
            <a:ext cx="640080" cy="640080"/>
          </a:xfrm>
          <a:prstGeom prst="ellipse">
            <a:avLst/>
          </a:prstGeom>
          <a:solidFill>
            <a:srgbClr val="1E2761"/>
          </a:solidFill>
          <a:ln/>
        </p:spPr>
      </p:sp>
      <p:sp>
        <p:nvSpPr>
          <p:cNvPr id="23" name="Text 21"/>
          <p:cNvSpPr/>
          <p:nvPr/>
        </p:nvSpPr>
        <p:spPr>
          <a:xfrm>
            <a:off x="9569196"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8403336" y="3108960"/>
            <a:ext cx="2971800" cy="640080"/>
          </a:xfrm>
          <a:prstGeom prst="rect">
            <a:avLst/>
          </a:prstGeom>
          <a:noFill/>
          <a:ln/>
        </p:spPr>
        <p:txBody>
          <a:bodyPr wrap="square"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Reinforcement</a:t>
            </a:r>
            <a:endParaRPr lang="en-US" sz="1500" dirty="0"/>
          </a:p>
          <a:p>
            <a:pPr algn="ctr" indent="0" marL="0">
              <a:buNone/>
            </a:pPr>
            <a:r>
              <a:rPr lang="en-US" sz="1500" b="1" dirty="0">
                <a:solidFill>
                  <a:srgbClr val="1E2761"/>
                </a:solidFill>
                <a:latin typeface="Calibri" pitchFamily="34" charset="0"/>
                <a:ea typeface="Calibri" pitchFamily="34" charset="-122"/>
                <a:cs typeface="Calibri" pitchFamily="34" charset="-120"/>
              </a:rPr>
              <a:t>Learning (RLHF)</a:t>
            </a:r>
            <a:endParaRPr lang="en-US" sz="1500" dirty="0"/>
          </a:p>
        </p:txBody>
      </p:sp>
      <p:sp>
        <p:nvSpPr>
          <p:cNvPr id="25" name="Text 23"/>
          <p:cNvSpPr/>
          <p:nvPr/>
        </p:nvSpPr>
        <p:spPr>
          <a:xfrm>
            <a:off x="8494776" y="3749040"/>
            <a:ext cx="2788920" cy="594360"/>
          </a:xfrm>
          <a:prstGeom prst="rect">
            <a:avLst/>
          </a:prstGeom>
          <a:noFill/>
          <a:ln/>
        </p:spPr>
        <p:txBody>
          <a:bodyPr wrap="square" rtlCol="0" anchor="ctr"/>
          <a:lstStyle/>
          <a:p>
            <a:pPr algn="ctr" indent="0" marL="0">
              <a:buNone/>
            </a:pPr>
            <a:r>
              <a:rPr lang="en-US" sz="1100" dirty="0">
                <a:solidFill>
                  <a:srgbClr val="5A6B87"/>
                </a:solidFill>
                <a:latin typeface="Calibri" pitchFamily="34" charset="0"/>
                <a:ea typeface="Calibri" pitchFamily="34" charset="-122"/>
                <a:cs typeface="Calibri" pitchFamily="34" charset="-120"/>
              </a:rPr>
              <a:t>Humans rank answers; model learns what people prefer</a:t>
            </a:r>
            <a:endParaRPr lang="en-US" sz="1100" dirty="0"/>
          </a:p>
        </p:txBody>
      </p:sp>
      <p:sp>
        <p:nvSpPr>
          <p:cNvPr id="26" name="Shape 24"/>
          <p:cNvSpPr/>
          <p:nvPr/>
        </p:nvSpPr>
        <p:spPr>
          <a:xfrm>
            <a:off x="8586216" y="4251960"/>
            <a:ext cx="2606040" cy="384048"/>
          </a:xfrm>
          <a:prstGeom prst="roundRect">
            <a:avLst>
              <a:gd name="adj" fmla="val 14286"/>
            </a:avLst>
          </a:prstGeom>
          <a:solidFill>
            <a:srgbClr val="F2994A"/>
          </a:solidFill>
          <a:ln/>
        </p:spPr>
      </p:sp>
      <p:sp>
        <p:nvSpPr>
          <p:cNvPr id="27" name="Text 25"/>
          <p:cNvSpPr/>
          <p:nvPr/>
        </p:nvSpPr>
        <p:spPr>
          <a:xfrm>
            <a:off x="8586216" y="4251960"/>
            <a:ext cx="26060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Chat-Ready Model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(e.g. ChatGPT)</a:t>
            </a:r>
            <a:endParaRPr lang="en-US" sz="1050" dirty="0"/>
          </a:p>
        </p:txBody>
      </p:sp>
      <p:sp>
        <p:nvSpPr>
          <p:cNvPr id="28" name="Shape 26"/>
          <p:cNvSpPr/>
          <p:nvPr/>
        </p:nvSpPr>
        <p:spPr>
          <a:xfrm>
            <a:off x="640080" y="5074920"/>
            <a:ext cx="10881360" cy="1051560"/>
          </a:xfrm>
          <a:prstGeom prst="roundRect">
            <a:avLst>
              <a:gd name="adj" fmla="val 6957"/>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9" name="Text 27"/>
          <p:cNvSpPr/>
          <p:nvPr/>
        </p:nvSpPr>
        <p:spPr>
          <a:xfrm>
            <a:off x="822960" y="5074920"/>
            <a:ext cx="10515600" cy="1051560"/>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Internet Data  →  Transformer Architecture  →  Base GPT  →  SFT  →  RLHF  →  ChatGPT-style Model</a:t>
            </a:r>
            <a:endParaRPr lang="en-US" sz="1300" dirty="0"/>
          </a:p>
        </p:txBody>
      </p:sp>
      <p:sp>
        <p:nvSpPr>
          <p:cNvPr id="30" name="Text 28"/>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1" name="Text 29"/>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1 — Generative Pre-training</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Teaching a machine to understand language, one pattern at a time</a:t>
            </a:r>
            <a:endParaRPr lang="en-US" sz="1400" dirty="0"/>
          </a:p>
        </p:txBody>
      </p:sp>
      <p:sp>
        <p:nvSpPr>
          <p:cNvPr id="4" name="Shape 2"/>
          <p:cNvSpPr/>
          <p:nvPr/>
        </p:nvSpPr>
        <p:spPr>
          <a:xfrm>
            <a:off x="457200" y="1371600"/>
            <a:ext cx="1920240" cy="914400"/>
          </a:xfrm>
          <a:prstGeom prst="roundRect">
            <a:avLst>
              <a:gd name="adj" fmla="val 8000"/>
            </a:avLst>
          </a:prstGeom>
          <a:solidFill>
            <a:srgbClr val="CADCFC"/>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548640" y="1371600"/>
            <a:ext cx="1737360"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Internet</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Huge Data</a:t>
            </a:r>
            <a:endParaRPr lang="en-US" sz="1250" dirty="0"/>
          </a:p>
        </p:txBody>
      </p:sp>
      <p:sp>
        <p:nvSpPr>
          <p:cNvPr id="6" name="Shape 4"/>
          <p:cNvSpPr/>
          <p:nvPr/>
        </p:nvSpPr>
        <p:spPr>
          <a:xfrm>
            <a:off x="2423160" y="1691640"/>
            <a:ext cx="228600" cy="274320"/>
          </a:xfrm>
          <a:prstGeom prst="rightArrow">
            <a:avLst/>
          </a:prstGeom>
          <a:solidFill>
            <a:srgbClr val="3EC1D3"/>
          </a:solidFill>
          <a:ln/>
        </p:spPr>
      </p:sp>
      <p:sp>
        <p:nvSpPr>
          <p:cNvPr id="7" name="Shape 5"/>
          <p:cNvSpPr/>
          <p:nvPr/>
        </p:nvSpPr>
        <p:spPr>
          <a:xfrm>
            <a:off x="2697480" y="1371600"/>
            <a:ext cx="210312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76200" dist="25400" dir="5400000">
              <a:srgbClr val="9AA5B1">
                <a:alpha val="25000"/>
              </a:srgbClr>
            </a:outerShdw>
          </a:effectLst>
        </p:spPr>
      </p:sp>
      <p:sp>
        <p:nvSpPr>
          <p:cNvPr id="8" name="Text 6"/>
          <p:cNvSpPr/>
          <p:nvPr/>
        </p:nvSpPr>
        <p:spPr>
          <a:xfrm>
            <a:off x="2788920" y="1371600"/>
            <a:ext cx="192024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Transformer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(Encoder/Decoder)</a:t>
            </a:r>
            <a:endParaRPr lang="en-US" sz="1250" dirty="0"/>
          </a:p>
        </p:txBody>
      </p:sp>
      <p:sp>
        <p:nvSpPr>
          <p:cNvPr id="9" name="Shape 7"/>
          <p:cNvSpPr/>
          <p:nvPr/>
        </p:nvSpPr>
        <p:spPr>
          <a:xfrm>
            <a:off x="4846320" y="1691640"/>
            <a:ext cx="228600" cy="274320"/>
          </a:xfrm>
          <a:prstGeom prst="rightArrow">
            <a:avLst/>
          </a:prstGeom>
          <a:solidFill>
            <a:srgbClr val="3EC1D3"/>
          </a:solidFill>
          <a:ln/>
        </p:spPr>
      </p:sp>
      <p:sp>
        <p:nvSpPr>
          <p:cNvPr id="10" name="Shape 8"/>
          <p:cNvSpPr/>
          <p:nvPr/>
        </p:nvSpPr>
        <p:spPr>
          <a:xfrm>
            <a:off x="5120640" y="1371600"/>
            <a:ext cx="2103120" cy="914400"/>
          </a:xfrm>
          <a:prstGeom prst="roundRect">
            <a:avLst>
              <a:gd name="adj" fmla="val 8000"/>
            </a:avLst>
          </a:prstGeom>
          <a:solidFill>
            <a:srgbClr val="F2994A"/>
          </a:solidFill>
          <a:ln w="12700">
            <a:solidFill>
              <a:srgbClr val="F2994A"/>
            </a:solidFill>
            <a:prstDash val="solid"/>
          </a:ln>
          <a:effectLst>
            <a:outerShdw sx="100000" sy="100000" kx="0" ky="0" algn="bl" rotWithShape="0" blurRad="76200" dist="25400" dir="5400000">
              <a:srgbClr val="9AA5B1">
                <a:alpha val="25000"/>
              </a:srgbClr>
            </a:outerShdw>
          </a:effectLst>
        </p:spPr>
      </p:sp>
      <p:sp>
        <p:nvSpPr>
          <p:cNvPr id="11" name="Text 9"/>
          <p:cNvSpPr/>
          <p:nvPr/>
        </p:nvSpPr>
        <p:spPr>
          <a:xfrm>
            <a:off x="5212080" y="1371600"/>
            <a:ext cx="192024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BASE GPT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p>
        </p:txBody>
      </p:sp>
      <p:sp>
        <p:nvSpPr>
          <p:cNvPr id="12" name="Text 10"/>
          <p:cNvSpPr/>
          <p:nvPr/>
        </p:nvSpPr>
        <p:spPr>
          <a:xfrm>
            <a:off x="7452360" y="1234440"/>
            <a:ext cx="4297680" cy="118872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Tasks unlocked: Language translation • Text summarization • Text completion • Sentiment analysis</a:t>
            </a:r>
            <a:endParaRPr lang="en-US" sz="1050" dirty="0"/>
          </a:p>
        </p:txBody>
      </p:sp>
      <p:sp>
        <p:nvSpPr>
          <p:cNvPr id="13" name="Shape 11"/>
          <p:cNvSpPr/>
          <p:nvPr/>
        </p:nvSpPr>
        <p:spPr>
          <a:xfrm>
            <a:off x="457200" y="2606040"/>
            <a:ext cx="3611880" cy="1417320"/>
          </a:xfrm>
          <a:prstGeom prst="roundRect">
            <a:avLst>
              <a:gd name="adj" fmla="val 5161"/>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4" name="Text 12"/>
          <p:cNvSpPr/>
          <p:nvPr/>
        </p:nvSpPr>
        <p:spPr>
          <a:xfrm>
            <a:off x="640080" y="2715768"/>
            <a:ext cx="3246120" cy="45720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Challenge 1: No language knowledge</a:t>
            </a:r>
            <a:endParaRPr lang="en-US" sz="1200" dirty="0"/>
          </a:p>
        </p:txBody>
      </p:sp>
      <p:sp>
        <p:nvSpPr>
          <p:cNvPr id="15" name="Text 13"/>
          <p:cNvSpPr/>
          <p:nvPr/>
        </p:nvSpPr>
        <p:spPr>
          <a:xfrm>
            <a:off x="640080" y="3172968"/>
            <a:ext cx="3246120" cy="777240"/>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Solution: pull real-world text — Wikipedia, books, news, Reddit, Stack Overflow, reviews, research papers. Hundreds of billions of words.</a:t>
            </a:r>
            <a:endParaRPr lang="en-US" sz="1000" dirty="0"/>
          </a:p>
        </p:txBody>
      </p:sp>
      <p:sp>
        <p:nvSpPr>
          <p:cNvPr id="16" name="Shape 14"/>
          <p:cNvSpPr/>
          <p:nvPr/>
        </p:nvSpPr>
        <p:spPr>
          <a:xfrm>
            <a:off x="4270248" y="2606040"/>
            <a:ext cx="3611880" cy="1417320"/>
          </a:xfrm>
          <a:prstGeom prst="roundRect">
            <a:avLst>
              <a:gd name="adj" fmla="val 5161"/>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7" name="Text 15"/>
          <p:cNvSpPr/>
          <p:nvPr/>
        </p:nvSpPr>
        <p:spPr>
          <a:xfrm>
            <a:off x="4453128" y="2715768"/>
            <a:ext cx="3246120" cy="45720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Challenge 2: Raw data is messy</a:t>
            </a:r>
            <a:endParaRPr lang="en-US" sz="1200" dirty="0"/>
          </a:p>
        </p:txBody>
      </p:sp>
      <p:sp>
        <p:nvSpPr>
          <p:cNvPr id="18" name="Text 16"/>
          <p:cNvSpPr/>
          <p:nvPr/>
        </p:nvSpPr>
        <p:spPr>
          <a:xfrm>
            <a:off x="4453128" y="3172968"/>
            <a:ext cx="3246120" cy="777240"/>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Solution: clean it — remove duplicates, filter spam/boilerplate, strip unsafe content, normalize formatting.</a:t>
            </a:r>
            <a:endParaRPr lang="en-US" sz="1000" dirty="0"/>
          </a:p>
        </p:txBody>
      </p:sp>
      <p:sp>
        <p:nvSpPr>
          <p:cNvPr id="19" name="Shape 17"/>
          <p:cNvSpPr/>
          <p:nvPr/>
        </p:nvSpPr>
        <p:spPr>
          <a:xfrm>
            <a:off x="8083296" y="2606040"/>
            <a:ext cx="3611880" cy="1417320"/>
          </a:xfrm>
          <a:prstGeom prst="roundRect">
            <a:avLst>
              <a:gd name="adj" fmla="val 5161"/>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0" name="Text 18"/>
          <p:cNvSpPr/>
          <p:nvPr/>
        </p:nvSpPr>
        <p:spPr>
          <a:xfrm>
            <a:off x="8266176" y="2715768"/>
            <a:ext cx="3246120" cy="45720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Challenge 3: Machines don't understand words</a:t>
            </a:r>
            <a:endParaRPr lang="en-US" sz="1200" dirty="0"/>
          </a:p>
        </p:txBody>
      </p:sp>
      <p:sp>
        <p:nvSpPr>
          <p:cNvPr id="21" name="Text 19"/>
          <p:cNvSpPr/>
          <p:nvPr/>
        </p:nvSpPr>
        <p:spPr>
          <a:xfrm>
            <a:off x="8266176" y="3172968"/>
            <a:ext cx="3246120" cy="777240"/>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Solution: tokenization — split text into tokens (words/sub-words/punctuation) and convert to numeric IDs the model can process.</a:t>
            </a:r>
            <a:endParaRPr lang="en-US" sz="1000" dirty="0"/>
          </a:p>
        </p:txBody>
      </p:sp>
      <p:sp>
        <p:nvSpPr>
          <p:cNvPr id="22" name="Shape 20"/>
          <p:cNvSpPr/>
          <p:nvPr/>
        </p:nvSpPr>
        <p:spPr>
          <a:xfrm>
            <a:off x="457200" y="4251960"/>
            <a:ext cx="11292840" cy="1874520"/>
          </a:xfrm>
          <a:prstGeom prst="roundRect">
            <a:avLst>
              <a:gd name="adj" fmla="val 3902"/>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3" name="Text 21"/>
          <p:cNvSpPr/>
          <p:nvPr/>
        </p:nvSpPr>
        <p:spPr>
          <a:xfrm>
            <a:off x="685800" y="4389120"/>
            <a:ext cx="10789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does the model actually learn? — PATTERNS, not facts.</a:t>
            </a:r>
            <a:endParaRPr lang="en-US" sz="1300" dirty="0"/>
          </a:p>
        </p:txBody>
      </p:sp>
      <p:sp>
        <p:nvSpPr>
          <p:cNvPr id="24" name="Text 22"/>
          <p:cNvSpPr/>
          <p:nvPr/>
        </p:nvSpPr>
        <p:spPr>
          <a:xfrm>
            <a:off x="822960" y="4800600"/>
            <a:ext cx="10424160" cy="36576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Example: </a:t>
            </a:r>
            <a:pPr indent="0" marL="0">
              <a:buNone/>
            </a:pPr>
            <a:r>
              <a:rPr lang="en-US" sz="1150" dirty="0">
                <a:solidFill>
                  <a:srgbClr val="5A6B87"/>
                </a:solidFill>
                <a:latin typeface="Calibri" pitchFamily="34" charset="0"/>
                <a:ea typeface="Calibri" pitchFamily="34" charset="-122"/>
                <a:cs typeface="Calibri" pitchFamily="34" charset="-120"/>
              </a:rPr>
              <a:t>"I'm feeling anxious" → often followed by "can't sleep" or "tight chest."</a:t>
            </a:r>
            <a:endParaRPr lang="en-US" sz="1150" dirty="0"/>
          </a:p>
        </p:txBody>
      </p:sp>
      <p:sp>
        <p:nvSpPr>
          <p:cNvPr id="25" name="Text 23"/>
          <p:cNvSpPr/>
          <p:nvPr/>
        </p:nvSpPr>
        <p:spPr>
          <a:xfrm>
            <a:off x="822960" y="5166360"/>
            <a:ext cx="10424160" cy="36576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Example: </a:t>
            </a:r>
            <a:pPr indent="0" marL="0">
              <a:buNone/>
            </a:pPr>
            <a:r>
              <a:rPr lang="en-US" sz="1150" dirty="0">
                <a:solidFill>
                  <a:srgbClr val="5A6B87"/>
                </a:solidFill>
                <a:latin typeface="Calibri" pitchFamily="34" charset="0"/>
                <a:ea typeface="Calibri" pitchFamily="34" charset="-122"/>
                <a:cs typeface="Calibri" pitchFamily="34" charset="-120"/>
              </a:rPr>
              <a:t>"The battery life of iPhone 14…" → often followed by "is decent" or "lasts a day."</a:t>
            </a:r>
            <a:endParaRPr lang="en-US" sz="1150" dirty="0"/>
          </a:p>
        </p:txBody>
      </p:sp>
      <p:sp>
        <p:nvSpPr>
          <p:cNvPr id="26" name="Text 24"/>
          <p:cNvSpPr/>
          <p:nvPr/>
        </p:nvSpPr>
        <p:spPr>
          <a:xfrm>
            <a:off x="822960" y="5577840"/>
            <a:ext cx="10424160" cy="502920"/>
          </a:xfrm>
          <a:prstGeom prst="rect">
            <a:avLst/>
          </a:prstGeom>
          <a:noFill/>
          <a:ln/>
        </p:spPr>
        <p:txBody>
          <a:bodyPr wrap="square" rtlCol="0" anchor="ctr"/>
          <a:lstStyle/>
          <a:p>
            <a:pPr indent="0" marL="0">
              <a:buNone/>
            </a:pPr>
            <a:r>
              <a:rPr lang="en-US" sz="1100" i="1" dirty="0">
                <a:solidFill>
                  <a:srgbClr val="5A6B87"/>
                </a:solidFill>
                <a:latin typeface="Calibri" pitchFamily="34" charset="0"/>
                <a:ea typeface="Calibri" pitchFamily="34" charset="-122"/>
                <a:cs typeface="Calibri" pitchFamily="34" charset="-120"/>
              </a:rPr>
              <a:t>Result: a general-purpose 'Base GPT Model.' It can complete sentences, summarize, and generate fluent text — but it doesn't follow instructions, isn't polite, and doesn't know true vs. false yet. That's what Stage 2 fixes.</a:t>
            </a:r>
            <a:endParaRPr lang="en-US" sz="1100" dirty="0"/>
          </a:p>
        </p:txBody>
      </p:sp>
      <p:sp>
        <p:nvSpPr>
          <p:cNvPr id="27" name="Text 25"/>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28" name="Text 26"/>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2 — Supervised Fine-Tuning (SFT)</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Teaching the base model to actually follow instructions</a:t>
            </a:r>
            <a:endParaRPr lang="en-US" sz="1400" dirty="0"/>
          </a:p>
        </p:txBody>
      </p:sp>
      <p:sp>
        <p:nvSpPr>
          <p:cNvPr id="4" name="Shape 2"/>
          <p:cNvSpPr/>
          <p:nvPr/>
        </p:nvSpPr>
        <p:spPr>
          <a:xfrm>
            <a:off x="457200" y="1371600"/>
            <a:ext cx="2286000" cy="960120"/>
          </a:xfrm>
          <a:prstGeom prst="roundRect">
            <a:avLst>
              <a:gd name="adj" fmla="val 7619"/>
            </a:avLst>
          </a:prstGeom>
          <a:solidFill>
            <a:srgbClr val="CADCFC"/>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548640" y="1371600"/>
            <a:ext cx="2103120" cy="9601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SFT Dataset</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(labeled prompt→response pairs)</a:t>
            </a:r>
            <a:endParaRPr lang="en-US" sz="1050" dirty="0"/>
          </a:p>
        </p:txBody>
      </p:sp>
      <p:sp>
        <p:nvSpPr>
          <p:cNvPr id="6" name="Shape 4"/>
          <p:cNvSpPr/>
          <p:nvPr/>
        </p:nvSpPr>
        <p:spPr>
          <a:xfrm>
            <a:off x="2788920" y="1714500"/>
            <a:ext cx="502920" cy="274320"/>
          </a:xfrm>
          <a:prstGeom prst="rightArrow">
            <a:avLst/>
          </a:prstGeom>
          <a:solidFill>
            <a:srgbClr val="3EC1D3"/>
          </a:solidFill>
          <a:ln/>
        </p:spPr>
      </p:sp>
      <p:sp>
        <p:nvSpPr>
          <p:cNvPr id="7" name="Shape 5"/>
          <p:cNvSpPr/>
          <p:nvPr/>
        </p:nvSpPr>
        <p:spPr>
          <a:xfrm>
            <a:off x="3337560" y="1371600"/>
            <a:ext cx="2194560" cy="960120"/>
          </a:xfrm>
          <a:prstGeom prst="roundRect">
            <a:avLst>
              <a:gd name="adj" fmla="val 7619"/>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8" name="Text 6"/>
          <p:cNvSpPr/>
          <p:nvPr/>
        </p:nvSpPr>
        <p:spPr>
          <a:xfrm>
            <a:off x="3429000" y="1371600"/>
            <a:ext cx="201168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 GPT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9" name="Shape 7"/>
          <p:cNvSpPr/>
          <p:nvPr/>
        </p:nvSpPr>
        <p:spPr>
          <a:xfrm>
            <a:off x="4206240" y="2368296"/>
            <a:ext cx="320040" cy="292608"/>
          </a:xfrm>
          <a:prstGeom prst="upArrow">
            <a:avLst/>
          </a:prstGeom>
          <a:solidFill>
            <a:srgbClr val="F2994A"/>
          </a:solidFill>
          <a:ln/>
        </p:spPr>
      </p:sp>
      <p:sp>
        <p:nvSpPr>
          <p:cNvPr id="10" name="Text 8"/>
          <p:cNvSpPr/>
          <p:nvPr/>
        </p:nvSpPr>
        <p:spPr>
          <a:xfrm>
            <a:off x="2880360" y="2679192"/>
            <a:ext cx="3108960" cy="274320"/>
          </a:xfrm>
          <a:prstGeom prst="rect">
            <a:avLst/>
          </a:prstGeom>
          <a:noFill/>
          <a:ln/>
        </p:spPr>
        <p:txBody>
          <a:bodyPr wrap="square" rtlCol="0" anchor="ctr"/>
          <a:lstStyle/>
          <a:p>
            <a:pPr algn="ctr" indent="0" marL="0">
              <a:buNone/>
            </a:pPr>
            <a:r>
              <a:rPr lang="en-US" sz="900" dirty="0">
                <a:solidFill>
                  <a:srgbClr val="5A6B87"/>
                </a:solidFill>
                <a:latin typeface="Calibri" pitchFamily="34" charset="0"/>
                <a:ea typeface="Calibri" pitchFamily="34" charset="-122"/>
                <a:cs typeface="Calibri" pitchFamily="34" charset="-120"/>
              </a:rPr>
              <a:t>Optimizer (SGD) adjusts weights</a:t>
            </a:r>
            <a:endParaRPr lang="en-US" sz="900" dirty="0"/>
          </a:p>
        </p:txBody>
      </p:sp>
      <p:sp>
        <p:nvSpPr>
          <p:cNvPr id="11" name="Shape 9"/>
          <p:cNvSpPr/>
          <p:nvPr/>
        </p:nvSpPr>
        <p:spPr>
          <a:xfrm>
            <a:off x="5760720" y="1714500"/>
            <a:ext cx="502920" cy="274320"/>
          </a:xfrm>
          <a:prstGeom prst="rightArrow">
            <a:avLst/>
          </a:prstGeom>
          <a:solidFill>
            <a:srgbClr val="3EC1D3"/>
          </a:solidFill>
          <a:ln/>
        </p:spPr>
      </p:sp>
      <p:sp>
        <p:nvSpPr>
          <p:cNvPr id="12" name="Shape 10"/>
          <p:cNvSpPr/>
          <p:nvPr/>
        </p:nvSpPr>
        <p:spPr>
          <a:xfrm>
            <a:off x="6492240" y="1371600"/>
            <a:ext cx="2468880" cy="960120"/>
          </a:xfrm>
          <a:prstGeom prst="roundRect">
            <a:avLst>
              <a:gd name="adj" fmla="val 7619"/>
            </a:avLst>
          </a:prstGeom>
          <a:solidFill>
            <a:srgbClr val="F2994A"/>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3" name="Text 11"/>
          <p:cNvSpPr/>
          <p:nvPr/>
        </p:nvSpPr>
        <p:spPr>
          <a:xfrm>
            <a:off x="6583680" y="1371600"/>
            <a:ext cx="2286000"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Supervised Fine-Tuned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14" name="Shape 12"/>
          <p:cNvSpPr/>
          <p:nvPr/>
        </p:nvSpPr>
        <p:spPr>
          <a:xfrm>
            <a:off x="9189720" y="1234440"/>
            <a:ext cx="2560320" cy="1234440"/>
          </a:xfrm>
          <a:prstGeom prst="roundRect">
            <a:avLst>
              <a:gd name="adj" fmla="val 5926"/>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5" name="Text 13"/>
          <p:cNvSpPr/>
          <p:nvPr/>
        </p:nvSpPr>
        <p:spPr>
          <a:xfrm>
            <a:off x="9326880" y="1234440"/>
            <a:ext cx="2286000" cy="1234440"/>
          </a:xfrm>
          <a:prstGeom prst="rect">
            <a:avLst/>
          </a:prstGeom>
          <a:noFill/>
          <a:ln/>
        </p:spPr>
        <p:txBody>
          <a:bodyPr wrap="square" rtlCol="0" anchor="ctr"/>
          <a:lstStyle/>
          <a:p>
            <a:pPr indent="0" marL="0">
              <a:buNone/>
            </a:pPr>
            <a:r>
              <a:rPr lang="en-US" sz="850" dirty="0">
                <a:solidFill>
                  <a:srgbClr val="5A6B87"/>
                </a:solidFill>
                <a:latin typeface="Calibri" pitchFamily="34" charset="0"/>
                <a:ea typeface="Calibri" pitchFamily="34" charset="-122"/>
                <a:cs typeface="Calibri" pitchFamily="34" charset="-120"/>
              </a:rPr>
              <a:t>Example pairs:</a:t>
            </a:r>
            <a:endParaRPr lang="en-US" sz="850" dirty="0"/>
          </a:p>
          <a:p>
            <a:pPr indent="0" marL="0">
              <a:buNone/>
            </a:pPr>
            <a:r>
              <a:rPr lang="en-US" sz="850" dirty="0">
                <a:solidFill>
                  <a:srgbClr val="5A6B87"/>
                </a:solidFill>
                <a:latin typeface="Calibri" pitchFamily="34" charset="0"/>
                <a:ea typeface="Calibri" pitchFamily="34" charset="-122"/>
                <a:cs typeface="Calibri" pitchFamily="34" charset="-120"/>
              </a:rPr>
              <a:t>"Translate to Hindi: Climate change" → "जलवायु परिवर्तन"</a:t>
            </a:r>
            <a:endParaRPr lang="en-US" sz="850" dirty="0"/>
          </a:p>
          <a:p>
            <a:pPr indent="0" marL="0">
              <a:buNone/>
            </a:pPr>
            <a:r>
              <a:rPr lang="en-US" sz="850" dirty="0">
                <a:solidFill>
                  <a:srgbClr val="5A6B87"/>
                </a:solidFill>
                <a:latin typeface="Calibri" pitchFamily="34" charset="0"/>
                <a:ea typeface="Calibri" pitchFamily="34" charset="-122"/>
                <a:cs typeface="Calibri" pitchFamily="34" charset="-120"/>
              </a:rPr>
              <a:t>"Summarize this paragraph…" → "Revenue grew 15% in Q4."</a:t>
            </a:r>
            <a:endParaRPr lang="en-US" sz="850" dirty="0"/>
          </a:p>
        </p:txBody>
      </p:sp>
      <p:sp>
        <p:nvSpPr>
          <p:cNvPr id="16" name="Text 14"/>
          <p:cNvSpPr/>
          <p:nvPr/>
        </p:nvSpPr>
        <p:spPr>
          <a:xfrm>
            <a:off x="457200" y="3063240"/>
            <a:ext cx="11247120" cy="320040"/>
          </a:xfrm>
          <a:prstGeom prst="rect">
            <a:avLst/>
          </a:prstGeom>
          <a:noFill/>
          <a:ln/>
        </p:spPr>
        <p:txBody>
          <a:bodyPr wrap="square" rtlCol="0" anchor="ctr"/>
          <a:lstStyle/>
          <a:p>
            <a:pPr indent="0" marL="0">
              <a:buNone/>
            </a:pPr>
            <a:r>
              <a:rPr lang="en-US" sz="1100" i="1" dirty="0">
                <a:solidFill>
                  <a:srgbClr val="5A6B87"/>
                </a:solidFill>
                <a:latin typeface="Calibri" pitchFamily="34" charset="0"/>
                <a:ea typeface="Calibri" pitchFamily="34" charset="-122"/>
                <a:cs typeface="Calibri" pitchFamily="34" charset="-120"/>
              </a:rPr>
              <a:t>Note: Unlike Stage 1 (unsupervised), this uses supervised learning — the correct answer is known and used to train the model.</a:t>
            </a:r>
            <a:endParaRPr lang="en-US" sz="1100" dirty="0"/>
          </a:p>
        </p:txBody>
      </p:sp>
      <p:sp>
        <p:nvSpPr>
          <p:cNvPr id="17" name="Shape 15"/>
          <p:cNvSpPr/>
          <p:nvPr/>
        </p:nvSpPr>
        <p:spPr>
          <a:xfrm>
            <a:off x="457200" y="3520440"/>
            <a:ext cx="5440680" cy="2514600"/>
          </a:xfrm>
          <a:prstGeom prst="roundRect">
            <a:avLst>
              <a:gd name="adj" fmla="val 2909"/>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8" name="Text 16"/>
          <p:cNvSpPr/>
          <p:nvPr/>
        </p:nvSpPr>
        <p:spPr>
          <a:xfrm>
            <a:off x="685800" y="3657600"/>
            <a:ext cx="502920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Training Loop (Loss Function)</a:t>
            </a:r>
            <a:endParaRPr lang="en-US" sz="1350" dirty="0"/>
          </a:p>
        </p:txBody>
      </p:sp>
      <p:sp>
        <p:nvSpPr>
          <p:cNvPr id="19" name="Shape 17"/>
          <p:cNvSpPr/>
          <p:nvPr/>
        </p:nvSpPr>
        <p:spPr>
          <a:xfrm>
            <a:off x="685800" y="4096512"/>
            <a:ext cx="310896" cy="310896"/>
          </a:xfrm>
          <a:prstGeom prst="ellipse">
            <a:avLst/>
          </a:prstGeom>
          <a:solidFill>
            <a:srgbClr val="3EC1D3"/>
          </a:solidFill>
          <a:ln/>
        </p:spPr>
      </p:sp>
      <p:sp>
        <p:nvSpPr>
          <p:cNvPr id="20" name="Text 18"/>
          <p:cNvSpPr/>
          <p:nvPr/>
        </p:nvSpPr>
        <p:spPr>
          <a:xfrm>
            <a:off x="685800" y="40965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9"/>
          <p:cNvSpPr/>
          <p:nvPr/>
        </p:nvSpPr>
        <p:spPr>
          <a:xfrm>
            <a:off x="1143000" y="4041648"/>
            <a:ext cx="4572000" cy="41148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Model generates a response</a:t>
            </a:r>
            <a:endParaRPr lang="en-US" sz="1150" dirty="0"/>
          </a:p>
        </p:txBody>
      </p:sp>
      <p:sp>
        <p:nvSpPr>
          <p:cNvPr id="22" name="Shape 20"/>
          <p:cNvSpPr/>
          <p:nvPr/>
        </p:nvSpPr>
        <p:spPr>
          <a:xfrm>
            <a:off x="685800" y="4517136"/>
            <a:ext cx="310896" cy="310896"/>
          </a:xfrm>
          <a:prstGeom prst="ellipse">
            <a:avLst/>
          </a:prstGeom>
          <a:solidFill>
            <a:srgbClr val="3EC1D3"/>
          </a:solidFill>
          <a:ln/>
        </p:spPr>
      </p:sp>
      <p:sp>
        <p:nvSpPr>
          <p:cNvPr id="23" name="Text 21"/>
          <p:cNvSpPr/>
          <p:nvPr/>
        </p:nvSpPr>
        <p:spPr>
          <a:xfrm>
            <a:off x="685800" y="45171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p:nvPr/>
        </p:nvSpPr>
        <p:spPr>
          <a:xfrm>
            <a:off x="1143000" y="4462272"/>
            <a:ext cx="4572000" cy="41148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Response compared to correct answer</a:t>
            </a:r>
            <a:endParaRPr lang="en-US" sz="1150" dirty="0"/>
          </a:p>
        </p:txBody>
      </p:sp>
      <p:sp>
        <p:nvSpPr>
          <p:cNvPr id="25" name="Shape 23"/>
          <p:cNvSpPr/>
          <p:nvPr/>
        </p:nvSpPr>
        <p:spPr>
          <a:xfrm>
            <a:off x="685800" y="4937760"/>
            <a:ext cx="310896" cy="310896"/>
          </a:xfrm>
          <a:prstGeom prst="ellipse">
            <a:avLst/>
          </a:prstGeom>
          <a:solidFill>
            <a:srgbClr val="3EC1D3"/>
          </a:solidFill>
          <a:ln/>
        </p:spPr>
      </p:sp>
      <p:sp>
        <p:nvSpPr>
          <p:cNvPr id="26" name="Text 24"/>
          <p:cNvSpPr/>
          <p:nvPr/>
        </p:nvSpPr>
        <p:spPr>
          <a:xfrm>
            <a:off x="685800" y="4937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1143000" y="4882896"/>
            <a:ext cx="4572000" cy="41148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Difference ("loss") is calculated</a:t>
            </a:r>
            <a:endParaRPr lang="en-US" sz="1150" dirty="0"/>
          </a:p>
        </p:txBody>
      </p:sp>
      <p:sp>
        <p:nvSpPr>
          <p:cNvPr id="28" name="Shape 26"/>
          <p:cNvSpPr/>
          <p:nvPr/>
        </p:nvSpPr>
        <p:spPr>
          <a:xfrm>
            <a:off x="685800" y="5358384"/>
            <a:ext cx="310896" cy="310896"/>
          </a:xfrm>
          <a:prstGeom prst="ellipse">
            <a:avLst/>
          </a:prstGeom>
          <a:solidFill>
            <a:srgbClr val="3EC1D3"/>
          </a:solidFill>
          <a:ln/>
        </p:spPr>
      </p:sp>
      <p:sp>
        <p:nvSpPr>
          <p:cNvPr id="29" name="Text 27"/>
          <p:cNvSpPr/>
          <p:nvPr/>
        </p:nvSpPr>
        <p:spPr>
          <a:xfrm>
            <a:off x="685800" y="53583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8"/>
          <p:cNvSpPr/>
          <p:nvPr/>
        </p:nvSpPr>
        <p:spPr>
          <a:xfrm>
            <a:off x="1143000" y="5303520"/>
            <a:ext cx="4572000" cy="41148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Model updates weights to reduce loss</a:t>
            </a:r>
            <a:endParaRPr lang="en-US" sz="1150" dirty="0"/>
          </a:p>
        </p:txBody>
      </p:sp>
      <p:sp>
        <p:nvSpPr>
          <p:cNvPr id="31" name="Text 29"/>
          <p:cNvSpPr/>
          <p:nvPr/>
        </p:nvSpPr>
        <p:spPr>
          <a:xfrm>
            <a:off x="685800" y="5833872"/>
            <a:ext cx="5029200" cy="274320"/>
          </a:xfrm>
          <a:prstGeom prst="rect">
            <a:avLst/>
          </a:prstGeom>
          <a:noFill/>
          <a:ln/>
        </p:spPr>
        <p:txBody>
          <a:bodyPr wrap="square" rtlCol="0" anchor="ctr"/>
          <a:lstStyle/>
          <a:p>
            <a:pPr indent="0" marL="0">
              <a:buNone/>
            </a:pPr>
            <a:r>
              <a:rPr lang="en-US" sz="1000" i="1" dirty="0">
                <a:solidFill>
                  <a:srgbClr val="5A6B87"/>
                </a:solidFill>
                <a:latin typeface="Calibri" pitchFamily="34" charset="0"/>
                <a:ea typeface="Calibri" pitchFamily="34" charset="-122"/>
                <a:cs typeface="Calibri" pitchFamily="34" charset="-120"/>
              </a:rPr>
              <a:t>Repeated millions of times, across diverse tasks and tones.</a:t>
            </a:r>
            <a:endParaRPr lang="en-US" sz="1000" dirty="0"/>
          </a:p>
        </p:txBody>
      </p:sp>
      <p:sp>
        <p:nvSpPr>
          <p:cNvPr id="32" name="Shape 30"/>
          <p:cNvSpPr/>
          <p:nvPr/>
        </p:nvSpPr>
        <p:spPr>
          <a:xfrm>
            <a:off x="6080760" y="3520440"/>
            <a:ext cx="5669280" cy="2514600"/>
          </a:xfrm>
          <a:prstGeom prst="roundRect">
            <a:avLst>
              <a:gd name="adj" fmla="val 2909"/>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33" name="Text 31"/>
          <p:cNvSpPr/>
          <p:nvPr/>
        </p:nvSpPr>
        <p:spPr>
          <a:xfrm>
            <a:off x="6309360" y="3657600"/>
            <a:ext cx="521208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After SFT, the model knows:</a:t>
            </a:r>
            <a:endParaRPr lang="en-US" sz="1350" dirty="0"/>
          </a:p>
        </p:txBody>
      </p:sp>
      <p:sp>
        <p:nvSpPr>
          <p:cNvPr id="34" name="Shape 32"/>
          <p:cNvSpPr/>
          <p:nvPr/>
        </p:nvSpPr>
        <p:spPr>
          <a:xfrm>
            <a:off x="6355080" y="4142232"/>
            <a:ext cx="128016" cy="128016"/>
          </a:xfrm>
          <a:prstGeom prst="ellipse">
            <a:avLst/>
          </a:prstGeom>
          <a:solidFill>
            <a:srgbClr val="27AE60"/>
          </a:solidFill>
          <a:ln/>
        </p:spPr>
      </p:sp>
      <p:sp>
        <p:nvSpPr>
          <p:cNvPr id="35" name="Text 33"/>
          <p:cNvSpPr/>
          <p:nvPr/>
        </p:nvSpPr>
        <p:spPr>
          <a:xfrm>
            <a:off x="6583680" y="4050792"/>
            <a:ext cx="4937760" cy="32004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How to respond to questions</a:t>
            </a:r>
            <a:endParaRPr lang="en-US" sz="1100" dirty="0"/>
          </a:p>
        </p:txBody>
      </p:sp>
      <p:sp>
        <p:nvSpPr>
          <p:cNvPr id="36" name="Shape 34"/>
          <p:cNvSpPr/>
          <p:nvPr/>
        </p:nvSpPr>
        <p:spPr>
          <a:xfrm>
            <a:off x="6355080" y="4507992"/>
            <a:ext cx="128016" cy="128016"/>
          </a:xfrm>
          <a:prstGeom prst="ellipse">
            <a:avLst/>
          </a:prstGeom>
          <a:solidFill>
            <a:srgbClr val="27AE60"/>
          </a:solidFill>
          <a:ln/>
        </p:spPr>
      </p:sp>
      <p:sp>
        <p:nvSpPr>
          <p:cNvPr id="37" name="Text 35"/>
          <p:cNvSpPr/>
          <p:nvPr/>
        </p:nvSpPr>
        <p:spPr>
          <a:xfrm>
            <a:off x="6583680" y="4416552"/>
            <a:ext cx="4937760" cy="32004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How to format answers (bullets, summaries)</a:t>
            </a:r>
            <a:endParaRPr lang="en-US" sz="1100" dirty="0"/>
          </a:p>
        </p:txBody>
      </p:sp>
      <p:sp>
        <p:nvSpPr>
          <p:cNvPr id="38" name="Shape 36"/>
          <p:cNvSpPr/>
          <p:nvPr/>
        </p:nvSpPr>
        <p:spPr>
          <a:xfrm>
            <a:off x="6355080" y="4873752"/>
            <a:ext cx="128016" cy="128016"/>
          </a:xfrm>
          <a:prstGeom prst="ellipse">
            <a:avLst/>
          </a:prstGeom>
          <a:solidFill>
            <a:srgbClr val="27AE60"/>
          </a:solidFill>
          <a:ln/>
        </p:spPr>
      </p:sp>
      <p:sp>
        <p:nvSpPr>
          <p:cNvPr id="39" name="Text 37"/>
          <p:cNvSpPr/>
          <p:nvPr/>
        </p:nvSpPr>
        <p:spPr>
          <a:xfrm>
            <a:off x="6583680" y="4782312"/>
            <a:ext cx="4937760" cy="32004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How to sound polite, respectful, concise</a:t>
            </a:r>
            <a:endParaRPr lang="en-US" sz="1100" dirty="0"/>
          </a:p>
        </p:txBody>
      </p:sp>
      <p:sp>
        <p:nvSpPr>
          <p:cNvPr id="40" name="Shape 38"/>
          <p:cNvSpPr/>
          <p:nvPr/>
        </p:nvSpPr>
        <p:spPr>
          <a:xfrm>
            <a:off x="6355080" y="5239512"/>
            <a:ext cx="128016" cy="128016"/>
          </a:xfrm>
          <a:prstGeom prst="ellipse">
            <a:avLst/>
          </a:prstGeom>
          <a:solidFill>
            <a:srgbClr val="27AE60"/>
          </a:solidFill>
          <a:ln/>
        </p:spPr>
      </p:sp>
      <p:sp>
        <p:nvSpPr>
          <p:cNvPr id="41" name="Text 39"/>
          <p:cNvSpPr/>
          <p:nvPr/>
        </p:nvSpPr>
        <p:spPr>
          <a:xfrm>
            <a:off x="6583680" y="5148072"/>
            <a:ext cx="4937760" cy="32004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How to avoid going off-topic</a:t>
            </a:r>
            <a:endParaRPr lang="en-US" sz="1100" dirty="0"/>
          </a:p>
        </p:txBody>
      </p:sp>
      <p:sp>
        <p:nvSpPr>
          <p:cNvPr id="42" name="Text 40"/>
          <p:cNvSpPr/>
          <p:nvPr/>
        </p:nvSpPr>
        <p:spPr>
          <a:xfrm>
            <a:off x="6309360" y="5623560"/>
            <a:ext cx="5212080" cy="384048"/>
          </a:xfrm>
          <a:prstGeom prst="rect">
            <a:avLst/>
          </a:prstGeom>
          <a:noFill/>
          <a:ln/>
        </p:spPr>
        <p:txBody>
          <a:bodyPr wrap="square" rtlCol="0" anchor="ctr"/>
          <a:lstStyle/>
          <a:p>
            <a:pPr indent="0" marL="0">
              <a:buNone/>
            </a:pPr>
            <a:r>
              <a:rPr lang="en-US" sz="1000" i="1" dirty="0">
                <a:solidFill>
                  <a:srgbClr val="EB5757"/>
                </a:solidFill>
                <a:latin typeface="Calibri" pitchFamily="34" charset="0"/>
                <a:ea typeface="Calibri" pitchFamily="34" charset="-122"/>
                <a:cs typeface="Calibri" pitchFamily="34" charset="-120"/>
              </a:rPr>
              <a:t>But it still doesn't have empathy or ethical judgment — it may sound blunt, hallucinate, or overconfidently give wrong info. That gap is closed in Stage 3.</a:t>
            </a:r>
            <a:endParaRPr lang="en-US" sz="1000" dirty="0"/>
          </a:p>
        </p:txBody>
      </p:sp>
      <p:sp>
        <p:nvSpPr>
          <p:cNvPr id="43" name="Text 41"/>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44" name="Text 42"/>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3 — Reinforcement Learning with Human Feedback</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Teaching the model to respond like a helpful, safe human — not just a correct one</a:t>
            </a:r>
            <a:endParaRPr lang="en-US" sz="1400" dirty="0"/>
          </a:p>
        </p:txBody>
      </p:sp>
      <p:sp>
        <p:nvSpPr>
          <p:cNvPr id="4" name="Text 2"/>
          <p:cNvSpPr/>
          <p:nvPr/>
        </p:nvSpPr>
        <p:spPr>
          <a:xfrm>
            <a:off x="457200" y="1207008"/>
            <a:ext cx="11247120" cy="365760"/>
          </a:xfrm>
          <a:prstGeom prst="rect">
            <a:avLst/>
          </a:prstGeom>
          <a:noFill/>
          <a:ln/>
        </p:spPr>
        <p:txBody>
          <a:bodyPr wrap="square" rtlCol="0" anchor="ctr"/>
          <a:lstStyle/>
          <a:p>
            <a:pPr indent="0" marL="0">
              <a:buNone/>
            </a:pPr>
            <a:r>
              <a:rPr lang="en-US" sz="1300" b="1" i="1" dirty="0">
                <a:solidFill>
                  <a:srgbClr val="1E2761"/>
                </a:solidFill>
                <a:latin typeface="Calibri" pitchFamily="34" charset="0"/>
                <a:ea typeface="Calibri" pitchFamily="34" charset="-122"/>
                <a:cs typeface="Calibri" pitchFamily="34" charset="-120"/>
              </a:rPr>
              <a:t>"Humans guide the AI by telling it which answers are better."</a:t>
            </a:r>
            <a:endParaRPr lang="en-US" sz="1300" dirty="0"/>
          </a:p>
        </p:txBody>
      </p:sp>
      <p:sp>
        <p:nvSpPr>
          <p:cNvPr id="5" name="Shape 3"/>
          <p:cNvSpPr/>
          <p:nvPr/>
        </p:nvSpPr>
        <p:spPr>
          <a:xfrm>
            <a:off x="457200" y="1691640"/>
            <a:ext cx="1965960" cy="777240"/>
          </a:xfrm>
          <a:prstGeom prst="roundRect">
            <a:avLst>
              <a:gd name="adj" fmla="val 9412"/>
            </a:avLst>
          </a:prstGeom>
          <a:solidFill>
            <a:srgbClr val="CADCFC"/>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6" name="Text 4"/>
          <p:cNvSpPr/>
          <p:nvPr/>
        </p:nvSpPr>
        <p:spPr>
          <a:xfrm>
            <a:off x="530352" y="1691640"/>
            <a:ext cx="1819656" cy="77724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SFT Model</a:t>
            </a:r>
            <a:endParaRPr lang="en-US" sz="1000" dirty="0"/>
          </a:p>
          <a:p>
            <a:pPr algn="ctr" indent="0" marL="0">
              <a:buNone/>
            </a:pPr>
            <a:r>
              <a:rPr lang="en-US" sz="1000" b="1" dirty="0">
                <a:solidFill>
                  <a:srgbClr val="1E2761"/>
                </a:solidFill>
                <a:latin typeface="Calibri" pitchFamily="34" charset="0"/>
                <a:ea typeface="Calibri" pitchFamily="34" charset="-122"/>
                <a:cs typeface="Calibri" pitchFamily="34" charset="-120"/>
              </a:rPr>
              <a:t>generates response</a:t>
            </a:r>
            <a:endParaRPr lang="en-US" sz="1000" dirty="0"/>
          </a:p>
        </p:txBody>
      </p:sp>
      <p:sp>
        <p:nvSpPr>
          <p:cNvPr id="7" name="Shape 5"/>
          <p:cNvSpPr/>
          <p:nvPr/>
        </p:nvSpPr>
        <p:spPr>
          <a:xfrm>
            <a:off x="2441448" y="1979676"/>
            <a:ext cx="237744" cy="201168"/>
          </a:xfrm>
          <a:prstGeom prst="rightArrow">
            <a:avLst/>
          </a:prstGeom>
          <a:solidFill>
            <a:srgbClr val="5A6B87"/>
          </a:solidFill>
          <a:ln/>
        </p:spPr>
      </p:sp>
      <p:sp>
        <p:nvSpPr>
          <p:cNvPr id="8" name="Shape 6"/>
          <p:cNvSpPr/>
          <p:nvPr/>
        </p:nvSpPr>
        <p:spPr>
          <a:xfrm>
            <a:off x="2697480" y="1691640"/>
            <a:ext cx="1965960" cy="777240"/>
          </a:xfrm>
          <a:prstGeom prst="roundRect">
            <a:avLst>
              <a:gd name="adj" fmla="val 9412"/>
            </a:avLst>
          </a:prstGeom>
          <a:solidFill>
            <a:srgbClr val="CADCFC"/>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9" name="Text 7"/>
          <p:cNvSpPr/>
          <p:nvPr/>
        </p:nvSpPr>
        <p:spPr>
          <a:xfrm>
            <a:off x="2770632" y="1691640"/>
            <a:ext cx="1819656" cy="77724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Alternate</a:t>
            </a:r>
            <a:endParaRPr lang="en-US" sz="1000" dirty="0"/>
          </a:p>
          <a:p>
            <a:pPr algn="ctr" indent="0" marL="0">
              <a:buNone/>
            </a:pPr>
            <a:r>
              <a:rPr lang="en-US" sz="1000" b="1" dirty="0">
                <a:solidFill>
                  <a:srgbClr val="1E2761"/>
                </a:solidFill>
                <a:latin typeface="Calibri" pitchFamily="34" charset="0"/>
                <a:ea typeface="Calibri" pitchFamily="34" charset="-122"/>
                <a:cs typeface="Calibri" pitchFamily="34" charset="-120"/>
              </a:rPr>
              <a:t>responses (1-4)</a:t>
            </a:r>
            <a:endParaRPr lang="en-US" sz="1000" dirty="0"/>
          </a:p>
        </p:txBody>
      </p:sp>
      <p:sp>
        <p:nvSpPr>
          <p:cNvPr id="10" name="Shape 8"/>
          <p:cNvSpPr/>
          <p:nvPr/>
        </p:nvSpPr>
        <p:spPr>
          <a:xfrm>
            <a:off x="4681728" y="1979676"/>
            <a:ext cx="237744" cy="201168"/>
          </a:xfrm>
          <a:prstGeom prst="rightArrow">
            <a:avLst/>
          </a:prstGeom>
          <a:solidFill>
            <a:srgbClr val="5A6B87"/>
          </a:solidFill>
          <a:ln/>
        </p:spPr>
      </p:sp>
      <p:sp>
        <p:nvSpPr>
          <p:cNvPr id="11" name="Shape 9"/>
          <p:cNvSpPr/>
          <p:nvPr/>
        </p:nvSpPr>
        <p:spPr>
          <a:xfrm>
            <a:off x="4937760" y="1691640"/>
            <a:ext cx="2103120" cy="777240"/>
          </a:xfrm>
          <a:prstGeom prst="roundRect">
            <a:avLst>
              <a:gd name="adj" fmla="val 9412"/>
            </a:avLst>
          </a:prstGeom>
          <a:solidFill>
            <a:srgbClr val="F2994A"/>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2" name="Text 10"/>
          <p:cNvSpPr/>
          <p:nvPr/>
        </p:nvSpPr>
        <p:spPr>
          <a:xfrm>
            <a:off x="5010912" y="1691640"/>
            <a:ext cx="1956816"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Human ranks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responses (best→worst)</a:t>
            </a:r>
            <a:endParaRPr lang="en-US" sz="1000" dirty="0"/>
          </a:p>
        </p:txBody>
      </p:sp>
      <p:sp>
        <p:nvSpPr>
          <p:cNvPr id="13" name="Shape 11"/>
          <p:cNvSpPr/>
          <p:nvPr/>
        </p:nvSpPr>
        <p:spPr>
          <a:xfrm>
            <a:off x="7059168" y="1979676"/>
            <a:ext cx="237744" cy="201168"/>
          </a:xfrm>
          <a:prstGeom prst="rightArrow">
            <a:avLst/>
          </a:prstGeom>
          <a:solidFill>
            <a:srgbClr val="5A6B87"/>
          </a:solidFill>
          <a:ln/>
        </p:spPr>
      </p:sp>
      <p:sp>
        <p:nvSpPr>
          <p:cNvPr id="14" name="Shape 12"/>
          <p:cNvSpPr/>
          <p:nvPr/>
        </p:nvSpPr>
        <p:spPr>
          <a:xfrm>
            <a:off x="7315200" y="1691640"/>
            <a:ext cx="1965960" cy="777240"/>
          </a:xfrm>
          <a:prstGeom prst="roundRect">
            <a:avLst>
              <a:gd name="adj" fmla="val 9412"/>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5" name="Text 13"/>
          <p:cNvSpPr/>
          <p:nvPr/>
        </p:nvSpPr>
        <p:spPr>
          <a:xfrm>
            <a:off x="7388352" y="1691640"/>
            <a:ext cx="1819656"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Reward Model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scores responses</a:t>
            </a:r>
            <a:endParaRPr lang="en-US" sz="1000" dirty="0"/>
          </a:p>
        </p:txBody>
      </p:sp>
      <p:sp>
        <p:nvSpPr>
          <p:cNvPr id="16" name="Shape 14"/>
          <p:cNvSpPr/>
          <p:nvPr/>
        </p:nvSpPr>
        <p:spPr>
          <a:xfrm>
            <a:off x="9299448" y="1979676"/>
            <a:ext cx="237744" cy="201168"/>
          </a:xfrm>
          <a:prstGeom prst="rightArrow">
            <a:avLst/>
          </a:prstGeom>
          <a:solidFill>
            <a:srgbClr val="5A6B87"/>
          </a:solidFill>
          <a:ln/>
        </p:spPr>
      </p:sp>
      <p:sp>
        <p:nvSpPr>
          <p:cNvPr id="17" name="Shape 15"/>
          <p:cNvSpPr/>
          <p:nvPr/>
        </p:nvSpPr>
        <p:spPr>
          <a:xfrm>
            <a:off x="9555480" y="1691640"/>
            <a:ext cx="2148840" cy="777240"/>
          </a:xfrm>
          <a:prstGeom prst="roundRect">
            <a:avLst>
              <a:gd name="adj" fmla="val 9412"/>
            </a:avLst>
          </a:prstGeom>
          <a:solidFill>
            <a:srgbClr val="3EC1D3"/>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8" name="Text 16"/>
          <p:cNvSpPr/>
          <p:nvPr/>
        </p:nvSpPr>
        <p:spPr>
          <a:xfrm>
            <a:off x="9628632" y="1691640"/>
            <a:ext cx="2002536" cy="77724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Model updates via</a:t>
            </a:r>
            <a:endParaRPr lang="en-US" sz="1000" dirty="0"/>
          </a:p>
          <a:p>
            <a:pPr algn="ctr" indent="0" marL="0">
              <a:buNone/>
            </a:pPr>
            <a:r>
              <a:rPr lang="en-US" sz="1000" b="1" dirty="0">
                <a:solidFill>
                  <a:srgbClr val="1E2761"/>
                </a:solidFill>
                <a:latin typeface="Calibri" pitchFamily="34" charset="0"/>
                <a:ea typeface="Calibri" pitchFamily="34" charset="-122"/>
                <a:cs typeface="Calibri" pitchFamily="34" charset="-120"/>
              </a:rPr>
              <a:t>PPO (reward/penalty)</a:t>
            </a:r>
            <a:endParaRPr lang="en-US" sz="1000" dirty="0"/>
          </a:p>
        </p:txBody>
      </p:sp>
      <p:sp>
        <p:nvSpPr>
          <p:cNvPr id="19" name="Shape 17"/>
          <p:cNvSpPr/>
          <p:nvPr/>
        </p:nvSpPr>
        <p:spPr>
          <a:xfrm>
            <a:off x="457200" y="2697480"/>
            <a:ext cx="11292840" cy="1508760"/>
          </a:xfrm>
          <a:prstGeom prst="roundRect">
            <a:avLst>
              <a:gd name="adj" fmla="val 4848"/>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0" name="Text 18"/>
          <p:cNvSpPr/>
          <p:nvPr/>
        </p:nvSpPr>
        <p:spPr>
          <a:xfrm>
            <a:off x="685800" y="2788920"/>
            <a:ext cx="1078992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Prompt: "Explain depression to someone going through it." — which answer is best?</a:t>
            </a:r>
            <a:endParaRPr lang="en-US" sz="1200" dirty="0"/>
          </a:p>
        </p:txBody>
      </p:sp>
      <p:sp>
        <p:nvSpPr>
          <p:cNvPr id="21" name="Text 19"/>
          <p:cNvSpPr/>
          <p:nvPr/>
        </p:nvSpPr>
        <p:spPr>
          <a:xfrm>
            <a:off x="822960" y="3154680"/>
            <a:ext cx="10698480" cy="256032"/>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1. "Depression is a mental disorder classified by the DSM-5…" (clinical)</a:t>
            </a:r>
            <a:endParaRPr lang="en-US" sz="1000" dirty="0"/>
          </a:p>
        </p:txBody>
      </p:sp>
      <p:sp>
        <p:nvSpPr>
          <p:cNvPr id="22" name="Text 20"/>
          <p:cNvSpPr/>
          <p:nvPr/>
        </p:nvSpPr>
        <p:spPr>
          <a:xfrm>
            <a:off x="822960" y="3410712"/>
            <a:ext cx="10698480" cy="256032"/>
          </a:xfrm>
          <a:prstGeom prst="rect">
            <a:avLst/>
          </a:prstGeom>
          <a:noFill/>
          <a:ln/>
        </p:spPr>
        <p:txBody>
          <a:bodyPr wrap="square"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2. "You're not alone. Many people struggle with this. It's okay to seek help." (human, supportive) ✓ ranked best</a:t>
            </a:r>
            <a:endParaRPr lang="en-US" sz="1000" dirty="0"/>
          </a:p>
        </p:txBody>
      </p:sp>
      <p:sp>
        <p:nvSpPr>
          <p:cNvPr id="23" name="Text 21"/>
          <p:cNvSpPr/>
          <p:nvPr/>
        </p:nvSpPr>
        <p:spPr>
          <a:xfrm>
            <a:off x="822960" y="3666744"/>
            <a:ext cx="10698480" cy="256032"/>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3. "It's when you feel sad for a long time." (too simple)</a:t>
            </a:r>
            <a:endParaRPr lang="en-US" sz="1000" dirty="0"/>
          </a:p>
        </p:txBody>
      </p:sp>
      <p:sp>
        <p:nvSpPr>
          <p:cNvPr id="24" name="Text 22"/>
          <p:cNvSpPr/>
          <p:nvPr/>
        </p:nvSpPr>
        <p:spPr>
          <a:xfrm>
            <a:off x="822960" y="3922776"/>
            <a:ext cx="10698480" cy="256032"/>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4. "Try meditation. It works for most people." (overconfident advice)</a:t>
            </a:r>
            <a:endParaRPr lang="en-US" sz="1000" dirty="0"/>
          </a:p>
        </p:txBody>
      </p:sp>
      <p:sp>
        <p:nvSpPr>
          <p:cNvPr id="25" name="Shape 23"/>
          <p:cNvSpPr/>
          <p:nvPr/>
        </p:nvSpPr>
        <p:spPr>
          <a:xfrm>
            <a:off x="457200" y="4389120"/>
            <a:ext cx="5440680" cy="1737360"/>
          </a:xfrm>
          <a:prstGeom prst="roundRect">
            <a:avLst>
              <a:gd name="adj" fmla="val 4211"/>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6" name="Text 24"/>
          <p:cNvSpPr/>
          <p:nvPr/>
        </p:nvSpPr>
        <p:spPr>
          <a:xfrm>
            <a:off x="685800" y="4526280"/>
            <a:ext cx="502920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Reward Model</a:t>
            </a:r>
            <a:endParaRPr lang="en-US" sz="1350" dirty="0"/>
          </a:p>
        </p:txBody>
      </p:sp>
      <p:sp>
        <p:nvSpPr>
          <p:cNvPr id="27" name="Text 25"/>
          <p:cNvSpPr/>
          <p:nvPr/>
        </p:nvSpPr>
        <p:spPr>
          <a:xfrm>
            <a:off x="685800" y="4846320"/>
            <a:ext cx="5029200" cy="118872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Trained on human rankings. It doesn't generate text — it scores how good a piece of text is, based on what humans preferred earlier. This score becomes the 'judge' for the main model.</a:t>
            </a:r>
            <a:endParaRPr lang="en-US" sz="1100" dirty="0"/>
          </a:p>
        </p:txBody>
      </p:sp>
      <p:sp>
        <p:nvSpPr>
          <p:cNvPr id="28" name="Shape 26"/>
          <p:cNvSpPr/>
          <p:nvPr/>
        </p:nvSpPr>
        <p:spPr>
          <a:xfrm>
            <a:off x="6080760" y="4389120"/>
            <a:ext cx="5669280" cy="1737360"/>
          </a:xfrm>
          <a:prstGeom prst="roundRect">
            <a:avLst>
              <a:gd name="adj" fmla="val 4211"/>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9" name="Text 27"/>
          <p:cNvSpPr/>
          <p:nvPr/>
        </p:nvSpPr>
        <p:spPr>
          <a:xfrm>
            <a:off x="6309360" y="4526280"/>
            <a:ext cx="521208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Reinforcement Loop</a:t>
            </a:r>
            <a:endParaRPr lang="en-US" sz="1350" dirty="0"/>
          </a:p>
        </p:txBody>
      </p:sp>
      <p:sp>
        <p:nvSpPr>
          <p:cNvPr id="30" name="Text 28"/>
          <p:cNvSpPr/>
          <p:nvPr/>
        </p:nvSpPr>
        <p:spPr>
          <a:xfrm>
            <a:off x="6309360" y="4846320"/>
            <a:ext cx="5212080" cy="118872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Base model generates a response → Reward Model scores it → high score = reward, low score = penalty → model updates to prefer higher-scoring responses. Repeated thousands of times using PPO (Proximal Policy Optimization).</a:t>
            </a:r>
            <a:endParaRPr lang="en-US" sz="1100" dirty="0"/>
          </a:p>
        </p:txBody>
      </p:sp>
      <p:sp>
        <p:nvSpPr>
          <p:cNvPr id="31" name="Text 29"/>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2" name="Text 30"/>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Open Source vs Closed Source LLMs</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Two very different ways of giving the world access to GenAI</a:t>
            </a:r>
            <a:endParaRPr lang="en-US" sz="1400" dirty="0"/>
          </a:p>
        </p:txBody>
      </p:sp>
      <p:sp>
        <p:nvSpPr>
          <p:cNvPr id="4" name="Shape 2"/>
          <p:cNvSpPr/>
          <p:nvPr/>
        </p:nvSpPr>
        <p:spPr>
          <a:xfrm>
            <a:off x="457200" y="1417320"/>
            <a:ext cx="5440680" cy="2331720"/>
          </a:xfrm>
          <a:prstGeom prst="roundRect">
            <a:avLst>
              <a:gd name="adj" fmla="val 3137"/>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685800" y="1554480"/>
            <a:ext cx="5029200" cy="4114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  Open Source LLMs</a:t>
            </a:r>
            <a:endParaRPr lang="en-US" sz="1600" dirty="0"/>
          </a:p>
        </p:txBody>
      </p:sp>
      <p:sp>
        <p:nvSpPr>
          <p:cNvPr id="6" name="Text 4"/>
          <p:cNvSpPr/>
          <p:nvPr/>
        </p:nvSpPr>
        <p:spPr>
          <a:xfrm>
            <a:off x="685800" y="2011680"/>
            <a:ext cx="5029200" cy="82296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Like an electric-car maker publishing the designs, blueprints, and source code. Anyone — students to startups — can build on it, improve it, or modify it to suit their needs.</a:t>
            </a:r>
            <a:endParaRPr lang="en-US" sz="1150" dirty="0"/>
          </a:p>
        </p:txBody>
      </p:sp>
      <p:sp>
        <p:nvSpPr>
          <p:cNvPr id="7" name="Text 5"/>
          <p:cNvSpPr/>
          <p:nvPr/>
        </p:nvSpPr>
        <p:spPr>
          <a:xfrm>
            <a:off x="685800" y="2880360"/>
            <a:ext cx="5029200" cy="77724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Source code is public → freely used, modified, distributed. Encourages collaboration &amp; community innovation.</a:t>
            </a:r>
            <a:endParaRPr lang="en-US" sz="1100" dirty="0"/>
          </a:p>
        </p:txBody>
      </p:sp>
      <p:sp>
        <p:nvSpPr>
          <p:cNvPr id="8" name="Shape 6"/>
          <p:cNvSpPr/>
          <p:nvPr/>
        </p:nvSpPr>
        <p:spPr>
          <a:xfrm>
            <a:off x="6263640" y="1417320"/>
            <a:ext cx="5440680" cy="2331720"/>
          </a:xfrm>
          <a:prstGeom prst="roundRect">
            <a:avLst>
              <a:gd name="adj" fmla="val 3137"/>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9" name="Text 7"/>
          <p:cNvSpPr/>
          <p:nvPr/>
        </p:nvSpPr>
        <p:spPr>
          <a:xfrm>
            <a:off x="6492240" y="1554480"/>
            <a:ext cx="5029200" cy="4114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Closed Source LLMs</a:t>
            </a:r>
            <a:endParaRPr lang="en-US" sz="1600" dirty="0"/>
          </a:p>
        </p:txBody>
      </p:sp>
      <p:sp>
        <p:nvSpPr>
          <p:cNvPr id="10" name="Text 8"/>
          <p:cNvSpPr/>
          <p:nvPr/>
        </p:nvSpPr>
        <p:spPr>
          <a:xfrm>
            <a:off x="6492240" y="2011680"/>
            <a:ext cx="5029200" cy="82296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Like a company selling supercar rides — you don't get the engine design or the keys to modify it, only access through their app or API.</a:t>
            </a:r>
            <a:endParaRPr lang="en-US" sz="1150" dirty="0"/>
          </a:p>
        </p:txBody>
      </p:sp>
      <p:sp>
        <p:nvSpPr>
          <p:cNvPr id="11" name="Text 9"/>
          <p:cNvSpPr/>
          <p:nvPr/>
        </p:nvSpPr>
        <p:spPr>
          <a:xfrm>
            <a:off x="6492240" y="2880360"/>
            <a:ext cx="5029200" cy="777240"/>
          </a:xfrm>
          <a:prstGeom prst="rect">
            <a:avLst/>
          </a:prstGeom>
          <a:noFill/>
          <a:ln/>
        </p:spPr>
        <p:txBody>
          <a:bodyPr wrap="square" rtlCol="0" anchor="ctr"/>
          <a:lstStyle/>
          <a:p>
            <a:pPr indent="0" marL="0">
              <a:buNone/>
            </a:pPr>
            <a:r>
              <a:rPr lang="en-US" sz="1100" i="1" dirty="0">
                <a:solidFill>
                  <a:srgbClr val="3EC1D3"/>
                </a:solidFill>
                <a:latin typeface="Calibri" pitchFamily="34" charset="0"/>
                <a:ea typeface="Calibri" pitchFamily="34" charset="-122"/>
                <a:cs typeface="Calibri" pitchFamily="34" charset="-120"/>
              </a:rPr>
              <a:t>Privately owned, commercially controlled, weights &amp; code not shared. You use it through a platform, not by downloading it.</a:t>
            </a:r>
            <a:endParaRPr lang="en-US" sz="1100" dirty="0"/>
          </a:p>
        </p:txBody>
      </p:sp>
      <p:sp>
        <p:nvSpPr>
          <p:cNvPr id="12" name="Text 10"/>
          <p:cNvSpPr/>
          <p:nvPr/>
        </p:nvSpPr>
        <p:spPr>
          <a:xfrm>
            <a:off x="457200" y="3931920"/>
            <a:ext cx="544068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Popular Open-Source Models</a:t>
            </a:r>
            <a:endParaRPr lang="en-US" sz="1300" dirty="0"/>
          </a:p>
        </p:txBody>
      </p:sp>
      <p:sp>
        <p:nvSpPr>
          <p:cNvPr id="13" name="Shape 11"/>
          <p:cNvSpPr/>
          <p:nvPr/>
        </p:nvSpPr>
        <p:spPr>
          <a:xfrm>
            <a:off x="457200" y="4297680"/>
            <a:ext cx="1033272" cy="1051560"/>
          </a:xfrm>
          <a:prstGeom prst="roundRect">
            <a:avLst>
              <a:gd name="adj" fmla="val 7080"/>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4" name="Text 12"/>
          <p:cNvSpPr/>
          <p:nvPr/>
        </p:nvSpPr>
        <p:spPr>
          <a:xfrm>
            <a:off x="484632" y="4297680"/>
            <a:ext cx="978408" cy="1051560"/>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Gemma</a:t>
            </a:r>
            <a:endParaRPr lang="en-US" sz="950" dirty="0"/>
          </a:p>
          <a:p>
            <a:pPr algn="ctr" indent="0" marL="0">
              <a:buNone/>
            </a:pPr>
            <a:r>
              <a:rPr lang="en-US" sz="950" b="1" dirty="0">
                <a:solidFill>
                  <a:srgbClr val="1E2761"/>
                </a:solidFill>
                <a:latin typeface="Calibri" pitchFamily="34" charset="0"/>
                <a:ea typeface="Calibri" pitchFamily="34" charset="-122"/>
                <a:cs typeface="Calibri" pitchFamily="34" charset="-120"/>
              </a:rPr>
              <a:t>(Google)</a:t>
            </a:r>
            <a:endParaRPr lang="en-US" sz="950" dirty="0"/>
          </a:p>
        </p:txBody>
      </p:sp>
      <p:sp>
        <p:nvSpPr>
          <p:cNvPr id="15" name="Shape 13"/>
          <p:cNvSpPr/>
          <p:nvPr/>
        </p:nvSpPr>
        <p:spPr>
          <a:xfrm>
            <a:off x="1563624" y="4297680"/>
            <a:ext cx="1033272" cy="1051560"/>
          </a:xfrm>
          <a:prstGeom prst="roundRect">
            <a:avLst>
              <a:gd name="adj" fmla="val 7080"/>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6" name="Text 14"/>
          <p:cNvSpPr/>
          <p:nvPr/>
        </p:nvSpPr>
        <p:spPr>
          <a:xfrm>
            <a:off x="1591056" y="4297680"/>
            <a:ext cx="978408" cy="1051560"/>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LLaMA 3</a:t>
            </a:r>
            <a:endParaRPr lang="en-US" sz="950" dirty="0"/>
          </a:p>
          <a:p>
            <a:pPr algn="ctr" indent="0" marL="0">
              <a:buNone/>
            </a:pPr>
            <a:r>
              <a:rPr lang="en-US" sz="950" b="1" dirty="0">
                <a:solidFill>
                  <a:srgbClr val="1E2761"/>
                </a:solidFill>
                <a:latin typeface="Calibri" pitchFamily="34" charset="0"/>
                <a:ea typeface="Calibri" pitchFamily="34" charset="-122"/>
                <a:cs typeface="Calibri" pitchFamily="34" charset="-120"/>
              </a:rPr>
              <a:t>(Meta)</a:t>
            </a:r>
            <a:endParaRPr lang="en-US" sz="950" dirty="0"/>
          </a:p>
        </p:txBody>
      </p:sp>
      <p:sp>
        <p:nvSpPr>
          <p:cNvPr id="17" name="Shape 15"/>
          <p:cNvSpPr/>
          <p:nvPr/>
        </p:nvSpPr>
        <p:spPr>
          <a:xfrm>
            <a:off x="2670048" y="4297680"/>
            <a:ext cx="1033272" cy="1051560"/>
          </a:xfrm>
          <a:prstGeom prst="roundRect">
            <a:avLst>
              <a:gd name="adj" fmla="val 7080"/>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8" name="Text 16"/>
          <p:cNvSpPr/>
          <p:nvPr/>
        </p:nvSpPr>
        <p:spPr>
          <a:xfrm>
            <a:off x="2697480" y="4297680"/>
            <a:ext cx="978408" cy="1051560"/>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Qwen</a:t>
            </a:r>
            <a:endParaRPr lang="en-US" sz="950" dirty="0"/>
          </a:p>
          <a:p>
            <a:pPr algn="ctr" indent="0" marL="0">
              <a:buNone/>
            </a:pPr>
            <a:r>
              <a:rPr lang="en-US" sz="950" b="1" dirty="0">
                <a:solidFill>
                  <a:srgbClr val="1E2761"/>
                </a:solidFill>
                <a:latin typeface="Calibri" pitchFamily="34" charset="0"/>
                <a:ea typeface="Calibri" pitchFamily="34" charset="-122"/>
                <a:cs typeface="Calibri" pitchFamily="34" charset="-120"/>
              </a:rPr>
              <a:t>(Alibaba)</a:t>
            </a:r>
            <a:endParaRPr lang="en-US" sz="950" dirty="0"/>
          </a:p>
        </p:txBody>
      </p:sp>
      <p:sp>
        <p:nvSpPr>
          <p:cNvPr id="19" name="Shape 17"/>
          <p:cNvSpPr/>
          <p:nvPr/>
        </p:nvSpPr>
        <p:spPr>
          <a:xfrm>
            <a:off x="3776472" y="4297680"/>
            <a:ext cx="1033272" cy="1051560"/>
          </a:xfrm>
          <a:prstGeom prst="roundRect">
            <a:avLst>
              <a:gd name="adj" fmla="val 7080"/>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0" name="Text 18"/>
          <p:cNvSpPr/>
          <p:nvPr/>
        </p:nvSpPr>
        <p:spPr>
          <a:xfrm>
            <a:off x="3803904" y="4297680"/>
            <a:ext cx="978408" cy="1051560"/>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BLOOM</a:t>
            </a:r>
            <a:endParaRPr lang="en-US" sz="950" dirty="0"/>
          </a:p>
          <a:p>
            <a:pPr algn="ctr" indent="0" marL="0">
              <a:buNone/>
            </a:pPr>
            <a:r>
              <a:rPr lang="en-US" sz="950" b="1" dirty="0">
                <a:solidFill>
                  <a:srgbClr val="1E2761"/>
                </a:solidFill>
                <a:latin typeface="Calibri" pitchFamily="34" charset="0"/>
                <a:ea typeface="Calibri" pitchFamily="34" charset="-122"/>
                <a:cs typeface="Calibri" pitchFamily="34" charset="-120"/>
              </a:rPr>
              <a:t>(BigScience)</a:t>
            </a:r>
            <a:endParaRPr lang="en-US" sz="950" dirty="0"/>
          </a:p>
        </p:txBody>
      </p:sp>
      <p:sp>
        <p:nvSpPr>
          <p:cNvPr id="21" name="Shape 19"/>
          <p:cNvSpPr/>
          <p:nvPr/>
        </p:nvSpPr>
        <p:spPr>
          <a:xfrm>
            <a:off x="4882896" y="4297680"/>
            <a:ext cx="1033272" cy="1051560"/>
          </a:xfrm>
          <a:prstGeom prst="roundRect">
            <a:avLst>
              <a:gd name="adj" fmla="val 7080"/>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2" name="Text 20"/>
          <p:cNvSpPr/>
          <p:nvPr/>
        </p:nvSpPr>
        <p:spPr>
          <a:xfrm>
            <a:off x="4910328" y="4297680"/>
            <a:ext cx="978408" cy="1051560"/>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Falcon</a:t>
            </a:r>
            <a:endParaRPr lang="en-US" sz="950" dirty="0"/>
          </a:p>
          <a:p>
            <a:pPr algn="ctr" indent="0" marL="0">
              <a:buNone/>
            </a:pPr>
            <a:r>
              <a:rPr lang="en-US" sz="950" b="1" dirty="0">
                <a:solidFill>
                  <a:srgbClr val="1E2761"/>
                </a:solidFill>
                <a:latin typeface="Calibri" pitchFamily="34" charset="0"/>
                <a:ea typeface="Calibri" pitchFamily="34" charset="-122"/>
                <a:cs typeface="Calibri" pitchFamily="34" charset="-120"/>
              </a:rPr>
              <a:t>(TII, UAE)</a:t>
            </a:r>
            <a:endParaRPr lang="en-US" sz="950" dirty="0"/>
          </a:p>
        </p:txBody>
      </p:sp>
      <p:sp>
        <p:nvSpPr>
          <p:cNvPr id="23" name="Text 21"/>
          <p:cNvSpPr/>
          <p:nvPr/>
        </p:nvSpPr>
        <p:spPr>
          <a:xfrm>
            <a:off x="6263640" y="3931920"/>
            <a:ext cx="544068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Popular Closed-Source Models</a:t>
            </a:r>
            <a:endParaRPr lang="en-US" sz="1300" dirty="0"/>
          </a:p>
        </p:txBody>
      </p:sp>
      <p:sp>
        <p:nvSpPr>
          <p:cNvPr id="24" name="Shape 22"/>
          <p:cNvSpPr/>
          <p:nvPr/>
        </p:nvSpPr>
        <p:spPr>
          <a:xfrm>
            <a:off x="6263640" y="4297680"/>
            <a:ext cx="1691640" cy="1051560"/>
          </a:xfrm>
          <a:prstGeom prst="roundRect">
            <a:avLst>
              <a:gd name="adj" fmla="val 6957"/>
            </a:avLst>
          </a:prstGeom>
          <a:solidFill>
            <a:srgbClr val="141B45"/>
          </a:solidFill>
          <a:ln w="12700">
            <a:solidFill>
              <a:srgbClr val="141B45"/>
            </a:solidFill>
            <a:prstDash val="solid"/>
          </a:ln>
          <a:effectLst>
            <a:outerShdw sx="100000" sy="100000" kx="0" ky="0" algn="bl" rotWithShape="0" blurRad="76200" dist="25400" dir="5400000">
              <a:srgbClr val="9AA5B1">
                <a:alpha val="25000"/>
              </a:srgbClr>
            </a:outerShdw>
          </a:effectLst>
        </p:spPr>
      </p:sp>
      <p:sp>
        <p:nvSpPr>
          <p:cNvPr id="25" name="Text 23"/>
          <p:cNvSpPr/>
          <p:nvPr/>
        </p:nvSpPr>
        <p:spPr>
          <a:xfrm>
            <a:off x="6309360" y="4480560"/>
            <a:ext cx="1600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GPT-4</a:t>
            </a:r>
            <a:endParaRPr lang="en-US" sz="1300" dirty="0"/>
          </a:p>
        </p:txBody>
      </p:sp>
      <p:sp>
        <p:nvSpPr>
          <p:cNvPr id="26" name="Text 24"/>
          <p:cNvSpPr/>
          <p:nvPr/>
        </p:nvSpPr>
        <p:spPr>
          <a:xfrm>
            <a:off x="6309360" y="4892040"/>
            <a:ext cx="1600200" cy="320040"/>
          </a:xfrm>
          <a:prstGeom prst="rect">
            <a:avLst/>
          </a:prstGeom>
          <a:noFill/>
          <a:ln/>
        </p:spPr>
        <p:txBody>
          <a:bodyPr wrap="square" lIns="0" tIns="0" rIns="0" bIns="0" rtlCol="0" anchor="ctr"/>
          <a:lstStyle/>
          <a:p>
            <a:pPr algn="ctr" indent="0" marL="0">
              <a:buNone/>
            </a:pPr>
            <a:r>
              <a:rPr lang="en-US" sz="950" dirty="0">
                <a:solidFill>
                  <a:srgbClr val="3EC1D3"/>
                </a:solidFill>
                <a:latin typeface="Calibri" pitchFamily="34" charset="0"/>
                <a:ea typeface="Calibri" pitchFamily="34" charset="-122"/>
                <a:cs typeface="Calibri" pitchFamily="34" charset="-120"/>
              </a:rPr>
              <a:t>OpenAI</a:t>
            </a:r>
            <a:endParaRPr lang="en-US" sz="950" dirty="0"/>
          </a:p>
        </p:txBody>
      </p:sp>
      <p:sp>
        <p:nvSpPr>
          <p:cNvPr id="27" name="Shape 25"/>
          <p:cNvSpPr/>
          <p:nvPr/>
        </p:nvSpPr>
        <p:spPr>
          <a:xfrm>
            <a:off x="8138160" y="4297680"/>
            <a:ext cx="1691640" cy="1051560"/>
          </a:xfrm>
          <a:prstGeom prst="roundRect">
            <a:avLst>
              <a:gd name="adj" fmla="val 6957"/>
            </a:avLst>
          </a:prstGeom>
          <a:solidFill>
            <a:srgbClr val="141B45"/>
          </a:solidFill>
          <a:ln w="12700">
            <a:solidFill>
              <a:srgbClr val="141B45"/>
            </a:solidFill>
            <a:prstDash val="solid"/>
          </a:ln>
          <a:effectLst>
            <a:outerShdw sx="100000" sy="100000" kx="0" ky="0" algn="bl" rotWithShape="0" blurRad="76200" dist="25400" dir="5400000">
              <a:srgbClr val="9AA5B1">
                <a:alpha val="25000"/>
              </a:srgbClr>
            </a:outerShdw>
          </a:effectLst>
        </p:spPr>
      </p:sp>
      <p:sp>
        <p:nvSpPr>
          <p:cNvPr id="28" name="Text 26"/>
          <p:cNvSpPr/>
          <p:nvPr/>
        </p:nvSpPr>
        <p:spPr>
          <a:xfrm>
            <a:off x="8183880" y="4480560"/>
            <a:ext cx="1600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Claude</a:t>
            </a:r>
            <a:endParaRPr lang="en-US" sz="1300" dirty="0"/>
          </a:p>
        </p:txBody>
      </p:sp>
      <p:sp>
        <p:nvSpPr>
          <p:cNvPr id="29" name="Text 27"/>
          <p:cNvSpPr/>
          <p:nvPr/>
        </p:nvSpPr>
        <p:spPr>
          <a:xfrm>
            <a:off x="8183880" y="4892040"/>
            <a:ext cx="1600200" cy="320040"/>
          </a:xfrm>
          <a:prstGeom prst="rect">
            <a:avLst/>
          </a:prstGeom>
          <a:noFill/>
          <a:ln/>
        </p:spPr>
        <p:txBody>
          <a:bodyPr wrap="square" lIns="0" tIns="0" rIns="0" bIns="0" rtlCol="0" anchor="ctr"/>
          <a:lstStyle/>
          <a:p>
            <a:pPr algn="ctr" indent="0" marL="0">
              <a:buNone/>
            </a:pPr>
            <a:r>
              <a:rPr lang="en-US" sz="950" dirty="0">
                <a:solidFill>
                  <a:srgbClr val="3EC1D3"/>
                </a:solidFill>
                <a:latin typeface="Calibri" pitchFamily="34" charset="0"/>
                <a:ea typeface="Calibri" pitchFamily="34" charset="-122"/>
                <a:cs typeface="Calibri" pitchFamily="34" charset="-120"/>
              </a:rPr>
              <a:t>Anthropic</a:t>
            </a:r>
            <a:endParaRPr lang="en-US" sz="950" dirty="0"/>
          </a:p>
        </p:txBody>
      </p:sp>
      <p:sp>
        <p:nvSpPr>
          <p:cNvPr id="30" name="Shape 28"/>
          <p:cNvSpPr/>
          <p:nvPr/>
        </p:nvSpPr>
        <p:spPr>
          <a:xfrm>
            <a:off x="10012680" y="4297680"/>
            <a:ext cx="1691640" cy="1051560"/>
          </a:xfrm>
          <a:prstGeom prst="roundRect">
            <a:avLst>
              <a:gd name="adj" fmla="val 6957"/>
            </a:avLst>
          </a:prstGeom>
          <a:solidFill>
            <a:srgbClr val="141B45"/>
          </a:solidFill>
          <a:ln w="12700">
            <a:solidFill>
              <a:srgbClr val="141B45"/>
            </a:solidFill>
            <a:prstDash val="solid"/>
          </a:ln>
          <a:effectLst>
            <a:outerShdw sx="100000" sy="100000" kx="0" ky="0" algn="bl" rotWithShape="0" blurRad="76200" dist="25400" dir="5400000">
              <a:srgbClr val="9AA5B1">
                <a:alpha val="25000"/>
              </a:srgbClr>
            </a:outerShdw>
          </a:effectLst>
        </p:spPr>
      </p:sp>
      <p:sp>
        <p:nvSpPr>
          <p:cNvPr id="31" name="Text 29"/>
          <p:cNvSpPr/>
          <p:nvPr/>
        </p:nvSpPr>
        <p:spPr>
          <a:xfrm>
            <a:off x="10058400" y="4480560"/>
            <a:ext cx="1600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Gemini</a:t>
            </a:r>
            <a:endParaRPr lang="en-US" sz="1300" dirty="0"/>
          </a:p>
        </p:txBody>
      </p:sp>
      <p:sp>
        <p:nvSpPr>
          <p:cNvPr id="32" name="Text 30"/>
          <p:cNvSpPr/>
          <p:nvPr/>
        </p:nvSpPr>
        <p:spPr>
          <a:xfrm>
            <a:off x="10058400" y="4892040"/>
            <a:ext cx="1600200" cy="320040"/>
          </a:xfrm>
          <a:prstGeom prst="rect">
            <a:avLst/>
          </a:prstGeom>
          <a:noFill/>
          <a:ln/>
        </p:spPr>
        <p:txBody>
          <a:bodyPr wrap="square" lIns="0" tIns="0" rIns="0" bIns="0" rtlCol="0" anchor="ctr"/>
          <a:lstStyle/>
          <a:p>
            <a:pPr algn="ctr" indent="0" marL="0">
              <a:buNone/>
            </a:pPr>
            <a:r>
              <a:rPr lang="en-US" sz="950" dirty="0">
                <a:solidFill>
                  <a:srgbClr val="3EC1D3"/>
                </a:solidFill>
                <a:latin typeface="Calibri" pitchFamily="34" charset="0"/>
                <a:ea typeface="Calibri" pitchFamily="34" charset="-122"/>
                <a:cs typeface="Calibri" pitchFamily="34" charset="-120"/>
              </a:rPr>
              <a:t>Google DeepMind</a:t>
            </a:r>
            <a:endParaRPr lang="en-US" sz="950" dirty="0"/>
          </a:p>
        </p:txBody>
      </p:sp>
      <p:sp>
        <p:nvSpPr>
          <p:cNvPr id="33" name="Shape 31"/>
          <p:cNvSpPr/>
          <p:nvPr/>
        </p:nvSpPr>
        <p:spPr>
          <a:xfrm>
            <a:off x="457200" y="5532120"/>
            <a:ext cx="11247120" cy="868680"/>
          </a:xfrm>
          <a:prstGeom prst="roundRect">
            <a:avLst>
              <a:gd name="adj" fmla="val 8421"/>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34" name="Text 32"/>
          <p:cNvSpPr/>
          <p:nvPr/>
        </p:nvSpPr>
        <p:spPr>
          <a:xfrm>
            <a:off x="685800" y="5532120"/>
            <a:ext cx="10789920" cy="868680"/>
          </a:xfrm>
          <a:prstGeom prst="rect">
            <a:avLst/>
          </a:prstGeom>
          <a:noFill/>
          <a:ln/>
        </p:spPr>
        <p:txBody>
          <a:bodyPr wrap="square" rtlCol="0" anchor="ctr"/>
          <a:lstStyle/>
          <a:p>
            <a:pPr algn="l" indent="0" marL="0">
              <a:buNone/>
            </a:pPr>
            <a:r>
              <a:rPr lang="en-US" sz="1050" dirty="0">
                <a:solidFill>
                  <a:srgbClr val="1E2761"/>
                </a:solidFill>
                <a:latin typeface="Calibri" pitchFamily="34" charset="0"/>
                <a:ea typeface="Calibri" pitchFamily="34" charset="-122"/>
                <a:cs typeface="Calibri" pitchFamily="34" charset="-120"/>
              </a:rPr>
              <a:t>Analogy: Student A builds a chatbot with ChatGPT (closed) — polished, reliable, but can't change its behavior or run offline, and pays per API call. Student B uses LLaMA 3 (open) — more work, but can host it locally, tweak behavior, and train it on his own data. It becomes his chatbot.</a:t>
            </a:r>
            <a:endParaRPr lang="en-US" sz="1050" dirty="0"/>
          </a:p>
        </p:txBody>
      </p:sp>
      <p:sp>
        <p:nvSpPr>
          <p:cNvPr id="35" name="Text 33"/>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6" name="Text 34"/>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Open-Source LLMs in Detail</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Five widely used open models — and what each is best at</a:t>
            </a:r>
            <a:endParaRPr lang="en-US" sz="1400" dirty="0"/>
          </a:p>
        </p:txBody>
      </p:sp>
      <p:sp>
        <p:nvSpPr>
          <p:cNvPr id="4" name="Shape 2"/>
          <p:cNvSpPr/>
          <p:nvPr/>
        </p:nvSpPr>
        <p:spPr>
          <a:xfrm>
            <a:off x="457200" y="1417320"/>
            <a:ext cx="2148840" cy="48920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Shape 3"/>
          <p:cNvSpPr/>
          <p:nvPr/>
        </p:nvSpPr>
        <p:spPr>
          <a:xfrm>
            <a:off x="1257300" y="1645920"/>
            <a:ext cx="548640" cy="548640"/>
          </a:xfrm>
          <a:prstGeom prst="ellipse">
            <a:avLst/>
          </a:prstGeom>
          <a:solidFill>
            <a:srgbClr val="1E2761"/>
          </a:solidFill>
          <a:ln/>
        </p:spPr>
      </p:sp>
      <p:sp>
        <p:nvSpPr>
          <p:cNvPr id="6" name="Text 4"/>
          <p:cNvSpPr/>
          <p:nvPr/>
        </p:nvSpPr>
        <p:spPr>
          <a:xfrm>
            <a:off x="12573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7" name="Text 5"/>
          <p:cNvSpPr/>
          <p:nvPr/>
        </p:nvSpPr>
        <p:spPr>
          <a:xfrm>
            <a:off x="548640" y="2331720"/>
            <a:ext cx="1965960" cy="32004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Gemma</a:t>
            </a:r>
            <a:endParaRPr lang="en-US" sz="1400" dirty="0"/>
          </a:p>
        </p:txBody>
      </p:sp>
      <p:sp>
        <p:nvSpPr>
          <p:cNvPr id="8" name="Text 6"/>
          <p:cNvSpPr/>
          <p:nvPr/>
        </p:nvSpPr>
        <p:spPr>
          <a:xfrm>
            <a:off x="548640" y="2624328"/>
            <a:ext cx="1965960" cy="274320"/>
          </a:xfrm>
          <a:prstGeom prst="rect">
            <a:avLst/>
          </a:prstGeom>
          <a:noFill/>
          <a:ln/>
        </p:spPr>
        <p:txBody>
          <a:bodyPr wrap="square" rtlCol="0" anchor="ctr"/>
          <a:lstStyle/>
          <a:p>
            <a:pPr algn="ctr" indent="0" marL="0">
              <a:buNone/>
            </a:pPr>
            <a:r>
              <a:rPr lang="en-US" sz="950" i="1" dirty="0">
                <a:solidFill>
                  <a:srgbClr val="5A6B87"/>
                </a:solidFill>
                <a:latin typeface="Calibri" pitchFamily="34" charset="0"/>
                <a:ea typeface="Calibri" pitchFamily="34" charset="-122"/>
                <a:cs typeface="Calibri" pitchFamily="34" charset="-120"/>
              </a:rPr>
              <a:t>Google</a:t>
            </a:r>
            <a:endParaRPr lang="en-US" sz="950" dirty="0"/>
          </a:p>
        </p:txBody>
      </p:sp>
      <p:sp>
        <p:nvSpPr>
          <p:cNvPr id="9" name="Text 7"/>
          <p:cNvSpPr/>
          <p:nvPr/>
        </p:nvSpPr>
        <p:spPr>
          <a:xfrm>
            <a:off x="594360" y="2990088"/>
            <a:ext cx="1874520" cy="146304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2B &amp; 7B parameter versions, built on Gemini research. Runs on local machines.</a:t>
            </a:r>
            <a:endParaRPr lang="en-US" sz="950" dirty="0"/>
          </a:p>
        </p:txBody>
      </p:sp>
      <p:sp>
        <p:nvSpPr>
          <p:cNvPr id="10" name="Shape 8"/>
          <p:cNvSpPr/>
          <p:nvPr/>
        </p:nvSpPr>
        <p:spPr>
          <a:xfrm>
            <a:off x="640080" y="4572000"/>
            <a:ext cx="1783080" cy="0"/>
          </a:xfrm>
          <a:prstGeom prst="line">
            <a:avLst/>
          </a:prstGeom>
          <a:noFill/>
          <a:ln w="12700">
            <a:solidFill>
              <a:srgbClr val="CADCFC"/>
            </a:solidFill>
            <a:prstDash val="solid"/>
          </a:ln>
        </p:spPr>
      </p:sp>
      <p:sp>
        <p:nvSpPr>
          <p:cNvPr id="11" name="Text 9"/>
          <p:cNvSpPr/>
          <p:nvPr/>
        </p:nvSpPr>
        <p:spPr>
          <a:xfrm>
            <a:off x="594360" y="4663440"/>
            <a:ext cx="1874520" cy="228600"/>
          </a:xfrm>
          <a:prstGeom prst="rect">
            <a:avLst/>
          </a:prstGeom>
          <a:noFill/>
          <a:ln/>
        </p:spPr>
        <p:txBody>
          <a:bodyPr wrap="square" rtlCol="0" anchor="ctr"/>
          <a:lstStyle/>
          <a:p>
            <a:pPr indent="0" marL="0">
              <a:buNone/>
            </a:pPr>
            <a:r>
              <a:rPr lang="en-US" sz="900" b="1" dirty="0">
                <a:solidFill>
                  <a:srgbClr val="F2994A"/>
                </a:solidFill>
                <a:latin typeface="Calibri" pitchFamily="34" charset="0"/>
                <a:ea typeface="Calibri" pitchFamily="34" charset="-122"/>
                <a:cs typeface="Calibri" pitchFamily="34" charset="-120"/>
              </a:rPr>
              <a:t>Example:</a:t>
            </a:r>
            <a:endParaRPr lang="en-US" sz="900" dirty="0"/>
          </a:p>
        </p:txBody>
      </p:sp>
      <p:sp>
        <p:nvSpPr>
          <p:cNvPr id="12" name="Text 10"/>
          <p:cNvSpPr/>
          <p:nvPr/>
        </p:nvSpPr>
        <p:spPr>
          <a:xfrm>
            <a:off x="594360" y="4892040"/>
            <a:ext cx="1874520" cy="1280160"/>
          </a:xfrm>
          <a:prstGeom prst="rect">
            <a:avLst/>
          </a:prstGeom>
          <a:noFill/>
          <a:ln/>
        </p:spPr>
        <p:txBody>
          <a:bodyPr wrap="square" rtlCol="0" anchor="ctr"/>
          <a:lstStyle/>
          <a:p>
            <a:pPr indent="0" marL="0">
              <a:buNone/>
            </a:pPr>
            <a:r>
              <a:rPr lang="en-US" sz="900" i="1" dirty="0">
                <a:solidFill>
                  <a:srgbClr val="1E2761"/>
                </a:solidFill>
                <a:latin typeface="Calibri" pitchFamily="34" charset="0"/>
                <a:ea typeface="Calibri" pitchFamily="34" charset="-122"/>
                <a:cs typeface="Calibri" pitchFamily="34" charset="-120"/>
              </a:rPr>
              <a:t>A student builds an offline local study-assistant chatbot with Gemma 2B.</a:t>
            </a:r>
            <a:endParaRPr lang="en-US" sz="900" dirty="0"/>
          </a:p>
        </p:txBody>
      </p:sp>
      <p:sp>
        <p:nvSpPr>
          <p:cNvPr id="13" name="Shape 11"/>
          <p:cNvSpPr/>
          <p:nvPr/>
        </p:nvSpPr>
        <p:spPr>
          <a:xfrm>
            <a:off x="2743200" y="1417320"/>
            <a:ext cx="2148840" cy="48920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4" name="Shape 12"/>
          <p:cNvSpPr/>
          <p:nvPr/>
        </p:nvSpPr>
        <p:spPr>
          <a:xfrm>
            <a:off x="3543300" y="1645920"/>
            <a:ext cx="548640" cy="548640"/>
          </a:xfrm>
          <a:prstGeom prst="ellipse">
            <a:avLst/>
          </a:prstGeom>
          <a:solidFill>
            <a:srgbClr val="3EC1D3"/>
          </a:solidFill>
          <a:ln/>
        </p:spPr>
      </p:sp>
      <p:sp>
        <p:nvSpPr>
          <p:cNvPr id="15" name="Text 13"/>
          <p:cNvSpPr/>
          <p:nvPr/>
        </p:nvSpPr>
        <p:spPr>
          <a:xfrm>
            <a:off x="35433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a:t>
            </a:r>
            <a:endParaRPr lang="en-US" sz="2000" dirty="0"/>
          </a:p>
        </p:txBody>
      </p:sp>
      <p:sp>
        <p:nvSpPr>
          <p:cNvPr id="16" name="Text 14"/>
          <p:cNvSpPr/>
          <p:nvPr/>
        </p:nvSpPr>
        <p:spPr>
          <a:xfrm>
            <a:off x="2834640" y="2331720"/>
            <a:ext cx="1965960" cy="32004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LLaMA 3</a:t>
            </a:r>
            <a:endParaRPr lang="en-US" sz="1400" dirty="0"/>
          </a:p>
        </p:txBody>
      </p:sp>
      <p:sp>
        <p:nvSpPr>
          <p:cNvPr id="17" name="Text 15"/>
          <p:cNvSpPr/>
          <p:nvPr/>
        </p:nvSpPr>
        <p:spPr>
          <a:xfrm>
            <a:off x="2834640" y="2624328"/>
            <a:ext cx="1965960" cy="274320"/>
          </a:xfrm>
          <a:prstGeom prst="rect">
            <a:avLst/>
          </a:prstGeom>
          <a:noFill/>
          <a:ln/>
        </p:spPr>
        <p:txBody>
          <a:bodyPr wrap="square" rtlCol="0" anchor="ctr"/>
          <a:lstStyle/>
          <a:p>
            <a:pPr algn="ctr" indent="0" marL="0">
              <a:buNone/>
            </a:pPr>
            <a:r>
              <a:rPr lang="en-US" sz="950" i="1" dirty="0">
                <a:solidFill>
                  <a:srgbClr val="5A6B87"/>
                </a:solidFill>
                <a:latin typeface="Calibri" pitchFamily="34" charset="0"/>
                <a:ea typeface="Calibri" pitchFamily="34" charset="-122"/>
                <a:cs typeface="Calibri" pitchFamily="34" charset="-120"/>
              </a:rPr>
              <a:t>Meta (Facebook)</a:t>
            </a:r>
            <a:endParaRPr lang="en-US" sz="950" dirty="0"/>
          </a:p>
        </p:txBody>
      </p:sp>
      <p:sp>
        <p:nvSpPr>
          <p:cNvPr id="18" name="Text 16"/>
          <p:cNvSpPr/>
          <p:nvPr/>
        </p:nvSpPr>
        <p:spPr>
          <a:xfrm>
            <a:off x="2880360" y="2990088"/>
            <a:ext cx="1874520" cy="146304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8B &amp; 70B parameter versions. One of the most widely used open series in research and startups.</a:t>
            </a:r>
            <a:endParaRPr lang="en-US" sz="950" dirty="0"/>
          </a:p>
        </p:txBody>
      </p:sp>
      <p:sp>
        <p:nvSpPr>
          <p:cNvPr id="19" name="Shape 17"/>
          <p:cNvSpPr/>
          <p:nvPr/>
        </p:nvSpPr>
        <p:spPr>
          <a:xfrm>
            <a:off x="2926080" y="4572000"/>
            <a:ext cx="1783080" cy="0"/>
          </a:xfrm>
          <a:prstGeom prst="line">
            <a:avLst/>
          </a:prstGeom>
          <a:noFill/>
          <a:ln w="12700">
            <a:solidFill>
              <a:srgbClr val="CADCFC"/>
            </a:solidFill>
            <a:prstDash val="solid"/>
          </a:ln>
        </p:spPr>
      </p:sp>
      <p:sp>
        <p:nvSpPr>
          <p:cNvPr id="20" name="Text 18"/>
          <p:cNvSpPr/>
          <p:nvPr/>
        </p:nvSpPr>
        <p:spPr>
          <a:xfrm>
            <a:off x="2880360" y="4663440"/>
            <a:ext cx="1874520" cy="228600"/>
          </a:xfrm>
          <a:prstGeom prst="rect">
            <a:avLst/>
          </a:prstGeom>
          <a:noFill/>
          <a:ln/>
        </p:spPr>
        <p:txBody>
          <a:bodyPr wrap="square" rtlCol="0" anchor="ctr"/>
          <a:lstStyle/>
          <a:p>
            <a:pPr indent="0" marL="0">
              <a:buNone/>
            </a:pPr>
            <a:r>
              <a:rPr lang="en-US" sz="900" b="1" dirty="0">
                <a:solidFill>
                  <a:srgbClr val="F2994A"/>
                </a:solidFill>
                <a:latin typeface="Calibri" pitchFamily="34" charset="0"/>
                <a:ea typeface="Calibri" pitchFamily="34" charset="-122"/>
                <a:cs typeface="Calibri" pitchFamily="34" charset="-120"/>
              </a:rPr>
              <a:t>Example:</a:t>
            </a:r>
            <a:endParaRPr lang="en-US" sz="900" dirty="0"/>
          </a:p>
        </p:txBody>
      </p:sp>
      <p:sp>
        <p:nvSpPr>
          <p:cNvPr id="21" name="Text 19"/>
          <p:cNvSpPr/>
          <p:nvPr/>
        </p:nvSpPr>
        <p:spPr>
          <a:xfrm>
            <a:off x="2880360" y="4892040"/>
            <a:ext cx="1874520" cy="1280160"/>
          </a:xfrm>
          <a:prstGeom prst="rect">
            <a:avLst/>
          </a:prstGeom>
          <a:noFill/>
          <a:ln/>
        </p:spPr>
        <p:txBody>
          <a:bodyPr wrap="square" rtlCol="0" anchor="ctr"/>
          <a:lstStyle/>
          <a:p>
            <a:pPr indent="0" marL="0">
              <a:buNone/>
            </a:pPr>
            <a:r>
              <a:rPr lang="en-US" sz="900" i="1" dirty="0">
                <a:solidFill>
                  <a:srgbClr val="1E2761"/>
                </a:solidFill>
                <a:latin typeface="Calibri" pitchFamily="34" charset="0"/>
                <a:ea typeface="Calibri" pitchFamily="34" charset="-122"/>
                <a:cs typeface="Calibri" pitchFamily="34" charset="-120"/>
              </a:rPr>
              <a:t>A team fine-tunes LLaMA 3 into an AI teacher for rural schools using local textbooks.</a:t>
            </a:r>
            <a:endParaRPr lang="en-US" sz="900" dirty="0"/>
          </a:p>
        </p:txBody>
      </p:sp>
      <p:sp>
        <p:nvSpPr>
          <p:cNvPr id="22" name="Shape 20"/>
          <p:cNvSpPr/>
          <p:nvPr/>
        </p:nvSpPr>
        <p:spPr>
          <a:xfrm>
            <a:off x="5029200" y="1417320"/>
            <a:ext cx="2148840" cy="48920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3" name="Shape 21"/>
          <p:cNvSpPr/>
          <p:nvPr/>
        </p:nvSpPr>
        <p:spPr>
          <a:xfrm>
            <a:off x="5829300" y="1645920"/>
            <a:ext cx="548640" cy="548640"/>
          </a:xfrm>
          <a:prstGeom prst="ellipse">
            <a:avLst/>
          </a:prstGeom>
          <a:solidFill>
            <a:srgbClr val="F2994A"/>
          </a:solidFill>
          <a:ln/>
        </p:spPr>
      </p:sp>
      <p:sp>
        <p:nvSpPr>
          <p:cNvPr id="24" name="Text 22"/>
          <p:cNvSpPr/>
          <p:nvPr/>
        </p:nvSpPr>
        <p:spPr>
          <a:xfrm>
            <a:off x="58293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a:t>
            </a:r>
            <a:endParaRPr lang="en-US" sz="2000" dirty="0"/>
          </a:p>
        </p:txBody>
      </p:sp>
      <p:sp>
        <p:nvSpPr>
          <p:cNvPr id="25" name="Text 23"/>
          <p:cNvSpPr/>
          <p:nvPr/>
        </p:nvSpPr>
        <p:spPr>
          <a:xfrm>
            <a:off x="5120640" y="2331720"/>
            <a:ext cx="1965960" cy="32004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Qwen</a:t>
            </a:r>
            <a:endParaRPr lang="en-US" sz="1400" dirty="0"/>
          </a:p>
        </p:txBody>
      </p:sp>
      <p:sp>
        <p:nvSpPr>
          <p:cNvPr id="26" name="Text 24"/>
          <p:cNvSpPr/>
          <p:nvPr/>
        </p:nvSpPr>
        <p:spPr>
          <a:xfrm>
            <a:off x="5120640" y="2624328"/>
            <a:ext cx="1965960" cy="274320"/>
          </a:xfrm>
          <a:prstGeom prst="rect">
            <a:avLst/>
          </a:prstGeom>
          <a:noFill/>
          <a:ln/>
        </p:spPr>
        <p:txBody>
          <a:bodyPr wrap="square" rtlCol="0" anchor="ctr"/>
          <a:lstStyle/>
          <a:p>
            <a:pPr algn="ctr" indent="0" marL="0">
              <a:buNone/>
            </a:pPr>
            <a:r>
              <a:rPr lang="en-US" sz="950" i="1" dirty="0">
                <a:solidFill>
                  <a:srgbClr val="5A6B87"/>
                </a:solidFill>
                <a:latin typeface="Calibri" pitchFamily="34" charset="0"/>
                <a:ea typeface="Calibri" pitchFamily="34" charset="-122"/>
                <a:cs typeface="Calibri" pitchFamily="34" charset="-120"/>
              </a:rPr>
              <a:t>Alibaba Cloud</a:t>
            </a:r>
            <a:endParaRPr lang="en-US" sz="950" dirty="0"/>
          </a:p>
        </p:txBody>
      </p:sp>
      <p:sp>
        <p:nvSpPr>
          <p:cNvPr id="27" name="Text 25"/>
          <p:cNvSpPr/>
          <p:nvPr/>
        </p:nvSpPr>
        <p:spPr>
          <a:xfrm>
            <a:off x="5166360" y="2990088"/>
            <a:ext cx="1874520" cy="146304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Multilingual (English, Chinese &amp; more), optimized for enterprise-grade performance.</a:t>
            </a:r>
            <a:endParaRPr lang="en-US" sz="950" dirty="0"/>
          </a:p>
        </p:txBody>
      </p:sp>
      <p:sp>
        <p:nvSpPr>
          <p:cNvPr id="28" name="Shape 26"/>
          <p:cNvSpPr/>
          <p:nvPr/>
        </p:nvSpPr>
        <p:spPr>
          <a:xfrm>
            <a:off x="5212080" y="4572000"/>
            <a:ext cx="1783080" cy="0"/>
          </a:xfrm>
          <a:prstGeom prst="line">
            <a:avLst/>
          </a:prstGeom>
          <a:noFill/>
          <a:ln w="12700">
            <a:solidFill>
              <a:srgbClr val="CADCFC"/>
            </a:solidFill>
            <a:prstDash val="solid"/>
          </a:ln>
        </p:spPr>
      </p:sp>
      <p:sp>
        <p:nvSpPr>
          <p:cNvPr id="29" name="Text 27"/>
          <p:cNvSpPr/>
          <p:nvPr/>
        </p:nvSpPr>
        <p:spPr>
          <a:xfrm>
            <a:off x="5166360" y="4663440"/>
            <a:ext cx="1874520" cy="228600"/>
          </a:xfrm>
          <a:prstGeom prst="rect">
            <a:avLst/>
          </a:prstGeom>
          <a:noFill/>
          <a:ln/>
        </p:spPr>
        <p:txBody>
          <a:bodyPr wrap="square" rtlCol="0" anchor="ctr"/>
          <a:lstStyle/>
          <a:p>
            <a:pPr indent="0" marL="0">
              <a:buNone/>
            </a:pPr>
            <a:r>
              <a:rPr lang="en-US" sz="900" b="1" dirty="0">
                <a:solidFill>
                  <a:srgbClr val="F2994A"/>
                </a:solidFill>
                <a:latin typeface="Calibri" pitchFamily="34" charset="0"/>
                <a:ea typeface="Calibri" pitchFamily="34" charset="-122"/>
                <a:cs typeface="Calibri" pitchFamily="34" charset="-120"/>
              </a:rPr>
              <a:t>Example:</a:t>
            </a:r>
            <a:endParaRPr lang="en-US" sz="900" dirty="0"/>
          </a:p>
        </p:txBody>
      </p:sp>
      <p:sp>
        <p:nvSpPr>
          <p:cNvPr id="30" name="Text 28"/>
          <p:cNvSpPr/>
          <p:nvPr/>
        </p:nvSpPr>
        <p:spPr>
          <a:xfrm>
            <a:off x="5166360" y="4892040"/>
            <a:ext cx="1874520" cy="1280160"/>
          </a:xfrm>
          <a:prstGeom prst="rect">
            <a:avLst/>
          </a:prstGeom>
          <a:noFill/>
          <a:ln/>
        </p:spPr>
        <p:txBody>
          <a:bodyPr wrap="square" rtlCol="0" anchor="ctr"/>
          <a:lstStyle/>
          <a:p>
            <a:pPr indent="0" marL="0">
              <a:buNone/>
            </a:pPr>
            <a:r>
              <a:rPr lang="en-US" sz="900" i="1" dirty="0">
                <a:solidFill>
                  <a:srgbClr val="1E2761"/>
                </a:solidFill>
                <a:latin typeface="Calibri" pitchFamily="34" charset="0"/>
                <a:ea typeface="Calibri" pitchFamily="34" charset="-122"/>
                <a:cs typeface="Calibri" pitchFamily="34" charset="-120"/>
              </a:rPr>
              <a:t>An Indian startup builds a bilingual (English + Mandarin) customer support bot.</a:t>
            </a:r>
            <a:endParaRPr lang="en-US" sz="900" dirty="0"/>
          </a:p>
        </p:txBody>
      </p:sp>
      <p:sp>
        <p:nvSpPr>
          <p:cNvPr id="31" name="Shape 29"/>
          <p:cNvSpPr/>
          <p:nvPr/>
        </p:nvSpPr>
        <p:spPr>
          <a:xfrm>
            <a:off x="7315200" y="1417320"/>
            <a:ext cx="2148840" cy="48920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32" name="Shape 30"/>
          <p:cNvSpPr/>
          <p:nvPr/>
        </p:nvSpPr>
        <p:spPr>
          <a:xfrm>
            <a:off x="8115300" y="1645920"/>
            <a:ext cx="548640" cy="548640"/>
          </a:xfrm>
          <a:prstGeom prst="ellipse">
            <a:avLst/>
          </a:prstGeom>
          <a:solidFill>
            <a:srgbClr val="27AE60"/>
          </a:solidFill>
          <a:ln/>
        </p:spPr>
      </p:sp>
      <p:sp>
        <p:nvSpPr>
          <p:cNvPr id="33" name="Text 31"/>
          <p:cNvSpPr/>
          <p:nvPr/>
        </p:nvSpPr>
        <p:spPr>
          <a:xfrm>
            <a:off x="81153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34" name="Text 32"/>
          <p:cNvSpPr/>
          <p:nvPr/>
        </p:nvSpPr>
        <p:spPr>
          <a:xfrm>
            <a:off x="7406640" y="2331720"/>
            <a:ext cx="1965960" cy="32004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BLOOM</a:t>
            </a:r>
            <a:endParaRPr lang="en-US" sz="1400" dirty="0"/>
          </a:p>
        </p:txBody>
      </p:sp>
      <p:sp>
        <p:nvSpPr>
          <p:cNvPr id="35" name="Text 33"/>
          <p:cNvSpPr/>
          <p:nvPr/>
        </p:nvSpPr>
        <p:spPr>
          <a:xfrm>
            <a:off x="7406640" y="2624328"/>
            <a:ext cx="1965960" cy="274320"/>
          </a:xfrm>
          <a:prstGeom prst="rect">
            <a:avLst/>
          </a:prstGeom>
          <a:noFill/>
          <a:ln/>
        </p:spPr>
        <p:txBody>
          <a:bodyPr wrap="square" rtlCol="0" anchor="ctr"/>
          <a:lstStyle/>
          <a:p>
            <a:pPr algn="ctr" indent="0" marL="0">
              <a:buNone/>
            </a:pPr>
            <a:r>
              <a:rPr lang="en-US" sz="950" i="1" dirty="0">
                <a:solidFill>
                  <a:srgbClr val="5A6B87"/>
                </a:solidFill>
                <a:latin typeface="Calibri" pitchFamily="34" charset="0"/>
                <a:ea typeface="Calibri" pitchFamily="34" charset="-122"/>
                <a:cs typeface="Calibri" pitchFamily="34" charset="-120"/>
              </a:rPr>
              <a:t>BigScience (1000+ researchers)</a:t>
            </a:r>
            <a:endParaRPr lang="en-US" sz="950" dirty="0"/>
          </a:p>
        </p:txBody>
      </p:sp>
      <p:sp>
        <p:nvSpPr>
          <p:cNvPr id="36" name="Text 34"/>
          <p:cNvSpPr/>
          <p:nvPr/>
        </p:nvSpPr>
        <p:spPr>
          <a:xfrm>
            <a:off x="7452360" y="2990088"/>
            <a:ext cx="1874520" cy="146304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Supports 40+ languages — one of the most inclusive LLMs ever built.</a:t>
            </a:r>
            <a:endParaRPr lang="en-US" sz="950" dirty="0"/>
          </a:p>
        </p:txBody>
      </p:sp>
      <p:sp>
        <p:nvSpPr>
          <p:cNvPr id="37" name="Shape 35"/>
          <p:cNvSpPr/>
          <p:nvPr/>
        </p:nvSpPr>
        <p:spPr>
          <a:xfrm>
            <a:off x="7498080" y="4572000"/>
            <a:ext cx="1783080" cy="0"/>
          </a:xfrm>
          <a:prstGeom prst="line">
            <a:avLst/>
          </a:prstGeom>
          <a:noFill/>
          <a:ln w="12700">
            <a:solidFill>
              <a:srgbClr val="CADCFC"/>
            </a:solidFill>
            <a:prstDash val="solid"/>
          </a:ln>
        </p:spPr>
      </p:sp>
      <p:sp>
        <p:nvSpPr>
          <p:cNvPr id="38" name="Text 36"/>
          <p:cNvSpPr/>
          <p:nvPr/>
        </p:nvSpPr>
        <p:spPr>
          <a:xfrm>
            <a:off x="7452360" y="4663440"/>
            <a:ext cx="1874520" cy="228600"/>
          </a:xfrm>
          <a:prstGeom prst="rect">
            <a:avLst/>
          </a:prstGeom>
          <a:noFill/>
          <a:ln/>
        </p:spPr>
        <p:txBody>
          <a:bodyPr wrap="square" rtlCol="0" anchor="ctr"/>
          <a:lstStyle/>
          <a:p>
            <a:pPr indent="0" marL="0">
              <a:buNone/>
            </a:pPr>
            <a:r>
              <a:rPr lang="en-US" sz="900" b="1" dirty="0">
                <a:solidFill>
                  <a:srgbClr val="F2994A"/>
                </a:solidFill>
                <a:latin typeface="Calibri" pitchFamily="34" charset="0"/>
                <a:ea typeface="Calibri" pitchFamily="34" charset="-122"/>
                <a:cs typeface="Calibri" pitchFamily="34" charset="-120"/>
              </a:rPr>
              <a:t>Example:</a:t>
            </a:r>
            <a:endParaRPr lang="en-US" sz="900" dirty="0"/>
          </a:p>
        </p:txBody>
      </p:sp>
      <p:sp>
        <p:nvSpPr>
          <p:cNvPr id="39" name="Text 37"/>
          <p:cNvSpPr/>
          <p:nvPr/>
        </p:nvSpPr>
        <p:spPr>
          <a:xfrm>
            <a:off x="7452360" y="4892040"/>
            <a:ext cx="1874520" cy="1280160"/>
          </a:xfrm>
          <a:prstGeom prst="rect">
            <a:avLst/>
          </a:prstGeom>
          <a:noFill/>
          <a:ln/>
        </p:spPr>
        <p:txBody>
          <a:bodyPr wrap="square" rtlCol="0" anchor="ctr"/>
          <a:lstStyle/>
          <a:p>
            <a:pPr indent="0" marL="0">
              <a:buNone/>
            </a:pPr>
            <a:r>
              <a:rPr lang="en-US" sz="900" i="1" dirty="0">
                <a:solidFill>
                  <a:srgbClr val="1E2761"/>
                </a:solidFill>
                <a:latin typeface="Calibri" pitchFamily="34" charset="0"/>
                <a:ea typeface="Calibri" pitchFamily="34" charset="-122"/>
                <a:cs typeface="Calibri" pitchFamily="34" charset="-120"/>
              </a:rPr>
              <a:t>A researcher fine-tunes BLOOM to write news summaries in Swahili and Bengali.</a:t>
            </a:r>
            <a:endParaRPr lang="en-US" sz="900" dirty="0"/>
          </a:p>
        </p:txBody>
      </p:sp>
      <p:sp>
        <p:nvSpPr>
          <p:cNvPr id="40" name="Shape 38"/>
          <p:cNvSpPr/>
          <p:nvPr/>
        </p:nvSpPr>
        <p:spPr>
          <a:xfrm>
            <a:off x="9601200" y="1417320"/>
            <a:ext cx="2148840" cy="48920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41" name="Shape 39"/>
          <p:cNvSpPr/>
          <p:nvPr/>
        </p:nvSpPr>
        <p:spPr>
          <a:xfrm>
            <a:off x="10401300" y="1645920"/>
            <a:ext cx="548640" cy="548640"/>
          </a:xfrm>
          <a:prstGeom prst="ellipse">
            <a:avLst/>
          </a:prstGeom>
          <a:solidFill>
            <a:srgbClr val="141B45"/>
          </a:solidFill>
          <a:ln/>
        </p:spPr>
      </p:sp>
      <p:sp>
        <p:nvSpPr>
          <p:cNvPr id="42" name="Text 40"/>
          <p:cNvSpPr/>
          <p:nvPr/>
        </p:nvSpPr>
        <p:spPr>
          <a:xfrm>
            <a:off x="10401300" y="1645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a:t>
            </a:r>
            <a:endParaRPr lang="en-US" sz="2000" dirty="0"/>
          </a:p>
        </p:txBody>
      </p:sp>
      <p:sp>
        <p:nvSpPr>
          <p:cNvPr id="43" name="Text 41"/>
          <p:cNvSpPr/>
          <p:nvPr/>
        </p:nvSpPr>
        <p:spPr>
          <a:xfrm>
            <a:off x="9692640" y="2331720"/>
            <a:ext cx="1965960" cy="32004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Falcon</a:t>
            </a:r>
            <a:endParaRPr lang="en-US" sz="1400" dirty="0"/>
          </a:p>
        </p:txBody>
      </p:sp>
      <p:sp>
        <p:nvSpPr>
          <p:cNvPr id="44" name="Text 42"/>
          <p:cNvSpPr/>
          <p:nvPr/>
        </p:nvSpPr>
        <p:spPr>
          <a:xfrm>
            <a:off x="9692640" y="2624328"/>
            <a:ext cx="1965960" cy="274320"/>
          </a:xfrm>
          <a:prstGeom prst="rect">
            <a:avLst/>
          </a:prstGeom>
          <a:noFill/>
          <a:ln/>
        </p:spPr>
        <p:txBody>
          <a:bodyPr wrap="square" rtlCol="0" anchor="ctr"/>
          <a:lstStyle/>
          <a:p>
            <a:pPr algn="ctr" indent="0" marL="0">
              <a:buNone/>
            </a:pPr>
            <a:r>
              <a:rPr lang="en-US" sz="950" i="1" dirty="0">
                <a:solidFill>
                  <a:srgbClr val="5A6B87"/>
                </a:solidFill>
                <a:latin typeface="Calibri" pitchFamily="34" charset="0"/>
                <a:ea typeface="Calibri" pitchFamily="34" charset="-122"/>
                <a:cs typeface="Calibri" pitchFamily="34" charset="-120"/>
              </a:rPr>
              <a:t>Technology Innovation Institute, UAE</a:t>
            </a:r>
            <a:endParaRPr lang="en-US" sz="950" dirty="0"/>
          </a:p>
        </p:txBody>
      </p:sp>
      <p:sp>
        <p:nvSpPr>
          <p:cNvPr id="45" name="Text 43"/>
          <p:cNvSpPr/>
          <p:nvPr/>
        </p:nvSpPr>
        <p:spPr>
          <a:xfrm>
            <a:off x="9738360" y="2990088"/>
            <a:ext cx="1874520" cy="146304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40B+ parameters, trained on 1 trillion tokens — one of the largest public models at release.</a:t>
            </a:r>
            <a:endParaRPr lang="en-US" sz="950" dirty="0"/>
          </a:p>
        </p:txBody>
      </p:sp>
      <p:sp>
        <p:nvSpPr>
          <p:cNvPr id="46" name="Shape 44"/>
          <p:cNvSpPr/>
          <p:nvPr/>
        </p:nvSpPr>
        <p:spPr>
          <a:xfrm>
            <a:off x="9784080" y="4572000"/>
            <a:ext cx="1783080" cy="0"/>
          </a:xfrm>
          <a:prstGeom prst="line">
            <a:avLst/>
          </a:prstGeom>
          <a:noFill/>
          <a:ln w="12700">
            <a:solidFill>
              <a:srgbClr val="CADCFC"/>
            </a:solidFill>
            <a:prstDash val="solid"/>
          </a:ln>
        </p:spPr>
      </p:sp>
      <p:sp>
        <p:nvSpPr>
          <p:cNvPr id="47" name="Text 45"/>
          <p:cNvSpPr/>
          <p:nvPr/>
        </p:nvSpPr>
        <p:spPr>
          <a:xfrm>
            <a:off x="9738360" y="4663440"/>
            <a:ext cx="1874520" cy="228600"/>
          </a:xfrm>
          <a:prstGeom prst="rect">
            <a:avLst/>
          </a:prstGeom>
          <a:noFill/>
          <a:ln/>
        </p:spPr>
        <p:txBody>
          <a:bodyPr wrap="square" rtlCol="0" anchor="ctr"/>
          <a:lstStyle/>
          <a:p>
            <a:pPr indent="0" marL="0">
              <a:buNone/>
            </a:pPr>
            <a:r>
              <a:rPr lang="en-US" sz="900" b="1" dirty="0">
                <a:solidFill>
                  <a:srgbClr val="F2994A"/>
                </a:solidFill>
                <a:latin typeface="Calibri" pitchFamily="34" charset="0"/>
                <a:ea typeface="Calibri" pitchFamily="34" charset="-122"/>
                <a:cs typeface="Calibri" pitchFamily="34" charset="-120"/>
              </a:rPr>
              <a:t>Example:</a:t>
            </a:r>
            <a:endParaRPr lang="en-US" sz="900" dirty="0"/>
          </a:p>
        </p:txBody>
      </p:sp>
      <p:sp>
        <p:nvSpPr>
          <p:cNvPr id="48" name="Text 46"/>
          <p:cNvSpPr/>
          <p:nvPr/>
        </p:nvSpPr>
        <p:spPr>
          <a:xfrm>
            <a:off x="9738360" y="4892040"/>
            <a:ext cx="1874520" cy="1280160"/>
          </a:xfrm>
          <a:prstGeom prst="rect">
            <a:avLst/>
          </a:prstGeom>
          <a:noFill/>
          <a:ln/>
        </p:spPr>
        <p:txBody>
          <a:bodyPr wrap="square" rtlCol="0" anchor="ctr"/>
          <a:lstStyle/>
          <a:p>
            <a:pPr indent="0" marL="0">
              <a:buNone/>
            </a:pPr>
            <a:r>
              <a:rPr lang="en-US" sz="900" i="1" dirty="0">
                <a:solidFill>
                  <a:srgbClr val="1E2761"/>
                </a:solidFill>
                <a:latin typeface="Calibri" pitchFamily="34" charset="0"/>
                <a:ea typeface="Calibri" pitchFamily="34" charset="-122"/>
                <a:cs typeface="Calibri" pitchFamily="34" charset="-120"/>
              </a:rPr>
              <a:t>A developer builds a private, offline legal-contract review assistant.</a:t>
            </a:r>
            <a:endParaRPr lang="en-US" sz="900" dirty="0"/>
          </a:p>
        </p:txBody>
      </p:sp>
      <p:sp>
        <p:nvSpPr>
          <p:cNvPr id="49" name="Text 47"/>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50" name="Text 48"/>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Closed-Source LLMs &amp; Multimodal AI</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Polished, powerful platforms — accessed through an app or API, not downloaded</a:t>
            </a:r>
            <a:endParaRPr lang="en-US" sz="1400" dirty="0"/>
          </a:p>
        </p:txBody>
      </p:sp>
      <p:sp>
        <p:nvSpPr>
          <p:cNvPr id="4" name="Shape 2"/>
          <p:cNvSpPr/>
          <p:nvPr/>
        </p:nvSpPr>
        <p:spPr>
          <a:xfrm>
            <a:off x="457200" y="1417320"/>
            <a:ext cx="3611880" cy="2011680"/>
          </a:xfrm>
          <a:prstGeom prst="roundRect">
            <a:avLst>
              <a:gd name="adj" fmla="val 3636"/>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685800" y="1581912"/>
            <a:ext cx="31546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GPT-4</a:t>
            </a:r>
            <a:endParaRPr lang="en-US" sz="1600" dirty="0"/>
          </a:p>
        </p:txBody>
      </p:sp>
      <p:sp>
        <p:nvSpPr>
          <p:cNvPr id="6" name="Text 4"/>
          <p:cNvSpPr/>
          <p:nvPr/>
        </p:nvSpPr>
        <p:spPr>
          <a:xfrm>
            <a:off x="685800" y="1947672"/>
            <a:ext cx="3154680" cy="274320"/>
          </a:xfrm>
          <a:prstGeom prst="rect">
            <a:avLst/>
          </a:prstGeom>
          <a:noFill/>
          <a:ln/>
        </p:spPr>
        <p:txBody>
          <a:bodyPr wrap="square" rtlCol="0" anchor="ctr"/>
          <a:lstStyle/>
          <a:p>
            <a:pPr indent="0" marL="0">
              <a:buNone/>
            </a:pPr>
            <a:r>
              <a:rPr lang="en-US" sz="1050" i="1" dirty="0">
                <a:solidFill>
                  <a:srgbClr val="3EC1D3"/>
                </a:solidFill>
                <a:latin typeface="Calibri" pitchFamily="34" charset="0"/>
                <a:ea typeface="Calibri" pitchFamily="34" charset="-122"/>
                <a:cs typeface="Calibri" pitchFamily="34" charset="-120"/>
              </a:rPr>
              <a:t>OpenAI</a:t>
            </a:r>
            <a:endParaRPr lang="en-US" sz="1050" dirty="0"/>
          </a:p>
        </p:txBody>
      </p:sp>
      <p:sp>
        <p:nvSpPr>
          <p:cNvPr id="7" name="Text 5"/>
          <p:cNvSpPr/>
          <p:nvPr/>
        </p:nvSpPr>
        <p:spPr>
          <a:xfrm>
            <a:off x="685800" y="2286000"/>
            <a:ext cx="3154680" cy="10515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Powers ChatGPT, one of the most advanced LLMs. Used for writing, coding, brainstorming — via the ChatGPT app or API.</a:t>
            </a:r>
            <a:endParaRPr lang="en-US" sz="1000" dirty="0"/>
          </a:p>
        </p:txBody>
      </p:sp>
      <p:sp>
        <p:nvSpPr>
          <p:cNvPr id="8" name="Shape 6"/>
          <p:cNvSpPr/>
          <p:nvPr/>
        </p:nvSpPr>
        <p:spPr>
          <a:xfrm>
            <a:off x="4270248" y="1417320"/>
            <a:ext cx="3611880" cy="2011680"/>
          </a:xfrm>
          <a:prstGeom prst="roundRect">
            <a:avLst>
              <a:gd name="adj" fmla="val 3636"/>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9" name="Text 7"/>
          <p:cNvSpPr/>
          <p:nvPr/>
        </p:nvSpPr>
        <p:spPr>
          <a:xfrm>
            <a:off x="4498848" y="1581912"/>
            <a:ext cx="31546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Claude</a:t>
            </a:r>
            <a:endParaRPr lang="en-US" sz="1600" dirty="0"/>
          </a:p>
        </p:txBody>
      </p:sp>
      <p:sp>
        <p:nvSpPr>
          <p:cNvPr id="10" name="Text 8"/>
          <p:cNvSpPr/>
          <p:nvPr/>
        </p:nvSpPr>
        <p:spPr>
          <a:xfrm>
            <a:off x="4498848" y="1947672"/>
            <a:ext cx="3154680" cy="274320"/>
          </a:xfrm>
          <a:prstGeom prst="rect">
            <a:avLst/>
          </a:prstGeom>
          <a:noFill/>
          <a:ln/>
        </p:spPr>
        <p:txBody>
          <a:bodyPr wrap="square" rtlCol="0" anchor="ctr"/>
          <a:lstStyle/>
          <a:p>
            <a:pPr indent="0" marL="0">
              <a:buNone/>
            </a:pPr>
            <a:r>
              <a:rPr lang="en-US" sz="1050" i="1" dirty="0">
                <a:solidFill>
                  <a:srgbClr val="3EC1D3"/>
                </a:solidFill>
                <a:latin typeface="Calibri" pitchFamily="34" charset="0"/>
                <a:ea typeface="Calibri" pitchFamily="34" charset="-122"/>
                <a:cs typeface="Calibri" pitchFamily="34" charset="-120"/>
              </a:rPr>
              <a:t>Anthropic</a:t>
            </a:r>
            <a:endParaRPr lang="en-US" sz="1050" dirty="0"/>
          </a:p>
        </p:txBody>
      </p:sp>
      <p:sp>
        <p:nvSpPr>
          <p:cNvPr id="11" name="Text 9"/>
          <p:cNvSpPr/>
          <p:nvPr/>
        </p:nvSpPr>
        <p:spPr>
          <a:xfrm>
            <a:off x="4498848" y="2286000"/>
            <a:ext cx="3154680" cy="10515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Known for being ethical and safe. Used in business tools &amp; productivity apps — model weights &amp; code stay private.</a:t>
            </a:r>
            <a:endParaRPr lang="en-US" sz="1000" dirty="0"/>
          </a:p>
        </p:txBody>
      </p:sp>
      <p:sp>
        <p:nvSpPr>
          <p:cNvPr id="12" name="Shape 10"/>
          <p:cNvSpPr/>
          <p:nvPr/>
        </p:nvSpPr>
        <p:spPr>
          <a:xfrm>
            <a:off x="8083296" y="1417320"/>
            <a:ext cx="3611880" cy="2011680"/>
          </a:xfrm>
          <a:prstGeom prst="roundRect">
            <a:avLst>
              <a:gd name="adj" fmla="val 3636"/>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3" name="Text 11"/>
          <p:cNvSpPr/>
          <p:nvPr/>
        </p:nvSpPr>
        <p:spPr>
          <a:xfrm>
            <a:off x="8311896" y="1581912"/>
            <a:ext cx="31546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Gemini</a:t>
            </a:r>
            <a:endParaRPr lang="en-US" sz="1600" dirty="0"/>
          </a:p>
        </p:txBody>
      </p:sp>
      <p:sp>
        <p:nvSpPr>
          <p:cNvPr id="14" name="Text 12"/>
          <p:cNvSpPr/>
          <p:nvPr/>
        </p:nvSpPr>
        <p:spPr>
          <a:xfrm>
            <a:off x="8311896" y="1947672"/>
            <a:ext cx="3154680" cy="274320"/>
          </a:xfrm>
          <a:prstGeom prst="rect">
            <a:avLst/>
          </a:prstGeom>
          <a:noFill/>
          <a:ln/>
        </p:spPr>
        <p:txBody>
          <a:bodyPr wrap="square" rtlCol="0" anchor="ctr"/>
          <a:lstStyle/>
          <a:p>
            <a:pPr indent="0" marL="0">
              <a:buNone/>
            </a:pPr>
            <a:r>
              <a:rPr lang="en-US" sz="1050" i="1" dirty="0">
                <a:solidFill>
                  <a:srgbClr val="3EC1D3"/>
                </a:solidFill>
                <a:latin typeface="Calibri" pitchFamily="34" charset="0"/>
                <a:ea typeface="Calibri" pitchFamily="34" charset="-122"/>
                <a:cs typeface="Calibri" pitchFamily="34" charset="-120"/>
              </a:rPr>
              <a:t>Google DeepMind</a:t>
            </a:r>
            <a:endParaRPr lang="en-US" sz="1050" dirty="0"/>
          </a:p>
        </p:txBody>
      </p:sp>
      <p:sp>
        <p:nvSpPr>
          <p:cNvPr id="15" name="Text 13"/>
          <p:cNvSpPr/>
          <p:nvPr/>
        </p:nvSpPr>
        <p:spPr>
          <a:xfrm>
            <a:off x="8311896" y="2286000"/>
            <a:ext cx="3154680" cy="10515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Integrated with Google Search &amp; Workspace. Multimodal — but usable only inside Google's ecosystem.</a:t>
            </a:r>
            <a:endParaRPr lang="en-US" sz="1000" dirty="0"/>
          </a:p>
        </p:txBody>
      </p:sp>
      <p:sp>
        <p:nvSpPr>
          <p:cNvPr id="16" name="Shape 14"/>
          <p:cNvSpPr/>
          <p:nvPr/>
        </p:nvSpPr>
        <p:spPr>
          <a:xfrm>
            <a:off x="457200" y="3657600"/>
            <a:ext cx="11247120" cy="2697480"/>
          </a:xfrm>
          <a:prstGeom prst="roundRect">
            <a:avLst>
              <a:gd name="adj" fmla="val 2712"/>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7" name="Text 15"/>
          <p:cNvSpPr/>
          <p:nvPr/>
        </p:nvSpPr>
        <p:spPr>
          <a:xfrm>
            <a:off x="685800" y="3794760"/>
            <a:ext cx="73152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 is Multimodal AI?</a:t>
            </a:r>
            <a:endParaRPr lang="en-US" sz="1500" dirty="0"/>
          </a:p>
        </p:txBody>
      </p:sp>
      <p:sp>
        <p:nvSpPr>
          <p:cNvPr id="18" name="Text 16"/>
          <p:cNvSpPr/>
          <p:nvPr/>
        </p:nvSpPr>
        <p:spPr>
          <a:xfrm>
            <a:off x="685800" y="4206240"/>
            <a:ext cx="6949440" cy="100584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An AI that can see, hear, read, and understand all at once — just like a human. It processes a mix of inputs (images, documents, audio, video) and gives context-aware, intelligent responses, instead of relying only on typed text.</a:t>
            </a:r>
            <a:endParaRPr lang="en-US" sz="1150" dirty="0"/>
          </a:p>
        </p:txBody>
      </p:sp>
      <p:sp>
        <p:nvSpPr>
          <p:cNvPr id="19" name="Text 17"/>
          <p:cNvSpPr/>
          <p:nvPr/>
        </p:nvSpPr>
        <p:spPr>
          <a:xfrm>
            <a:off x="685800" y="5257800"/>
            <a:ext cx="6949440" cy="548640"/>
          </a:xfrm>
          <a:prstGeom prst="rect">
            <a:avLst/>
          </a:prstGeom>
          <a:noFill/>
          <a:ln/>
        </p:spPr>
        <p:txBody>
          <a:bodyPr wrap="square" rtlCol="0" anchor="ctr"/>
          <a:lstStyle/>
          <a:p>
            <a:pPr indent="0" marL="0">
              <a:buNone/>
            </a:pPr>
            <a:r>
              <a:rPr lang="en-US" sz="1100" b="1" i="1" dirty="0">
                <a:solidFill>
                  <a:srgbClr val="1E2761"/>
                </a:solidFill>
                <a:latin typeface="Calibri" pitchFamily="34" charset="0"/>
                <a:ea typeface="Calibri" pitchFamily="34" charset="-122"/>
                <a:cs typeface="Calibri" pitchFamily="34" charset="-120"/>
              </a:rPr>
              <a:t>"One AI brain that speaks every language of information — visual, verbal, written, or spoken."</a:t>
            </a:r>
            <a:endParaRPr lang="en-US" sz="1100" dirty="0"/>
          </a:p>
        </p:txBody>
      </p:sp>
      <p:sp>
        <p:nvSpPr>
          <p:cNvPr id="20" name="Shape 18"/>
          <p:cNvSpPr/>
          <p:nvPr/>
        </p:nvSpPr>
        <p:spPr>
          <a:xfrm>
            <a:off x="7863840" y="3977640"/>
            <a:ext cx="3566160" cy="2148840"/>
          </a:xfrm>
          <a:prstGeom prst="roundRect">
            <a:avLst>
              <a:gd name="adj" fmla="val 3404"/>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1" name="Text 19"/>
          <p:cNvSpPr/>
          <p:nvPr/>
        </p:nvSpPr>
        <p:spPr>
          <a:xfrm>
            <a:off x="8046720" y="4069080"/>
            <a:ext cx="3200400" cy="274320"/>
          </a:xfrm>
          <a:prstGeom prst="rect">
            <a:avLst/>
          </a:prstGeom>
          <a:noFill/>
          <a:ln/>
        </p:spPr>
        <p:txBody>
          <a:bodyPr wrap="square" rtlCol="0" anchor="ctr"/>
          <a:lstStyle/>
          <a:p>
            <a:pPr indent="0" marL="0">
              <a:buNone/>
            </a:pPr>
            <a:r>
              <a:rPr lang="en-US" sz="1100" b="1" dirty="0">
                <a:solidFill>
                  <a:srgbClr val="F2994A"/>
                </a:solidFill>
                <a:latin typeface="Calibri" pitchFamily="34" charset="0"/>
                <a:ea typeface="Calibri" pitchFamily="34" charset="-122"/>
                <a:cs typeface="Calibri" pitchFamily="34" charset="-120"/>
              </a:rPr>
              <a:t>Example workflow</a:t>
            </a:r>
            <a:endParaRPr lang="en-US" sz="1100" dirty="0"/>
          </a:p>
        </p:txBody>
      </p:sp>
      <p:sp>
        <p:nvSpPr>
          <p:cNvPr id="22" name="Text 20"/>
          <p:cNvSpPr/>
          <p:nvPr/>
        </p:nvSpPr>
        <p:spPr>
          <a:xfrm>
            <a:off x="8046720" y="4370832"/>
            <a:ext cx="3200400" cy="77724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You take a photo of a diagram, upload PDF notes, and ask out loud: "Explain this diagram and summarize my notes."</a:t>
            </a:r>
            <a:endParaRPr lang="en-US" sz="950" dirty="0"/>
          </a:p>
        </p:txBody>
      </p:sp>
      <p:sp>
        <p:nvSpPr>
          <p:cNvPr id="23" name="Text 21"/>
          <p:cNvSpPr/>
          <p:nvPr/>
        </p:nvSpPr>
        <p:spPr>
          <a:xfrm>
            <a:off x="8046720" y="5138928"/>
            <a:ext cx="3200400" cy="868680"/>
          </a:xfrm>
          <a:prstGeom prst="rect">
            <a:avLst/>
          </a:prstGeom>
          <a:noFill/>
          <a:ln/>
        </p:spPr>
        <p:txBody>
          <a:bodyPr wrap="square" rtlCol="0" anchor="ctr"/>
          <a:lstStyle/>
          <a:p>
            <a:pPr indent="0" marL="0">
              <a:buNone/>
            </a:pPr>
            <a:r>
              <a:rPr lang="en-US" sz="950" i="1" dirty="0">
                <a:solidFill>
                  <a:srgbClr val="1E2761"/>
                </a:solidFill>
                <a:latin typeface="Calibri" pitchFamily="34" charset="0"/>
                <a:ea typeface="Calibri" pitchFamily="34" charset="-122"/>
                <a:cs typeface="Calibri" pitchFamily="34" charset="-120"/>
              </a:rPr>
              <a:t>→ GPT-4o / Gemini: reads the image, reads the PDF, understands your voice, and replies with a ready slide summary.</a:t>
            </a:r>
            <a:endParaRPr lang="en-US" sz="950" dirty="0"/>
          </a:p>
        </p:txBody>
      </p:sp>
      <p:sp>
        <p:nvSpPr>
          <p:cNvPr id="24" name="Text 22"/>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25" name="Text 23"/>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Open Source vs Closed Source — Head to Head</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Four metrics that matter when choosing a platform</a:t>
            </a:r>
            <a:endParaRPr lang="en-US" sz="1400" dirty="0"/>
          </a:p>
        </p:txBody>
      </p:sp>
      <p:sp>
        <p:nvSpPr>
          <p:cNvPr id="4" name="Shape 2"/>
          <p:cNvSpPr/>
          <p:nvPr/>
        </p:nvSpPr>
        <p:spPr>
          <a:xfrm>
            <a:off x="457200" y="1325880"/>
            <a:ext cx="2743200" cy="457200"/>
          </a:xfrm>
          <a:prstGeom prst="roundRect">
            <a:avLst>
              <a:gd name="adj" fmla="val 16000"/>
            </a:avLst>
          </a:prstGeom>
          <a:solidFill>
            <a:srgbClr val="141B45"/>
          </a:solidFill>
          <a:ln w="12700">
            <a:solidFill>
              <a:srgbClr val="CADCFC"/>
            </a:solidFill>
            <a:prstDash val="solid"/>
          </a:ln>
        </p:spPr>
      </p:sp>
      <p:sp>
        <p:nvSpPr>
          <p:cNvPr id="5" name="Text 3"/>
          <p:cNvSpPr/>
          <p:nvPr/>
        </p:nvSpPr>
        <p:spPr>
          <a:xfrm>
            <a:off x="457200" y="1325880"/>
            <a:ext cx="2743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6" name="Shape 4"/>
          <p:cNvSpPr/>
          <p:nvPr/>
        </p:nvSpPr>
        <p:spPr>
          <a:xfrm>
            <a:off x="3246120" y="1325880"/>
            <a:ext cx="4160520" cy="457200"/>
          </a:xfrm>
          <a:prstGeom prst="roundRect">
            <a:avLst>
              <a:gd name="adj" fmla="val 16000"/>
            </a:avLst>
          </a:prstGeom>
          <a:solidFill>
            <a:srgbClr val="3EC1D3"/>
          </a:solidFill>
          <a:ln w="12700">
            <a:solidFill>
              <a:srgbClr val="CADCFC"/>
            </a:solidFill>
            <a:prstDash val="solid"/>
          </a:ln>
        </p:spPr>
      </p:sp>
      <p:sp>
        <p:nvSpPr>
          <p:cNvPr id="7" name="Text 5"/>
          <p:cNvSpPr/>
          <p:nvPr/>
        </p:nvSpPr>
        <p:spPr>
          <a:xfrm>
            <a:off x="3246120" y="1325880"/>
            <a:ext cx="41605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Open-Source</a:t>
            </a:r>
            <a:endParaRPr lang="en-US" sz="1200" dirty="0"/>
          </a:p>
        </p:txBody>
      </p:sp>
      <p:sp>
        <p:nvSpPr>
          <p:cNvPr id="8" name="Shape 6"/>
          <p:cNvSpPr/>
          <p:nvPr/>
        </p:nvSpPr>
        <p:spPr>
          <a:xfrm>
            <a:off x="7452360" y="1325880"/>
            <a:ext cx="4251960" cy="457200"/>
          </a:xfrm>
          <a:prstGeom prst="roundRect">
            <a:avLst>
              <a:gd name="adj" fmla="val 16000"/>
            </a:avLst>
          </a:prstGeom>
          <a:solidFill>
            <a:srgbClr val="1E2761"/>
          </a:solidFill>
          <a:ln w="12700">
            <a:solidFill>
              <a:srgbClr val="CADCFC"/>
            </a:solidFill>
            <a:prstDash val="solid"/>
          </a:ln>
        </p:spPr>
      </p:sp>
      <p:sp>
        <p:nvSpPr>
          <p:cNvPr id="9" name="Text 7"/>
          <p:cNvSpPr/>
          <p:nvPr/>
        </p:nvSpPr>
        <p:spPr>
          <a:xfrm>
            <a:off x="7452360" y="1325880"/>
            <a:ext cx="42519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Closed-Source</a:t>
            </a:r>
            <a:endParaRPr lang="en-US" sz="1200" dirty="0"/>
          </a:p>
        </p:txBody>
      </p:sp>
      <p:sp>
        <p:nvSpPr>
          <p:cNvPr id="10" name="Shape 8"/>
          <p:cNvSpPr/>
          <p:nvPr/>
        </p:nvSpPr>
        <p:spPr>
          <a:xfrm>
            <a:off x="457200" y="1828800"/>
            <a:ext cx="2743200" cy="987552"/>
          </a:xfrm>
          <a:prstGeom prst="roundRect">
            <a:avLst>
              <a:gd name="adj" fmla="val 7407"/>
            </a:avLst>
          </a:prstGeom>
          <a:solidFill>
            <a:srgbClr val="FFFFFF"/>
          </a:solidFill>
          <a:ln w="12700">
            <a:solidFill>
              <a:srgbClr val="CADCFC"/>
            </a:solidFill>
            <a:prstDash val="solid"/>
          </a:ln>
        </p:spPr>
      </p:sp>
      <p:sp>
        <p:nvSpPr>
          <p:cNvPr id="11" name="Text 9"/>
          <p:cNvSpPr/>
          <p:nvPr/>
        </p:nvSpPr>
        <p:spPr>
          <a:xfrm>
            <a:off x="548640" y="1828800"/>
            <a:ext cx="2560320" cy="987552"/>
          </a:xfrm>
          <a:prstGeom prst="rect">
            <a:avLst/>
          </a:prstGeom>
          <a:noFill/>
          <a:ln/>
        </p:spPr>
        <p:txBody>
          <a:bodyPr wrap="square"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Performance</a:t>
            </a:r>
            <a:endParaRPr lang="en-US" sz="1200" dirty="0"/>
          </a:p>
        </p:txBody>
      </p:sp>
      <p:sp>
        <p:nvSpPr>
          <p:cNvPr id="12" name="Shape 10"/>
          <p:cNvSpPr/>
          <p:nvPr/>
        </p:nvSpPr>
        <p:spPr>
          <a:xfrm>
            <a:off x="3246120" y="1828800"/>
            <a:ext cx="4160520" cy="987552"/>
          </a:xfrm>
          <a:prstGeom prst="roundRect">
            <a:avLst>
              <a:gd name="adj" fmla="val 7407"/>
            </a:avLst>
          </a:prstGeom>
          <a:solidFill>
            <a:srgbClr val="FFFFFF"/>
          </a:solidFill>
          <a:ln w="12700">
            <a:solidFill>
              <a:srgbClr val="CADCFC"/>
            </a:solidFill>
            <a:prstDash val="solid"/>
          </a:ln>
        </p:spPr>
      </p:sp>
      <p:sp>
        <p:nvSpPr>
          <p:cNvPr id="13" name="Text 11"/>
          <p:cNvSpPr/>
          <p:nvPr/>
        </p:nvSpPr>
        <p:spPr>
          <a:xfrm>
            <a:off x="3383280" y="1828800"/>
            <a:ext cx="388620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Catching up fast (LLaMA 3, Falcon, Gemma); may need fine-tuning to match closed-source quality. No server — runs locally or on paid cloud.</a:t>
            </a:r>
            <a:endParaRPr lang="en-US" sz="950" dirty="0"/>
          </a:p>
        </p:txBody>
      </p:sp>
      <p:sp>
        <p:nvSpPr>
          <p:cNvPr id="14" name="Shape 12"/>
          <p:cNvSpPr/>
          <p:nvPr/>
        </p:nvSpPr>
        <p:spPr>
          <a:xfrm>
            <a:off x="7452360" y="1828800"/>
            <a:ext cx="4251960" cy="987552"/>
          </a:xfrm>
          <a:prstGeom prst="roundRect">
            <a:avLst>
              <a:gd name="adj" fmla="val 7407"/>
            </a:avLst>
          </a:prstGeom>
          <a:solidFill>
            <a:srgbClr val="FFFFFF"/>
          </a:solidFill>
          <a:ln w="12700">
            <a:solidFill>
              <a:srgbClr val="CADCFC"/>
            </a:solidFill>
            <a:prstDash val="solid"/>
          </a:ln>
        </p:spPr>
      </p:sp>
      <p:sp>
        <p:nvSpPr>
          <p:cNvPr id="15" name="Text 13"/>
          <p:cNvSpPr/>
          <p:nvPr/>
        </p:nvSpPr>
        <p:spPr>
          <a:xfrm>
            <a:off x="7589520" y="1828800"/>
            <a:ext cx="397764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Usually leads in raw capability — multimodal, serverful (cloud infra = low latency, high availability).</a:t>
            </a:r>
            <a:endParaRPr lang="en-US" sz="950" dirty="0"/>
          </a:p>
        </p:txBody>
      </p:sp>
      <p:sp>
        <p:nvSpPr>
          <p:cNvPr id="16" name="Shape 14"/>
          <p:cNvSpPr/>
          <p:nvPr/>
        </p:nvSpPr>
        <p:spPr>
          <a:xfrm>
            <a:off x="457200" y="2862072"/>
            <a:ext cx="2743200" cy="987552"/>
          </a:xfrm>
          <a:prstGeom prst="roundRect">
            <a:avLst>
              <a:gd name="adj" fmla="val 7407"/>
            </a:avLst>
          </a:prstGeom>
          <a:solidFill>
            <a:srgbClr val="F4F6FB"/>
          </a:solidFill>
          <a:ln w="12700">
            <a:solidFill>
              <a:srgbClr val="CADCFC"/>
            </a:solidFill>
            <a:prstDash val="solid"/>
          </a:ln>
        </p:spPr>
      </p:sp>
      <p:sp>
        <p:nvSpPr>
          <p:cNvPr id="17" name="Text 15"/>
          <p:cNvSpPr/>
          <p:nvPr/>
        </p:nvSpPr>
        <p:spPr>
          <a:xfrm>
            <a:off x="548640" y="2862072"/>
            <a:ext cx="2560320" cy="987552"/>
          </a:xfrm>
          <a:prstGeom prst="rect">
            <a:avLst/>
          </a:prstGeom>
          <a:noFill/>
          <a:ln/>
        </p:spPr>
        <p:txBody>
          <a:bodyPr wrap="square"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Accessibility</a:t>
            </a:r>
            <a:endParaRPr lang="en-US" sz="1200" dirty="0"/>
          </a:p>
        </p:txBody>
      </p:sp>
      <p:sp>
        <p:nvSpPr>
          <p:cNvPr id="18" name="Shape 16"/>
          <p:cNvSpPr/>
          <p:nvPr/>
        </p:nvSpPr>
        <p:spPr>
          <a:xfrm>
            <a:off x="3246120" y="2862072"/>
            <a:ext cx="4160520" cy="987552"/>
          </a:xfrm>
          <a:prstGeom prst="roundRect">
            <a:avLst>
              <a:gd name="adj" fmla="val 7407"/>
            </a:avLst>
          </a:prstGeom>
          <a:solidFill>
            <a:srgbClr val="F4F6FB"/>
          </a:solidFill>
          <a:ln w="12700">
            <a:solidFill>
              <a:srgbClr val="CADCFC"/>
            </a:solidFill>
            <a:prstDash val="solid"/>
          </a:ln>
        </p:spPr>
      </p:sp>
      <p:sp>
        <p:nvSpPr>
          <p:cNvPr id="19" name="Text 17"/>
          <p:cNvSpPr/>
          <p:nvPr/>
        </p:nvSpPr>
        <p:spPr>
          <a:xfrm>
            <a:off x="3383280" y="2862072"/>
            <a:ext cx="388620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Free to download &amp; run — even offline. Great for remote colleges, hackathons, sensitive use cases.</a:t>
            </a:r>
            <a:endParaRPr lang="en-US" sz="950" dirty="0"/>
          </a:p>
        </p:txBody>
      </p:sp>
      <p:sp>
        <p:nvSpPr>
          <p:cNvPr id="20" name="Shape 18"/>
          <p:cNvSpPr/>
          <p:nvPr/>
        </p:nvSpPr>
        <p:spPr>
          <a:xfrm>
            <a:off x="7452360" y="2862072"/>
            <a:ext cx="4251960" cy="987552"/>
          </a:xfrm>
          <a:prstGeom prst="roundRect">
            <a:avLst>
              <a:gd name="adj" fmla="val 7407"/>
            </a:avLst>
          </a:prstGeom>
          <a:solidFill>
            <a:srgbClr val="F4F6FB"/>
          </a:solidFill>
          <a:ln w="12700">
            <a:solidFill>
              <a:srgbClr val="CADCFC"/>
            </a:solidFill>
            <a:prstDash val="solid"/>
          </a:ln>
        </p:spPr>
      </p:sp>
      <p:sp>
        <p:nvSpPr>
          <p:cNvPr id="21" name="Text 19"/>
          <p:cNvSpPr/>
          <p:nvPr/>
        </p:nvSpPr>
        <p:spPr>
          <a:xfrm>
            <a:off x="7589520" y="2862072"/>
            <a:ext cx="397764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Needs internet, API keys, rate limits — mostly paid usage, dependent on the company's pricing &amp; uptime.</a:t>
            </a:r>
            <a:endParaRPr lang="en-US" sz="950" dirty="0"/>
          </a:p>
        </p:txBody>
      </p:sp>
      <p:sp>
        <p:nvSpPr>
          <p:cNvPr id="22" name="Shape 20"/>
          <p:cNvSpPr/>
          <p:nvPr/>
        </p:nvSpPr>
        <p:spPr>
          <a:xfrm>
            <a:off x="457200" y="3895344"/>
            <a:ext cx="2743200" cy="987552"/>
          </a:xfrm>
          <a:prstGeom prst="roundRect">
            <a:avLst>
              <a:gd name="adj" fmla="val 7407"/>
            </a:avLst>
          </a:prstGeom>
          <a:solidFill>
            <a:srgbClr val="FFFFFF"/>
          </a:solidFill>
          <a:ln w="12700">
            <a:solidFill>
              <a:srgbClr val="CADCFC"/>
            </a:solidFill>
            <a:prstDash val="solid"/>
          </a:ln>
        </p:spPr>
      </p:sp>
      <p:sp>
        <p:nvSpPr>
          <p:cNvPr id="23" name="Text 21"/>
          <p:cNvSpPr/>
          <p:nvPr/>
        </p:nvSpPr>
        <p:spPr>
          <a:xfrm>
            <a:off x="548640" y="3895344"/>
            <a:ext cx="2560320" cy="987552"/>
          </a:xfrm>
          <a:prstGeom prst="rect">
            <a:avLst/>
          </a:prstGeom>
          <a:noFill/>
          <a:ln/>
        </p:spPr>
        <p:txBody>
          <a:bodyPr wrap="square"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Customization</a:t>
            </a:r>
            <a:endParaRPr lang="en-US" sz="1200" dirty="0"/>
          </a:p>
        </p:txBody>
      </p:sp>
      <p:sp>
        <p:nvSpPr>
          <p:cNvPr id="24" name="Shape 22"/>
          <p:cNvSpPr/>
          <p:nvPr/>
        </p:nvSpPr>
        <p:spPr>
          <a:xfrm>
            <a:off x="3246120" y="3895344"/>
            <a:ext cx="4160520" cy="987552"/>
          </a:xfrm>
          <a:prstGeom prst="roundRect">
            <a:avLst>
              <a:gd name="adj" fmla="val 7407"/>
            </a:avLst>
          </a:prstGeom>
          <a:solidFill>
            <a:srgbClr val="FFFFFF"/>
          </a:solidFill>
          <a:ln w="12700">
            <a:solidFill>
              <a:srgbClr val="CADCFC"/>
            </a:solidFill>
            <a:prstDash val="solid"/>
          </a:ln>
        </p:spPr>
      </p:sp>
      <p:sp>
        <p:nvSpPr>
          <p:cNvPr id="25" name="Text 23"/>
          <p:cNvSpPr/>
          <p:nvPr/>
        </p:nvSpPr>
        <p:spPr>
          <a:xfrm>
            <a:off x="3383280" y="3895344"/>
            <a:ext cx="388620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Total flexibility — retrain, fine-tune on your data, modify architecture, integrate anywhere.</a:t>
            </a:r>
            <a:endParaRPr lang="en-US" sz="950" dirty="0"/>
          </a:p>
        </p:txBody>
      </p:sp>
      <p:sp>
        <p:nvSpPr>
          <p:cNvPr id="26" name="Shape 24"/>
          <p:cNvSpPr/>
          <p:nvPr/>
        </p:nvSpPr>
        <p:spPr>
          <a:xfrm>
            <a:off x="7452360" y="3895344"/>
            <a:ext cx="4251960" cy="987552"/>
          </a:xfrm>
          <a:prstGeom prst="roundRect">
            <a:avLst>
              <a:gd name="adj" fmla="val 7407"/>
            </a:avLst>
          </a:prstGeom>
          <a:solidFill>
            <a:srgbClr val="FFFFFF"/>
          </a:solidFill>
          <a:ln w="12700">
            <a:solidFill>
              <a:srgbClr val="CADCFC"/>
            </a:solidFill>
            <a:prstDash val="solid"/>
          </a:ln>
        </p:spPr>
      </p:sp>
      <p:sp>
        <p:nvSpPr>
          <p:cNvPr id="27" name="Text 25"/>
          <p:cNvSpPr/>
          <p:nvPr/>
        </p:nvSpPr>
        <p:spPr>
          <a:xfrm>
            <a:off x="7589520" y="3895344"/>
            <a:ext cx="397764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Limited to prompt engineering or API-based fine-tuning (if allowed) — can't touch inner model behavior.</a:t>
            </a:r>
            <a:endParaRPr lang="en-US" sz="950" dirty="0"/>
          </a:p>
        </p:txBody>
      </p:sp>
      <p:sp>
        <p:nvSpPr>
          <p:cNvPr id="28" name="Shape 26"/>
          <p:cNvSpPr/>
          <p:nvPr/>
        </p:nvSpPr>
        <p:spPr>
          <a:xfrm>
            <a:off x="457200" y="4928616"/>
            <a:ext cx="2743200" cy="987552"/>
          </a:xfrm>
          <a:prstGeom prst="roundRect">
            <a:avLst>
              <a:gd name="adj" fmla="val 7407"/>
            </a:avLst>
          </a:prstGeom>
          <a:solidFill>
            <a:srgbClr val="F4F6FB"/>
          </a:solidFill>
          <a:ln w="12700">
            <a:solidFill>
              <a:srgbClr val="CADCFC"/>
            </a:solidFill>
            <a:prstDash val="solid"/>
          </a:ln>
        </p:spPr>
      </p:sp>
      <p:sp>
        <p:nvSpPr>
          <p:cNvPr id="29" name="Text 27"/>
          <p:cNvSpPr/>
          <p:nvPr/>
        </p:nvSpPr>
        <p:spPr>
          <a:xfrm>
            <a:off x="548640" y="4928616"/>
            <a:ext cx="2560320" cy="987552"/>
          </a:xfrm>
          <a:prstGeom prst="rect">
            <a:avLst/>
          </a:prstGeom>
          <a:noFill/>
          <a:ln/>
        </p:spPr>
        <p:txBody>
          <a:bodyPr wrap="square"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Community Support</a:t>
            </a:r>
            <a:endParaRPr lang="en-US" sz="1200" dirty="0"/>
          </a:p>
        </p:txBody>
      </p:sp>
      <p:sp>
        <p:nvSpPr>
          <p:cNvPr id="30" name="Shape 28"/>
          <p:cNvSpPr/>
          <p:nvPr/>
        </p:nvSpPr>
        <p:spPr>
          <a:xfrm>
            <a:off x="3246120" y="4928616"/>
            <a:ext cx="4160520" cy="987552"/>
          </a:xfrm>
          <a:prstGeom prst="roundRect">
            <a:avLst>
              <a:gd name="adj" fmla="val 7407"/>
            </a:avLst>
          </a:prstGeom>
          <a:solidFill>
            <a:srgbClr val="F4F6FB"/>
          </a:solidFill>
          <a:ln w="12700">
            <a:solidFill>
              <a:srgbClr val="CADCFC"/>
            </a:solidFill>
            <a:prstDash val="solid"/>
          </a:ln>
        </p:spPr>
      </p:sp>
      <p:sp>
        <p:nvSpPr>
          <p:cNvPr id="31" name="Text 29"/>
          <p:cNvSpPr/>
          <p:nvPr/>
        </p:nvSpPr>
        <p:spPr>
          <a:xfrm>
            <a:off x="3383280" y="4928616"/>
            <a:ext cx="388620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Huge communities on GitHub, Hugging Face, Discord — thousands share code, fixes, and updates.</a:t>
            </a:r>
            <a:endParaRPr lang="en-US" sz="950" dirty="0"/>
          </a:p>
        </p:txBody>
      </p:sp>
      <p:sp>
        <p:nvSpPr>
          <p:cNvPr id="32" name="Shape 30"/>
          <p:cNvSpPr/>
          <p:nvPr/>
        </p:nvSpPr>
        <p:spPr>
          <a:xfrm>
            <a:off x="7452360" y="4928616"/>
            <a:ext cx="4251960" cy="987552"/>
          </a:xfrm>
          <a:prstGeom prst="roundRect">
            <a:avLst>
              <a:gd name="adj" fmla="val 7407"/>
            </a:avLst>
          </a:prstGeom>
          <a:solidFill>
            <a:srgbClr val="F4F6FB"/>
          </a:solidFill>
          <a:ln w="12700">
            <a:solidFill>
              <a:srgbClr val="CADCFC"/>
            </a:solidFill>
            <a:prstDash val="solid"/>
          </a:ln>
        </p:spPr>
      </p:sp>
      <p:sp>
        <p:nvSpPr>
          <p:cNvPr id="33" name="Text 31"/>
          <p:cNvSpPr/>
          <p:nvPr/>
        </p:nvSpPr>
        <p:spPr>
          <a:xfrm>
            <a:off x="7589520" y="4928616"/>
            <a:ext cx="3977640" cy="98755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Strong official docs &amp; forums, but limited to what the company shares — can't dig into or fix the model.</a:t>
            </a:r>
            <a:endParaRPr lang="en-US" sz="950" dirty="0"/>
          </a:p>
        </p:txBody>
      </p:sp>
      <p:sp>
        <p:nvSpPr>
          <p:cNvPr id="34" name="Text 32"/>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5" name="Text 33"/>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Billion-Parameter Models</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What does '7B' or '175B' actually mean?</a:t>
            </a:r>
            <a:endParaRPr lang="en-US" sz="1400" dirty="0"/>
          </a:p>
        </p:txBody>
      </p:sp>
      <p:sp>
        <p:nvSpPr>
          <p:cNvPr id="4" name="Shape 2"/>
          <p:cNvSpPr/>
          <p:nvPr/>
        </p:nvSpPr>
        <p:spPr>
          <a:xfrm>
            <a:off x="457200" y="1417320"/>
            <a:ext cx="5120640" cy="2377440"/>
          </a:xfrm>
          <a:prstGeom prst="roundRect">
            <a:avLst>
              <a:gd name="adj" fmla="val 3077"/>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685800" y="1554480"/>
            <a:ext cx="46634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 is a Parameter?</a:t>
            </a:r>
            <a:endParaRPr lang="en-US" sz="1500" dirty="0"/>
          </a:p>
        </p:txBody>
      </p:sp>
      <p:sp>
        <p:nvSpPr>
          <p:cNvPr id="6" name="Text 4"/>
          <p:cNvSpPr/>
          <p:nvPr/>
        </p:nvSpPr>
        <p:spPr>
          <a:xfrm>
            <a:off x="685800" y="1965960"/>
            <a:ext cx="4663440" cy="64008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A learned weight inside a machine learning model — like a setting adjusted during training to help the model predict better.</a:t>
            </a:r>
            <a:endParaRPr lang="en-US" sz="1150" dirty="0"/>
          </a:p>
        </p:txBody>
      </p:sp>
      <p:sp>
        <p:nvSpPr>
          <p:cNvPr id="7" name="Text 5"/>
          <p:cNvSpPr/>
          <p:nvPr/>
        </p:nvSpPr>
        <p:spPr>
          <a:xfrm>
            <a:off x="685800" y="2606040"/>
            <a:ext cx="4663440" cy="109728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Think of a parameter as a memory slot: the more you have, the more the model can "remember" patterns, relationships between words, facts, and reasoning steps — just like billions of neurons in a human brain.</a:t>
            </a:r>
            <a:endParaRPr lang="en-US" sz="1100" dirty="0"/>
          </a:p>
        </p:txBody>
      </p:sp>
      <p:sp>
        <p:nvSpPr>
          <p:cNvPr id="8" name="Shape 6"/>
          <p:cNvSpPr/>
          <p:nvPr/>
        </p:nvSpPr>
        <p:spPr>
          <a:xfrm>
            <a:off x="5806440" y="1417320"/>
            <a:ext cx="5897880" cy="2377440"/>
          </a:xfrm>
          <a:prstGeom prst="roundRect">
            <a:avLst>
              <a:gd name="adj" fmla="val 3077"/>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9" name="Text 7"/>
          <p:cNvSpPr/>
          <p:nvPr/>
        </p:nvSpPr>
        <p:spPr>
          <a:xfrm>
            <a:off x="6035040" y="1554480"/>
            <a:ext cx="54864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How Are Parameters Formed?</a:t>
            </a:r>
            <a:endParaRPr lang="en-US" sz="1500" dirty="0"/>
          </a:p>
        </p:txBody>
      </p:sp>
      <p:sp>
        <p:nvSpPr>
          <p:cNvPr id="10" name="Shape 8"/>
          <p:cNvSpPr/>
          <p:nvPr/>
        </p:nvSpPr>
        <p:spPr>
          <a:xfrm>
            <a:off x="6035040" y="2011680"/>
            <a:ext cx="292608" cy="292608"/>
          </a:xfrm>
          <a:prstGeom prst="ellipse">
            <a:avLst/>
          </a:prstGeom>
          <a:solidFill>
            <a:srgbClr val="F2994A"/>
          </a:solidFill>
          <a:ln/>
        </p:spPr>
      </p:sp>
      <p:sp>
        <p:nvSpPr>
          <p:cNvPr id="11" name="Text 9"/>
          <p:cNvSpPr/>
          <p:nvPr/>
        </p:nvSpPr>
        <p:spPr>
          <a:xfrm>
            <a:off x="6035040" y="20116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6446520" y="1938528"/>
            <a:ext cx="5120640" cy="50292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Model has layers, layers have neurons</a:t>
            </a:r>
            <a:endParaRPr lang="en-US" sz="1050" dirty="0"/>
          </a:p>
        </p:txBody>
      </p:sp>
      <p:sp>
        <p:nvSpPr>
          <p:cNvPr id="13" name="Shape 11"/>
          <p:cNvSpPr/>
          <p:nvPr/>
        </p:nvSpPr>
        <p:spPr>
          <a:xfrm>
            <a:off x="6035040" y="2578608"/>
            <a:ext cx="292608" cy="292608"/>
          </a:xfrm>
          <a:prstGeom prst="ellipse">
            <a:avLst/>
          </a:prstGeom>
          <a:solidFill>
            <a:srgbClr val="F2994A"/>
          </a:solidFill>
          <a:ln/>
        </p:spPr>
      </p:sp>
      <p:sp>
        <p:nvSpPr>
          <p:cNvPr id="14" name="Text 12"/>
          <p:cNvSpPr/>
          <p:nvPr/>
        </p:nvSpPr>
        <p:spPr>
          <a:xfrm>
            <a:off x="6035040" y="2578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446520" y="2505456"/>
            <a:ext cx="5120640" cy="50292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Each neuron has weights &amp; biases = parameters</a:t>
            </a:r>
            <a:endParaRPr lang="en-US" sz="1050" dirty="0"/>
          </a:p>
        </p:txBody>
      </p:sp>
      <p:sp>
        <p:nvSpPr>
          <p:cNvPr id="16" name="Shape 14"/>
          <p:cNvSpPr/>
          <p:nvPr/>
        </p:nvSpPr>
        <p:spPr>
          <a:xfrm>
            <a:off x="6035040" y="3145536"/>
            <a:ext cx="292608" cy="292608"/>
          </a:xfrm>
          <a:prstGeom prst="ellipse">
            <a:avLst/>
          </a:prstGeom>
          <a:solidFill>
            <a:srgbClr val="F2994A"/>
          </a:solidFill>
          <a:ln/>
        </p:spPr>
      </p:sp>
      <p:sp>
        <p:nvSpPr>
          <p:cNvPr id="17" name="Text 15"/>
          <p:cNvSpPr/>
          <p:nvPr/>
        </p:nvSpPr>
        <p:spPr>
          <a:xfrm>
            <a:off x="6035040" y="31455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6446520" y="3072384"/>
            <a:ext cx="5120640" cy="50292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Training adjusts these via backpropagation &amp; gradient descent, based on error on training examples</a:t>
            </a:r>
            <a:endParaRPr lang="en-US" sz="1050" dirty="0"/>
          </a:p>
        </p:txBody>
      </p:sp>
      <p:sp>
        <p:nvSpPr>
          <p:cNvPr id="19" name="Text 17"/>
          <p:cNvSpPr/>
          <p:nvPr/>
        </p:nvSpPr>
        <p:spPr>
          <a:xfrm>
            <a:off x="457200" y="3977640"/>
            <a:ext cx="112471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Parameter Scale — More Params = More Capacity, Complexity &amp; Hardware Needs</a:t>
            </a:r>
            <a:endParaRPr lang="en-US" sz="1300" dirty="0"/>
          </a:p>
        </p:txBody>
      </p:sp>
      <p:sp>
        <p:nvSpPr>
          <p:cNvPr id="20" name="Shape 18"/>
          <p:cNvSpPr/>
          <p:nvPr/>
        </p:nvSpPr>
        <p:spPr>
          <a:xfrm>
            <a:off x="640080" y="6152344"/>
            <a:ext cx="1280160" cy="19856"/>
          </a:xfrm>
          <a:prstGeom prst="roundRect">
            <a:avLst>
              <a:gd name="adj" fmla="val 184206"/>
            </a:avLst>
          </a:prstGeom>
          <a:solidFill>
            <a:srgbClr val="CADCFC"/>
          </a:solidFill>
          <a:ln/>
        </p:spPr>
      </p:sp>
      <p:sp>
        <p:nvSpPr>
          <p:cNvPr id="21" name="Text 19"/>
          <p:cNvSpPr/>
          <p:nvPr/>
        </p:nvSpPr>
        <p:spPr>
          <a:xfrm>
            <a:off x="640080" y="5859736"/>
            <a:ext cx="1280160" cy="27432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2B</a:t>
            </a:r>
            <a:endParaRPr lang="en-US" sz="1100" dirty="0"/>
          </a:p>
        </p:txBody>
      </p:sp>
      <p:sp>
        <p:nvSpPr>
          <p:cNvPr id="22" name="Text 20"/>
          <p:cNvSpPr/>
          <p:nvPr/>
        </p:nvSpPr>
        <p:spPr>
          <a:xfrm>
            <a:off x="502920" y="6245352"/>
            <a:ext cx="155448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Gemma</a:t>
            </a:r>
            <a:endParaRPr lang="en-US" sz="1050" dirty="0"/>
          </a:p>
        </p:txBody>
      </p:sp>
      <p:sp>
        <p:nvSpPr>
          <p:cNvPr id="23" name="Shape 21"/>
          <p:cNvSpPr/>
          <p:nvPr/>
        </p:nvSpPr>
        <p:spPr>
          <a:xfrm>
            <a:off x="2971800" y="6092778"/>
            <a:ext cx="1280160" cy="79422"/>
          </a:xfrm>
          <a:prstGeom prst="roundRect">
            <a:avLst>
              <a:gd name="adj" fmla="val 46053"/>
            </a:avLst>
          </a:prstGeom>
          <a:solidFill>
            <a:srgbClr val="3EC1D3"/>
          </a:solidFill>
          <a:ln/>
        </p:spPr>
      </p:sp>
      <p:sp>
        <p:nvSpPr>
          <p:cNvPr id="24" name="Text 22"/>
          <p:cNvSpPr/>
          <p:nvPr/>
        </p:nvSpPr>
        <p:spPr>
          <a:xfrm>
            <a:off x="2971800" y="5800170"/>
            <a:ext cx="1280160" cy="27432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8B</a:t>
            </a:r>
            <a:endParaRPr lang="en-US" sz="1100" dirty="0"/>
          </a:p>
        </p:txBody>
      </p:sp>
      <p:sp>
        <p:nvSpPr>
          <p:cNvPr id="25" name="Text 23"/>
          <p:cNvSpPr/>
          <p:nvPr/>
        </p:nvSpPr>
        <p:spPr>
          <a:xfrm>
            <a:off x="2834640" y="6245352"/>
            <a:ext cx="155448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LLaMA 3</a:t>
            </a:r>
            <a:endParaRPr lang="en-US" sz="1050" dirty="0"/>
          </a:p>
        </p:txBody>
      </p:sp>
      <p:sp>
        <p:nvSpPr>
          <p:cNvPr id="26" name="Shape 24"/>
          <p:cNvSpPr/>
          <p:nvPr/>
        </p:nvSpPr>
        <p:spPr>
          <a:xfrm>
            <a:off x="5303520" y="5775089"/>
            <a:ext cx="1280160" cy="397111"/>
          </a:xfrm>
          <a:prstGeom prst="roundRect">
            <a:avLst>
              <a:gd name="adj" fmla="val 9211"/>
            </a:avLst>
          </a:prstGeom>
          <a:solidFill>
            <a:srgbClr val="F2994A"/>
          </a:solidFill>
          <a:ln/>
        </p:spPr>
      </p:sp>
      <p:sp>
        <p:nvSpPr>
          <p:cNvPr id="27" name="Text 25"/>
          <p:cNvSpPr/>
          <p:nvPr/>
        </p:nvSpPr>
        <p:spPr>
          <a:xfrm>
            <a:off x="5303520" y="5482481"/>
            <a:ext cx="1280160" cy="27432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40B</a:t>
            </a:r>
            <a:endParaRPr lang="en-US" sz="1100" dirty="0"/>
          </a:p>
        </p:txBody>
      </p:sp>
      <p:sp>
        <p:nvSpPr>
          <p:cNvPr id="28" name="Text 26"/>
          <p:cNvSpPr/>
          <p:nvPr/>
        </p:nvSpPr>
        <p:spPr>
          <a:xfrm>
            <a:off x="5166360" y="6245352"/>
            <a:ext cx="155448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Falcon</a:t>
            </a:r>
            <a:endParaRPr lang="en-US" sz="1050" dirty="0"/>
          </a:p>
        </p:txBody>
      </p:sp>
      <p:sp>
        <p:nvSpPr>
          <p:cNvPr id="29" name="Shape 27"/>
          <p:cNvSpPr/>
          <p:nvPr/>
        </p:nvSpPr>
        <p:spPr>
          <a:xfrm>
            <a:off x="7635240" y="5457400"/>
            <a:ext cx="1280160" cy="714800"/>
          </a:xfrm>
          <a:prstGeom prst="roundRect">
            <a:avLst>
              <a:gd name="adj" fmla="val 5117"/>
            </a:avLst>
          </a:prstGeom>
          <a:solidFill>
            <a:srgbClr val="8E7CC3"/>
          </a:solidFill>
          <a:ln/>
        </p:spPr>
      </p:sp>
      <p:sp>
        <p:nvSpPr>
          <p:cNvPr id="30" name="Text 28"/>
          <p:cNvSpPr/>
          <p:nvPr/>
        </p:nvSpPr>
        <p:spPr>
          <a:xfrm>
            <a:off x="7635240" y="5164792"/>
            <a:ext cx="1280160" cy="27432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72B</a:t>
            </a:r>
            <a:endParaRPr lang="en-US" sz="1100" dirty="0"/>
          </a:p>
        </p:txBody>
      </p:sp>
      <p:sp>
        <p:nvSpPr>
          <p:cNvPr id="31" name="Text 29"/>
          <p:cNvSpPr/>
          <p:nvPr/>
        </p:nvSpPr>
        <p:spPr>
          <a:xfrm>
            <a:off x="7498080" y="6245352"/>
            <a:ext cx="155448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Qwen</a:t>
            </a:r>
            <a:endParaRPr lang="en-US" sz="1050" dirty="0"/>
          </a:p>
        </p:txBody>
      </p:sp>
      <p:sp>
        <p:nvSpPr>
          <p:cNvPr id="32" name="Shape 30"/>
          <p:cNvSpPr/>
          <p:nvPr/>
        </p:nvSpPr>
        <p:spPr>
          <a:xfrm>
            <a:off x="9966960" y="4434840"/>
            <a:ext cx="1280160" cy="1737360"/>
          </a:xfrm>
          <a:prstGeom prst="roundRect">
            <a:avLst>
              <a:gd name="adj" fmla="val 2857"/>
            </a:avLst>
          </a:prstGeom>
          <a:solidFill>
            <a:srgbClr val="1E2761"/>
          </a:solidFill>
          <a:ln/>
        </p:spPr>
      </p:sp>
      <p:sp>
        <p:nvSpPr>
          <p:cNvPr id="33" name="Text 31"/>
          <p:cNvSpPr/>
          <p:nvPr/>
        </p:nvSpPr>
        <p:spPr>
          <a:xfrm>
            <a:off x="9966960" y="4142232"/>
            <a:ext cx="1280160" cy="27432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175B</a:t>
            </a:r>
            <a:endParaRPr lang="en-US" sz="1100" dirty="0"/>
          </a:p>
        </p:txBody>
      </p:sp>
      <p:sp>
        <p:nvSpPr>
          <p:cNvPr id="34" name="Text 32"/>
          <p:cNvSpPr/>
          <p:nvPr/>
        </p:nvSpPr>
        <p:spPr>
          <a:xfrm>
            <a:off x="9829800" y="6245352"/>
            <a:ext cx="155448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GPT-3</a:t>
            </a:r>
            <a:endParaRPr lang="en-US" sz="1050" dirty="0"/>
          </a:p>
        </p:txBody>
      </p:sp>
      <p:sp>
        <p:nvSpPr>
          <p:cNvPr id="35" name="Shape 33"/>
          <p:cNvSpPr/>
          <p:nvPr/>
        </p:nvSpPr>
        <p:spPr>
          <a:xfrm>
            <a:off x="457200" y="6172200"/>
            <a:ext cx="10881360" cy="0"/>
          </a:xfrm>
          <a:prstGeom prst="line">
            <a:avLst/>
          </a:prstGeom>
          <a:noFill/>
          <a:ln w="19050">
            <a:solidFill>
              <a:srgbClr val="CADCFC"/>
            </a:solidFill>
            <a:prstDash val="solid"/>
          </a:ln>
        </p:spPr>
      </p:sp>
      <p:sp>
        <p:nvSpPr>
          <p:cNvPr id="36" name="Text 34"/>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7" name="Text 35"/>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Small Language Models (SLMs) — Why Less Might Be More</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Millions to a few billion parameters, built for speed, privacy, and low cost</a:t>
            </a:r>
            <a:endParaRPr lang="en-US" sz="1400" dirty="0"/>
          </a:p>
        </p:txBody>
      </p:sp>
      <p:sp>
        <p:nvSpPr>
          <p:cNvPr id="4" name="Shape 2"/>
          <p:cNvSpPr/>
          <p:nvPr/>
        </p:nvSpPr>
        <p:spPr>
          <a:xfrm>
            <a:off x="457200" y="1371600"/>
            <a:ext cx="11247120" cy="914400"/>
          </a:xfrm>
          <a:prstGeom prst="roundRect">
            <a:avLst>
              <a:gd name="adj" fmla="val 8000"/>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731520" y="1371600"/>
            <a:ext cx="10698480" cy="91440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If an LLM is a 100-seat luxury bus with every feature, an SLM is a compact car — fewer extras, but it still gets you where you need to go, faster and more efficiently.</a:t>
            </a:r>
            <a:endParaRPr lang="en-US" sz="1300" dirty="0"/>
          </a:p>
        </p:txBody>
      </p:sp>
      <p:sp>
        <p:nvSpPr>
          <p:cNvPr id="6" name="Shape 4"/>
          <p:cNvSpPr/>
          <p:nvPr/>
        </p:nvSpPr>
        <p:spPr>
          <a:xfrm>
            <a:off x="457200" y="2514600"/>
            <a:ext cx="2697480" cy="1234440"/>
          </a:xfrm>
          <a:prstGeom prst="roundRect">
            <a:avLst>
              <a:gd name="adj" fmla="val 5926"/>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7" name="Text 5"/>
          <p:cNvSpPr/>
          <p:nvPr/>
        </p:nvSpPr>
        <p:spPr>
          <a:xfrm>
            <a:off x="594360" y="2624328"/>
            <a:ext cx="548640" cy="45720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8" name="Text 6"/>
          <p:cNvSpPr/>
          <p:nvPr/>
        </p:nvSpPr>
        <p:spPr>
          <a:xfrm>
            <a:off x="594360" y="3081528"/>
            <a:ext cx="2423160"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Lightweight</a:t>
            </a:r>
            <a:endParaRPr lang="en-US" sz="1250" dirty="0"/>
          </a:p>
        </p:txBody>
      </p:sp>
      <p:sp>
        <p:nvSpPr>
          <p:cNvPr id="9" name="Text 7"/>
          <p:cNvSpPr/>
          <p:nvPr/>
        </p:nvSpPr>
        <p:spPr>
          <a:xfrm>
            <a:off x="594360" y="3355848"/>
            <a:ext cx="2423160" cy="36576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Runs on regular laptops or mobile devices</a:t>
            </a:r>
            <a:endParaRPr lang="en-US" sz="950" dirty="0"/>
          </a:p>
        </p:txBody>
      </p:sp>
      <p:sp>
        <p:nvSpPr>
          <p:cNvPr id="10" name="Shape 8"/>
          <p:cNvSpPr/>
          <p:nvPr/>
        </p:nvSpPr>
        <p:spPr>
          <a:xfrm>
            <a:off x="3319272" y="2514600"/>
            <a:ext cx="2697480" cy="1234440"/>
          </a:xfrm>
          <a:prstGeom prst="roundRect">
            <a:avLst>
              <a:gd name="adj" fmla="val 5926"/>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1" name="Text 9"/>
          <p:cNvSpPr/>
          <p:nvPr/>
        </p:nvSpPr>
        <p:spPr>
          <a:xfrm>
            <a:off x="3456432" y="2624328"/>
            <a:ext cx="548640" cy="45720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2" name="Text 10"/>
          <p:cNvSpPr/>
          <p:nvPr/>
        </p:nvSpPr>
        <p:spPr>
          <a:xfrm>
            <a:off x="3456432" y="3081528"/>
            <a:ext cx="2423160"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Fast</a:t>
            </a:r>
            <a:endParaRPr lang="en-US" sz="1250" dirty="0"/>
          </a:p>
        </p:txBody>
      </p:sp>
      <p:sp>
        <p:nvSpPr>
          <p:cNvPr id="13" name="Text 11"/>
          <p:cNvSpPr/>
          <p:nvPr/>
        </p:nvSpPr>
        <p:spPr>
          <a:xfrm>
            <a:off x="3456432" y="3355848"/>
            <a:ext cx="2423160" cy="36576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Less lag — better for real-time tasks</a:t>
            </a:r>
            <a:endParaRPr lang="en-US" sz="950" dirty="0"/>
          </a:p>
        </p:txBody>
      </p:sp>
      <p:sp>
        <p:nvSpPr>
          <p:cNvPr id="14" name="Shape 12"/>
          <p:cNvSpPr/>
          <p:nvPr/>
        </p:nvSpPr>
        <p:spPr>
          <a:xfrm>
            <a:off x="6181344" y="2514600"/>
            <a:ext cx="2697480" cy="1234440"/>
          </a:xfrm>
          <a:prstGeom prst="roundRect">
            <a:avLst>
              <a:gd name="adj" fmla="val 5926"/>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5" name="Text 13"/>
          <p:cNvSpPr/>
          <p:nvPr/>
        </p:nvSpPr>
        <p:spPr>
          <a:xfrm>
            <a:off x="6318504" y="2624328"/>
            <a:ext cx="548640" cy="45720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6" name="Text 14"/>
          <p:cNvSpPr/>
          <p:nvPr/>
        </p:nvSpPr>
        <p:spPr>
          <a:xfrm>
            <a:off x="6318504" y="3081528"/>
            <a:ext cx="2423160"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Private</a:t>
            </a:r>
            <a:endParaRPr lang="en-US" sz="1250" dirty="0"/>
          </a:p>
        </p:txBody>
      </p:sp>
      <p:sp>
        <p:nvSpPr>
          <p:cNvPr id="17" name="Text 15"/>
          <p:cNvSpPr/>
          <p:nvPr/>
        </p:nvSpPr>
        <p:spPr>
          <a:xfrm>
            <a:off x="6318504" y="3355848"/>
            <a:ext cx="2423160" cy="36576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Runs locally, so your data stays with you</a:t>
            </a:r>
            <a:endParaRPr lang="en-US" sz="950" dirty="0"/>
          </a:p>
        </p:txBody>
      </p:sp>
      <p:sp>
        <p:nvSpPr>
          <p:cNvPr id="18" name="Shape 16"/>
          <p:cNvSpPr/>
          <p:nvPr/>
        </p:nvSpPr>
        <p:spPr>
          <a:xfrm>
            <a:off x="9043416" y="2514600"/>
            <a:ext cx="2697480" cy="1234440"/>
          </a:xfrm>
          <a:prstGeom prst="roundRect">
            <a:avLst>
              <a:gd name="adj" fmla="val 5926"/>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9" name="Text 17"/>
          <p:cNvSpPr/>
          <p:nvPr/>
        </p:nvSpPr>
        <p:spPr>
          <a:xfrm>
            <a:off x="9180576" y="2624328"/>
            <a:ext cx="548640" cy="45720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20" name="Text 18"/>
          <p:cNvSpPr/>
          <p:nvPr/>
        </p:nvSpPr>
        <p:spPr>
          <a:xfrm>
            <a:off x="9180576" y="3081528"/>
            <a:ext cx="2423160"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Accessible</a:t>
            </a:r>
            <a:endParaRPr lang="en-US" sz="1250" dirty="0"/>
          </a:p>
        </p:txBody>
      </p:sp>
      <p:sp>
        <p:nvSpPr>
          <p:cNvPr id="21" name="Text 19"/>
          <p:cNvSpPr/>
          <p:nvPr/>
        </p:nvSpPr>
        <p:spPr>
          <a:xfrm>
            <a:off x="9180576" y="3355848"/>
            <a:ext cx="2423160" cy="36576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Usable &amp; fine-tunable without expensive GPUs</a:t>
            </a:r>
            <a:endParaRPr lang="en-US" sz="950" dirty="0"/>
          </a:p>
        </p:txBody>
      </p:sp>
      <p:sp>
        <p:nvSpPr>
          <p:cNvPr id="22" name="Text 20"/>
          <p:cNvSpPr/>
          <p:nvPr/>
        </p:nvSpPr>
        <p:spPr>
          <a:xfrm>
            <a:off x="457200" y="3931920"/>
            <a:ext cx="731520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SLMs matter — the shift from LLMs to SLMs</a:t>
            </a:r>
            <a:endParaRPr lang="en-US" sz="1400" dirty="0"/>
          </a:p>
        </p:txBody>
      </p:sp>
      <p:sp>
        <p:nvSpPr>
          <p:cNvPr id="23" name="Shape 21"/>
          <p:cNvSpPr/>
          <p:nvPr/>
        </p:nvSpPr>
        <p:spPr>
          <a:xfrm>
            <a:off x="457200" y="4297680"/>
            <a:ext cx="3611880" cy="1051560"/>
          </a:xfrm>
          <a:prstGeom prst="roundRect">
            <a:avLst>
              <a:gd name="adj" fmla="val 6957"/>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4" name="Text 22"/>
          <p:cNvSpPr/>
          <p:nvPr/>
        </p:nvSpPr>
        <p:spPr>
          <a:xfrm>
            <a:off x="640080" y="4389120"/>
            <a:ext cx="3246120" cy="274320"/>
          </a:xfrm>
          <a:prstGeom prst="rect">
            <a:avLst/>
          </a:prstGeom>
          <a:noFill/>
          <a:ln/>
        </p:spPr>
        <p:txBody>
          <a:bodyPr wrap="square" rtlCol="0" anchor="ctr"/>
          <a:lstStyle/>
          <a:p>
            <a:pPr indent="0" marL="0">
              <a:buNone/>
            </a:pPr>
            <a:r>
              <a:rPr lang="en-US" sz="1150" b="1" dirty="0">
                <a:solidFill>
                  <a:srgbClr val="F2994A"/>
                </a:solidFill>
                <a:latin typeface="Calibri" pitchFamily="34" charset="0"/>
                <a:ea typeface="Calibri" pitchFamily="34" charset="-122"/>
                <a:cs typeface="Calibri" pitchFamily="34" charset="-120"/>
              </a:rPr>
              <a:t>Lower Cost</a:t>
            </a:r>
            <a:endParaRPr lang="en-US" sz="1150" dirty="0"/>
          </a:p>
        </p:txBody>
      </p:sp>
      <p:sp>
        <p:nvSpPr>
          <p:cNvPr id="25" name="Text 23"/>
          <p:cNvSpPr/>
          <p:nvPr/>
        </p:nvSpPr>
        <p:spPr>
          <a:xfrm>
            <a:off x="640080" y="4681728"/>
            <a:ext cx="3246120" cy="62179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Training an SLM can cost under $1,000 vs. millions for LLMs. Cheaper inference — no API fees.</a:t>
            </a:r>
            <a:endParaRPr lang="en-US" sz="950" dirty="0"/>
          </a:p>
        </p:txBody>
      </p:sp>
      <p:sp>
        <p:nvSpPr>
          <p:cNvPr id="26" name="Shape 24"/>
          <p:cNvSpPr/>
          <p:nvPr/>
        </p:nvSpPr>
        <p:spPr>
          <a:xfrm>
            <a:off x="4270248" y="4297680"/>
            <a:ext cx="3611880" cy="1051560"/>
          </a:xfrm>
          <a:prstGeom prst="roundRect">
            <a:avLst>
              <a:gd name="adj" fmla="val 6957"/>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7" name="Text 25"/>
          <p:cNvSpPr/>
          <p:nvPr/>
        </p:nvSpPr>
        <p:spPr>
          <a:xfrm>
            <a:off x="4453128" y="4389120"/>
            <a:ext cx="3246120" cy="274320"/>
          </a:xfrm>
          <a:prstGeom prst="rect">
            <a:avLst/>
          </a:prstGeom>
          <a:noFill/>
          <a:ln/>
        </p:spPr>
        <p:txBody>
          <a:bodyPr wrap="square" rtlCol="0" anchor="ctr"/>
          <a:lstStyle/>
          <a:p>
            <a:pPr indent="0" marL="0">
              <a:buNone/>
            </a:pPr>
            <a:r>
              <a:rPr lang="en-US" sz="1150" b="1" dirty="0">
                <a:solidFill>
                  <a:srgbClr val="F2994A"/>
                </a:solidFill>
                <a:latin typeface="Calibri" pitchFamily="34" charset="0"/>
                <a:ea typeface="Calibri" pitchFamily="34" charset="-122"/>
                <a:cs typeface="Calibri" pitchFamily="34" charset="-120"/>
              </a:rPr>
              <a:t>Faster &amp; Efficient</a:t>
            </a:r>
            <a:endParaRPr lang="en-US" sz="1150" dirty="0"/>
          </a:p>
        </p:txBody>
      </p:sp>
      <p:sp>
        <p:nvSpPr>
          <p:cNvPr id="28" name="Text 26"/>
          <p:cNvSpPr/>
          <p:nvPr/>
        </p:nvSpPr>
        <p:spPr>
          <a:xfrm>
            <a:off x="4453128" y="4681728"/>
            <a:ext cx="3246120" cy="62179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Real-time responses, ideal for mobile/IoT; far less energy — more sustainable.</a:t>
            </a:r>
            <a:endParaRPr lang="en-US" sz="950" dirty="0"/>
          </a:p>
        </p:txBody>
      </p:sp>
      <p:sp>
        <p:nvSpPr>
          <p:cNvPr id="29" name="Shape 27"/>
          <p:cNvSpPr/>
          <p:nvPr/>
        </p:nvSpPr>
        <p:spPr>
          <a:xfrm>
            <a:off x="8083296" y="4297680"/>
            <a:ext cx="3611880" cy="1051560"/>
          </a:xfrm>
          <a:prstGeom prst="roundRect">
            <a:avLst>
              <a:gd name="adj" fmla="val 6957"/>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30" name="Text 28"/>
          <p:cNvSpPr/>
          <p:nvPr/>
        </p:nvSpPr>
        <p:spPr>
          <a:xfrm>
            <a:off x="8266176" y="4389120"/>
            <a:ext cx="3246120" cy="274320"/>
          </a:xfrm>
          <a:prstGeom prst="rect">
            <a:avLst/>
          </a:prstGeom>
          <a:noFill/>
          <a:ln/>
        </p:spPr>
        <p:txBody>
          <a:bodyPr wrap="square" rtlCol="0" anchor="ctr"/>
          <a:lstStyle/>
          <a:p>
            <a:pPr indent="0" marL="0">
              <a:buNone/>
            </a:pPr>
            <a:r>
              <a:rPr lang="en-US" sz="1150" b="1" dirty="0">
                <a:solidFill>
                  <a:srgbClr val="F2994A"/>
                </a:solidFill>
                <a:latin typeface="Calibri" pitchFamily="34" charset="0"/>
                <a:ea typeface="Calibri" pitchFamily="34" charset="-122"/>
                <a:cs typeface="Calibri" pitchFamily="34" charset="-120"/>
              </a:rPr>
              <a:t>Privacy &amp; Control</a:t>
            </a:r>
            <a:endParaRPr lang="en-US" sz="1150" dirty="0"/>
          </a:p>
        </p:txBody>
      </p:sp>
      <p:sp>
        <p:nvSpPr>
          <p:cNvPr id="31" name="Text 29"/>
          <p:cNvSpPr/>
          <p:nvPr/>
        </p:nvSpPr>
        <p:spPr>
          <a:xfrm>
            <a:off x="8266176" y="4681728"/>
            <a:ext cx="3246120" cy="621792"/>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Deployed on-device with no data sent to third-party servers — ideal for healthcare, legal, enterprise.</a:t>
            </a:r>
            <a:endParaRPr lang="en-US" sz="950" dirty="0"/>
          </a:p>
        </p:txBody>
      </p:sp>
      <p:sp>
        <p:nvSpPr>
          <p:cNvPr id="32" name="Text 30"/>
          <p:cNvSpPr/>
          <p:nvPr/>
        </p:nvSpPr>
        <p:spPr>
          <a:xfrm>
            <a:off x="457200" y="5532120"/>
            <a:ext cx="11247120" cy="50292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Popular SLM examples:  Phi (Microsoft) — Phi-1, Phi-2 (1.3B) trained on curated textbook-style data  •  Gemma (Google DeepMind) — 2B / 7B open, safe, efficient</a:t>
            </a:r>
            <a:endParaRPr lang="en-US" sz="1100" dirty="0"/>
          </a:p>
        </p:txBody>
      </p:sp>
      <p:sp>
        <p:nvSpPr>
          <p:cNvPr id="33" name="Text 31"/>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4" name="Text 32"/>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Small Language Models — Know the Limits</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Lightweight and fast, but not without trade-offs</a:t>
            </a:r>
            <a:endParaRPr lang="en-US" sz="1400" dirty="0"/>
          </a:p>
        </p:txBody>
      </p:sp>
      <p:sp>
        <p:nvSpPr>
          <p:cNvPr id="4" name="Shape 2"/>
          <p:cNvSpPr/>
          <p:nvPr/>
        </p:nvSpPr>
        <p:spPr>
          <a:xfrm>
            <a:off x="457200" y="1417320"/>
            <a:ext cx="2121408" cy="48920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Shape 3"/>
          <p:cNvSpPr/>
          <p:nvPr/>
        </p:nvSpPr>
        <p:spPr>
          <a:xfrm>
            <a:off x="594360" y="1581912"/>
            <a:ext cx="1847088" cy="457200"/>
          </a:xfrm>
          <a:prstGeom prst="roundRect">
            <a:avLst>
              <a:gd name="adj" fmla="val 12000"/>
            </a:avLst>
          </a:prstGeom>
          <a:solidFill>
            <a:srgbClr val="EB5757"/>
          </a:solidFill>
          <a:ln/>
        </p:spPr>
      </p:sp>
      <p:sp>
        <p:nvSpPr>
          <p:cNvPr id="6" name="Text 4"/>
          <p:cNvSpPr/>
          <p:nvPr/>
        </p:nvSpPr>
        <p:spPr>
          <a:xfrm>
            <a:off x="621792" y="1581912"/>
            <a:ext cx="1792224"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Limited Knowledge Scope</a:t>
            </a:r>
            <a:endParaRPr lang="en-US" sz="950" dirty="0"/>
          </a:p>
        </p:txBody>
      </p:sp>
      <p:sp>
        <p:nvSpPr>
          <p:cNvPr id="7" name="Text 5"/>
          <p:cNvSpPr/>
          <p:nvPr/>
        </p:nvSpPr>
        <p:spPr>
          <a:xfrm>
            <a:off x="621792" y="2194560"/>
            <a:ext cx="1792224" cy="155448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Trained on smaller datasets/fewer parameters — weak on rare events, niche domains, newer topics.</a:t>
            </a:r>
            <a:endParaRPr lang="en-US" sz="950" dirty="0"/>
          </a:p>
        </p:txBody>
      </p:sp>
      <p:sp>
        <p:nvSpPr>
          <p:cNvPr id="8" name="Shape 6"/>
          <p:cNvSpPr/>
          <p:nvPr/>
        </p:nvSpPr>
        <p:spPr>
          <a:xfrm>
            <a:off x="640080" y="3840480"/>
            <a:ext cx="1755648" cy="0"/>
          </a:xfrm>
          <a:prstGeom prst="line">
            <a:avLst/>
          </a:prstGeom>
          <a:noFill/>
          <a:ln w="12700">
            <a:solidFill>
              <a:srgbClr val="CADCFC"/>
            </a:solidFill>
            <a:prstDash val="solid"/>
          </a:ln>
        </p:spPr>
      </p:sp>
      <p:sp>
        <p:nvSpPr>
          <p:cNvPr id="9" name="Text 7"/>
          <p:cNvSpPr/>
          <p:nvPr/>
        </p:nvSpPr>
        <p:spPr>
          <a:xfrm>
            <a:off x="621792" y="3931920"/>
            <a:ext cx="1792224" cy="228600"/>
          </a:xfrm>
          <a:prstGeom prst="rect">
            <a:avLst/>
          </a:prstGeom>
          <a:noFill/>
          <a:ln/>
        </p:spPr>
        <p:txBody>
          <a:bodyPr wrap="square" rtlCol="0" anchor="ctr"/>
          <a:lstStyle/>
          <a:p>
            <a:pPr indent="0" marL="0">
              <a:buNone/>
            </a:pPr>
            <a:r>
              <a:rPr lang="en-US" sz="850" b="1" dirty="0">
                <a:solidFill>
                  <a:srgbClr val="F2994A"/>
                </a:solidFill>
                <a:latin typeface="Calibri" pitchFamily="34" charset="0"/>
                <a:ea typeface="Calibri" pitchFamily="34" charset="-122"/>
                <a:cs typeface="Calibri" pitchFamily="34" charset="-120"/>
              </a:rPr>
              <a:t>Example:</a:t>
            </a:r>
            <a:endParaRPr lang="en-US" sz="850" dirty="0"/>
          </a:p>
        </p:txBody>
      </p:sp>
      <p:sp>
        <p:nvSpPr>
          <p:cNvPr id="10" name="Text 8"/>
          <p:cNvSpPr/>
          <p:nvPr/>
        </p:nvSpPr>
        <p:spPr>
          <a:xfrm>
            <a:off x="621792" y="4160520"/>
            <a:ext cx="1792224" cy="2011680"/>
          </a:xfrm>
          <a:prstGeom prst="rect">
            <a:avLst/>
          </a:prstGeom>
          <a:noFill/>
          <a:ln/>
        </p:spPr>
        <p:txBody>
          <a:bodyPr wrap="square" rtlCol="0" anchor="ctr"/>
          <a:lstStyle/>
          <a:p>
            <a:pPr indent="0" marL="0">
              <a:buNone/>
            </a:pPr>
            <a:r>
              <a:rPr lang="en-US" sz="870" i="1" dirty="0">
                <a:solidFill>
                  <a:srgbClr val="1E2761"/>
                </a:solidFill>
                <a:latin typeface="Calibri" pitchFamily="34" charset="0"/>
                <a:ea typeface="Calibri" pitchFamily="34" charset="-122"/>
                <a:cs typeface="Calibri" pitchFamily="34" charset="-120"/>
              </a:rPr>
              <a:t>Ask Phi-2 about the latest quantum-computing breakthrough → vague or outdated answer.</a:t>
            </a:r>
            <a:endParaRPr lang="en-US" sz="870" dirty="0"/>
          </a:p>
        </p:txBody>
      </p:sp>
      <p:sp>
        <p:nvSpPr>
          <p:cNvPr id="11" name="Shape 9"/>
          <p:cNvSpPr/>
          <p:nvPr/>
        </p:nvSpPr>
        <p:spPr>
          <a:xfrm>
            <a:off x="2715768" y="1417320"/>
            <a:ext cx="2121408" cy="48920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2" name="Shape 10"/>
          <p:cNvSpPr/>
          <p:nvPr/>
        </p:nvSpPr>
        <p:spPr>
          <a:xfrm>
            <a:off x="2852928" y="1581912"/>
            <a:ext cx="1847088" cy="457200"/>
          </a:xfrm>
          <a:prstGeom prst="roundRect">
            <a:avLst>
              <a:gd name="adj" fmla="val 12000"/>
            </a:avLst>
          </a:prstGeom>
          <a:solidFill>
            <a:srgbClr val="EB5757"/>
          </a:solidFill>
          <a:ln/>
        </p:spPr>
      </p:sp>
      <p:sp>
        <p:nvSpPr>
          <p:cNvPr id="13" name="Text 11"/>
          <p:cNvSpPr/>
          <p:nvPr/>
        </p:nvSpPr>
        <p:spPr>
          <a:xfrm>
            <a:off x="2880360" y="1581912"/>
            <a:ext cx="1792224"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Struggles with Complex Reasoning</a:t>
            </a:r>
            <a:endParaRPr lang="en-US" sz="950" dirty="0"/>
          </a:p>
        </p:txBody>
      </p:sp>
      <p:sp>
        <p:nvSpPr>
          <p:cNvPr id="14" name="Text 12"/>
          <p:cNvSpPr/>
          <p:nvPr/>
        </p:nvSpPr>
        <p:spPr>
          <a:xfrm>
            <a:off x="2880360" y="2194560"/>
            <a:ext cx="1792224" cy="155448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Often can't do multi-step logical reasoning or follow a chain of thought across paragraphs.</a:t>
            </a:r>
            <a:endParaRPr lang="en-US" sz="950" dirty="0"/>
          </a:p>
        </p:txBody>
      </p:sp>
      <p:sp>
        <p:nvSpPr>
          <p:cNvPr id="15" name="Shape 13"/>
          <p:cNvSpPr/>
          <p:nvPr/>
        </p:nvSpPr>
        <p:spPr>
          <a:xfrm>
            <a:off x="2898648" y="3840480"/>
            <a:ext cx="1755648" cy="0"/>
          </a:xfrm>
          <a:prstGeom prst="line">
            <a:avLst/>
          </a:prstGeom>
          <a:noFill/>
          <a:ln w="12700">
            <a:solidFill>
              <a:srgbClr val="CADCFC"/>
            </a:solidFill>
            <a:prstDash val="solid"/>
          </a:ln>
        </p:spPr>
      </p:sp>
      <p:sp>
        <p:nvSpPr>
          <p:cNvPr id="16" name="Text 14"/>
          <p:cNvSpPr/>
          <p:nvPr/>
        </p:nvSpPr>
        <p:spPr>
          <a:xfrm>
            <a:off x="2880360" y="3931920"/>
            <a:ext cx="1792224" cy="228600"/>
          </a:xfrm>
          <a:prstGeom prst="rect">
            <a:avLst/>
          </a:prstGeom>
          <a:noFill/>
          <a:ln/>
        </p:spPr>
        <p:txBody>
          <a:bodyPr wrap="square" rtlCol="0" anchor="ctr"/>
          <a:lstStyle/>
          <a:p>
            <a:pPr indent="0" marL="0">
              <a:buNone/>
            </a:pPr>
            <a:r>
              <a:rPr lang="en-US" sz="850" b="1" dirty="0">
                <a:solidFill>
                  <a:srgbClr val="F2994A"/>
                </a:solidFill>
                <a:latin typeface="Calibri" pitchFamily="34" charset="0"/>
                <a:ea typeface="Calibri" pitchFamily="34" charset="-122"/>
                <a:cs typeface="Calibri" pitchFamily="34" charset="-120"/>
              </a:rPr>
              <a:t>Example:</a:t>
            </a:r>
            <a:endParaRPr lang="en-US" sz="850" dirty="0"/>
          </a:p>
        </p:txBody>
      </p:sp>
      <p:sp>
        <p:nvSpPr>
          <p:cNvPr id="17" name="Text 15"/>
          <p:cNvSpPr/>
          <p:nvPr/>
        </p:nvSpPr>
        <p:spPr>
          <a:xfrm>
            <a:off x="2880360" y="4160520"/>
            <a:ext cx="1792224" cy="2011680"/>
          </a:xfrm>
          <a:prstGeom prst="rect">
            <a:avLst/>
          </a:prstGeom>
          <a:noFill/>
          <a:ln/>
        </p:spPr>
        <p:txBody>
          <a:bodyPr wrap="square" rtlCol="0" anchor="ctr"/>
          <a:lstStyle/>
          <a:p>
            <a:pPr indent="0" marL="0">
              <a:buNone/>
            </a:pPr>
            <a:r>
              <a:rPr lang="en-US" sz="870" i="1" dirty="0">
                <a:solidFill>
                  <a:srgbClr val="1E2761"/>
                </a:solidFill>
                <a:latin typeface="Calibri" pitchFamily="34" charset="0"/>
                <a:ea typeface="Calibri" pitchFamily="34" charset="-122"/>
                <a:cs typeface="Calibri" pitchFamily="34" charset="-120"/>
              </a:rPr>
              <a:t>"John bought 3 apples &amp; 2 bananas, gave 1 banana away — how many bananas left?" → may get it wrong.</a:t>
            </a:r>
            <a:endParaRPr lang="en-US" sz="870" dirty="0"/>
          </a:p>
        </p:txBody>
      </p:sp>
      <p:sp>
        <p:nvSpPr>
          <p:cNvPr id="18" name="Shape 16"/>
          <p:cNvSpPr/>
          <p:nvPr/>
        </p:nvSpPr>
        <p:spPr>
          <a:xfrm>
            <a:off x="4974336" y="1417320"/>
            <a:ext cx="2121408" cy="48920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9" name="Shape 17"/>
          <p:cNvSpPr/>
          <p:nvPr/>
        </p:nvSpPr>
        <p:spPr>
          <a:xfrm>
            <a:off x="5111496" y="1581912"/>
            <a:ext cx="1847088" cy="457200"/>
          </a:xfrm>
          <a:prstGeom prst="roundRect">
            <a:avLst>
              <a:gd name="adj" fmla="val 12000"/>
            </a:avLst>
          </a:prstGeom>
          <a:solidFill>
            <a:srgbClr val="EB5757"/>
          </a:solidFill>
          <a:ln/>
        </p:spPr>
      </p:sp>
      <p:sp>
        <p:nvSpPr>
          <p:cNvPr id="20" name="Text 18"/>
          <p:cNvSpPr/>
          <p:nvPr/>
        </p:nvSpPr>
        <p:spPr>
          <a:xfrm>
            <a:off x="5138928" y="1581912"/>
            <a:ext cx="1792224"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Reduced Multimodal Ability</a:t>
            </a:r>
            <a:endParaRPr lang="en-US" sz="950" dirty="0"/>
          </a:p>
        </p:txBody>
      </p:sp>
      <p:sp>
        <p:nvSpPr>
          <p:cNvPr id="21" name="Text 19"/>
          <p:cNvSpPr/>
          <p:nvPr/>
        </p:nvSpPr>
        <p:spPr>
          <a:xfrm>
            <a:off x="5138928" y="2194560"/>
            <a:ext cx="1792224" cy="155448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Most SLMs are text-only or have limited image support, needing external encoders.</a:t>
            </a:r>
            <a:endParaRPr lang="en-US" sz="950" dirty="0"/>
          </a:p>
        </p:txBody>
      </p:sp>
      <p:sp>
        <p:nvSpPr>
          <p:cNvPr id="22" name="Shape 20"/>
          <p:cNvSpPr/>
          <p:nvPr/>
        </p:nvSpPr>
        <p:spPr>
          <a:xfrm>
            <a:off x="5157216" y="3840480"/>
            <a:ext cx="1755648" cy="0"/>
          </a:xfrm>
          <a:prstGeom prst="line">
            <a:avLst/>
          </a:prstGeom>
          <a:noFill/>
          <a:ln w="12700">
            <a:solidFill>
              <a:srgbClr val="CADCFC"/>
            </a:solidFill>
            <a:prstDash val="solid"/>
          </a:ln>
        </p:spPr>
      </p:sp>
      <p:sp>
        <p:nvSpPr>
          <p:cNvPr id="23" name="Text 21"/>
          <p:cNvSpPr/>
          <p:nvPr/>
        </p:nvSpPr>
        <p:spPr>
          <a:xfrm>
            <a:off x="5138928" y="3931920"/>
            <a:ext cx="1792224" cy="228600"/>
          </a:xfrm>
          <a:prstGeom prst="rect">
            <a:avLst/>
          </a:prstGeom>
          <a:noFill/>
          <a:ln/>
        </p:spPr>
        <p:txBody>
          <a:bodyPr wrap="square" rtlCol="0" anchor="ctr"/>
          <a:lstStyle/>
          <a:p>
            <a:pPr indent="0" marL="0">
              <a:buNone/>
            </a:pPr>
            <a:r>
              <a:rPr lang="en-US" sz="850" b="1" dirty="0">
                <a:solidFill>
                  <a:srgbClr val="F2994A"/>
                </a:solidFill>
                <a:latin typeface="Calibri" pitchFamily="34" charset="0"/>
                <a:ea typeface="Calibri" pitchFamily="34" charset="-122"/>
                <a:cs typeface="Calibri" pitchFamily="34" charset="-120"/>
              </a:rPr>
              <a:t>Example:</a:t>
            </a:r>
            <a:endParaRPr lang="en-US" sz="850" dirty="0"/>
          </a:p>
        </p:txBody>
      </p:sp>
      <p:sp>
        <p:nvSpPr>
          <p:cNvPr id="24" name="Text 22"/>
          <p:cNvSpPr/>
          <p:nvPr/>
        </p:nvSpPr>
        <p:spPr>
          <a:xfrm>
            <a:off x="5138928" y="4160520"/>
            <a:ext cx="1792224" cy="2011680"/>
          </a:xfrm>
          <a:prstGeom prst="rect">
            <a:avLst/>
          </a:prstGeom>
          <a:noFill/>
          <a:ln/>
        </p:spPr>
        <p:txBody>
          <a:bodyPr wrap="square" rtlCol="0" anchor="ctr"/>
          <a:lstStyle/>
          <a:p>
            <a:pPr indent="0" marL="0">
              <a:buNone/>
            </a:pPr>
            <a:r>
              <a:rPr lang="en-US" sz="870" i="1" dirty="0">
                <a:solidFill>
                  <a:srgbClr val="1E2761"/>
                </a:solidFill>
                <a:latin typeface="Calibri" pitchFamily="34" charset="0"/>
                <a:ea typeface="Calibri" pitchFamily="34" charset="-122"/>
                <a:cs typeface="Calibri" pitchFamily="34" charset="-120"/>
              </a:rPr>
              <a:t>GPT-4o/Gemini read an image directly; LLaVA/TinyGemma need extra tools — slower, more complex.</a:t>
            </a:r>
            <a:endParaRPr lang="en-US" sz="870" dirty="0"/>
          </a:p>
        </p:txBody>
      </p:sp>
      <p:sp>
        <p:nvSpPr>
          <p:cNvPr id="25" name="Shape 23"/>
          <p:cNvSpPr/>
          <p:nvPr/>
        </p:nvSpPr>
        <p:spPr>
          <a:xfrm>
            <a:off x="7232904" y="1417320"/>
            <a:ext cx="2121408" cy="48920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6" name="Shape 24"/>
          <p:cNvSpPr/>
          <p:nvPr/>
        </p:nvSpPr>
        <p:spPr>
          <a:xfrm>
            <a:off x="7370064" y="1581912"/>
            <a:ext cx="1847088" cy="457200"/>
          </a:xfrm>
          <a:prstGeom prst="roundRect">
            <a:avLst>
              <a:gd name="adj" fmla="val 12000"/>
            </a:avLst>
          </a:prstGeom>
          <a:solidFill>
            <a:srgbClr val="EB5757"/>
          </a:solidFill>
          <a:ln/>
        </p:spPr>
      </p:sp>
      <p:sp>
        <p:nvSpPr>
          <p:cNvPr id="27" name="Text 25"/>
          <p:cNvSpPr/>
          <p:nvPr/>
        </p:nvSpPr>
        <p:spPr>
          <a:xfrm>
            <a:off x="7397496" y="1581912"/>
            <a:ext cx="1792224"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Security &amp; Hallucination Risk</a:t>
            </a:r>
            <a:endParaRPr lang="en-US" sz="950" dirty="0"/>
          </a:p>
        </p:txBody>
      </p:sp>
      <p:sp>
        <p:nvSpPr>
          <p:cNvPr id="28" name="Text 26"/>
          <p:cNvSpPr/>
          <p:nvPr/>
        </p:nvSpPr>
        <p:spPr>
          <a:xfrm>
            <a:off x="7397496" y="2194560"/>
            <a:ext cx="1792224" cy="155448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Smaller models are more prone to confidently generating wrong information.</a:t>
            </a:r>
            <a:endParaRPr lang="en-US" sz="950" dirty="0"/>
          </a:p>
        </p:txBody>
      </p:sp>
      <p:sp>
        <p:nvSpPr>
          <p:cNvPr id="29" name="Shape 27"/>
          <p:cNvSpPr/>
          <p:nvPr/>
        </p:nvSpPr>
        <p:spPr>
          <a:xfrm>
            <a:off x="7415784" y="3840480"/>
            <a:ext cx="1755648" cy="0"/>
          </a:xfrm>
          <a:prstGeom prst="line">
            <a:avLst/>
          </a:prstGeom>
          <a:noFill/>
          <a:ln w="12700">
            <a:solidFill>
              <a:srgbClr val="CADCFC"/>
            </a:solidFill>
            <a:prstDash val="solid"/>
          </a:ln>
        </p:spPr>
      </p:sp>
      <p:sp>
        <p:nvSpPr>
          <p:cNvPr id="30" name="Text 28"/>
          <p:cNvSpPr/>
          <p:nvPr/>
        </p:nvSpPr>
        <p:spPr>
          <a:xfrm>
            <a:off x="7397496" y="3931920"/>
            <a:ext cx="1792224" cy="228600"/>
          </a:xfrm>
          <a:prstGeom prst="rect">
            <a:avLst/>
          </a:prstGeom>
          <a:noFill/>
          <a:ln/>
        </p:spPr>
        <p:txBody>
          <a:bodyPr wrap="square" rtlCol="0" anchor="ctr"/>
          <a:lstStyle/>
          <a:p>
            <a:pPr indent="0" marL="0">
              <a:buNone/>
            </a:pPr>
            <a:r>
              <a:rPr lang="en-US" sz="850" b="1" dirty="0">
                <a:solidFill>
                  <a:srgbClr val="F2994A"/>
                </a:solidFill>
                <a:latin typeface="Calibri" pitchFamily="34" charset="0"/>
                <a:ea typeface="Calibri" pitchFamily="34" charset="-122"/>
                <a:cs typeface="Calibri" pitchFamily="34" charset="-120"/>
              </a:rPr>
              <a:t>Example:</a:t>
            </a:r>
            <a:endParaRPr lang="en-US" sz="850" dirty="0"/>
          </a:p>
        </p:txBody>
      </p:sp>
      <p:sp>
        <p:nvSpPr>
          <p:cNvPr id="31" name="Text 29"/>
          <p:cNvSpPr/>
          <p:nvPr/>
        </p:nvSpPr>
        <p:spPr>
          <a:xfrm>
            <a:off x="7397496" y="4160520"/>
            <a:ext cx="1792224" cy="2011680"/>
          </a:xfrm>
          <a:prstGeom prst="rect">
            <a:avLst/>
          </a:prstGeom>
          <a:noFill/>
          <a:ln/>
        </p:spPr>
        <p:txBody>
          <a:bodyPr wrap="square" rtlCol="0" anchor="ctr"/>
          <a:lstStyle/>
          <a:p>
            <a:pPr indent="0" marL="0">
              <a:buNone/>
            </a:pPr>
            <a:r>
              <a:rPr lang="en-US" sz="870" i="1" dirty="0">
                <a:solidFill>
                  <a:srgbClr val="1E2761"/>
                </a:solidFill>
                <a:latin typeface="Calibri" pitchFamily="34" charset="0"/>
                <a:ea typeface="Calibri" pitchFamily="34" charset="-122"/>
                <a:cs typeface="Calibri" pitchFamily="34" charset="-120"/>
              </a:rPr>
              <a:t>Ask for a citation → it may invent a fake title, authors, and journal.</a:t>
            </a:r>
            <a:endParaRPr lang="en-US" sz="870" dirty="0"/>
          </a:p>
        </p:txBody>
      </p:sp>
      <p:sp>
        <p:nvSpPr>
          <p:cNvPr id="32" name="Shape 30"/>
          <p:cNvSpPr/>
          <p:nvPr/>
        </p:nvSpPr>
        <p:spPr>
          <a:xfrm>
            <a:off x="9491472" y="1417320"/>
            <a:ext cx="2121408" cy="48920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33" name="Shape 31"/>
          <p:cNvSpPr/>
          <p:nvPr/>
        </p:nvSpPr>
        <p:spPr>
          <a:xfrm>
            <a:off x="9628632" y="1581912"/>
            <a:ext cx="1847088" cy="457200"/>
          </a:xfrm>
          <a:prstGeom prst="roundRect">
            <a:avLst>
              <a:gd name="adj" fmla="val 12000"/>
            </a:avLst>
          </a:prstGeom>
          <a:solidFill>
            <a:srgbClr val="EB5757"/>
          </a:solidFill>
          <a:ln/>
        </p:spPr>
      </p:sp>
      <p:sp>
        <p:nvSpPr>
          <p:cNvPr id="34" name="Text 32"/>
          <p:cNvSpPr/>
          <p:nvPr/>
        </p:nvSpPr>
        <p:spPr>
          <a:xfrm>
            <a:off x="9656064" y="1581912"/>
            <a:ext cx="1792224"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Poorer Generalization</a:t>
            </a:r>
            <a:endParaRPr lang="en-US" sz="950" dirty="0"/>
          </a:p>
        </p:txBody>
      </p:sp>
      <p:sp>
        <p:nvSpPr>
          <p:cNvPr id="35" name="Text 33"/>
          <p:cNvSpPr/>
          <p:nvPr/>
        </p:nvSpPr>
        <p:spPr>
          <a:xfrm>
            <a:off x="9656064" y="2194560"/>
            <a:ext cx="1792224" cy="1554480"/>
          </a:xfrm>
          <a:prstGeom prst="rect">
            <a:avLst/>
          </a:prstGeom>
          <a:noFill/>
          <a:ln/>
        </p:spPr>
        <p:txBody>
          <a:bodyPr wrap="square" rtlCol="0" anchor="ctr"/>
          <a:lstStyle/>
          <a:p>
            <a:pPr indent="0" marL="0">
              <a:buNone/>
            </a:pPr>
            <a:r>
              <a:rPr lang="en-US" sz="950" dirty="0">
                <a:solidFill>
                  <a:srgbClr val="5A6B87"/>
                </a:solidFill>
                <a:latin typeface="Calibri" pitchFamily="34" charset="0"/>
                <a:ea typeface="Calibri" pitchFamily="34" charset="-122"/>
                <a:cs typeface="Calibri" pitchFamily="34" charset="-120"/>
              </a:rPr>
              <a:t>Struggle when fine-tuned on a narrow domain but asked to operate outside it.</a:t>
            </a:r>
            <a:endParaRPr lang="en-US" sz="950" dirty="0"/>
          </a:p>
        </p:txBody>
      </p:sp>
      <p:sp>
        <p:nvSpPr>
          <p:cNvPr id="36" name="Shape 34"/>
          <p:cNvSpPr/>
          <p:nvPr/>
        </p:nvSpPr>
        <p:spPr>
          <a:xfrm>
            <a:off x="9674352" y="3840480"/>
            <a:ext cx="1755648" cy="0"/>
          </a:xfrm>
          <a:prstGeom prst="line">
            <a:avLst/>
          </a:prstGeom>
          <a:noFill/>
          <a:ln w="12700">
            <a:solidFill>
              <a:srgbClr val="CADCFC"/>
            </a:solidFill>
            <a:prstDash val="solid"/>
          </a:ln>
        </p:spPr>
      </p:sp>
      <p:sp>
        <p:nvSpPr>
          <p:cNvPr id="37" name="Text 35"/>
          <p:cNvSpPr/>
          <p:nvPr/>
        </p:nvSpPr>
        <p:spPr>
          <a:xfrm>
            <a:off x="9656064" y="3931920"/>
            <a:ext cx="1792224" cy="228600"/>
          </a:xfrm>
          <a:prstGeom prst="rect">
            <a:avLst/>
          </a:prstGeom>
          <a:noFill/>
          <a:ln/>
        </p:spPr>
        <p:txBody>
          <a:bodyPr wrap="square" rtlCol="0" anchor="ctr"/>
          <a:lstStyle/>
          <a:p>
            <a:pPr indent="0" marL="0">
              <a:buNone/>
            </a:pPr>
            <a:r>
              <a:rPr lang="en-US" sz="850" b="1" dirty="0">
                <a:solidFill>
                  <a:srgbClr val="F2994A"/>
                </a:solidFill>
                <a:latin typeface="Calibri" pitchFamily="34" charset="0"/>
                <a:ea typeface="Calibri" pitchFamily="34" charset="-122"/>
                <a:cs typeface="Calibri" pitchFamily="34" charset="-120"/>
              </a:rPr>
              <a:t>Example:</a:t>
            </a:r>
            <a:endParaRPr lang="en-US" sz="850" dirty="0"/>
          </a:p>
        </p:txBody>
      </p:sp>
      <p:sp>
        <p:nvSpPr>
          <p:cNvPr id="38" name="Text 36"/>
          <p:cNvSpPr/>
          <p:nvPr/>
        </p:nvSpPr>
        <p:spPr>
          <a:xfrm>
            <a:off x="9656064" y="4160520"/>
            <a:ext cx="1792224" cy="2011680"/>
          </a:xfrm>
          <a:prstGeom prst="rect">
            <a:avLst/>
          </a:prstGeom>
          <a:noFill/>
          <a:ln/>
        </p:spPr>
        <p:txBody>
          <a:bodyPr wrap="square" rtlCol="0" anchor="ctr"/>
          <a:lstStyle/>
          <a:p>
            <a:pPr indent="0" marL="0">
              <a:buNone/>
            </a:pPr>
            <a:r>
              <a:rPr lang="en-US" sz="870" i="1" dirty="0">
                <a:solidFill>
                  <a:srgbClr val="1E2761"/>
                </a:solidFill>
                <a:latin typeface="Calibri" pitchFamily="34" charset="0"/>
                <a:ea typeface="Calibri" pitchFamily="34" charset="-122"/>
                <a:cs typeface="Calibri" pitchFamily="34" charset="-120"/>
              </a:rPr>
              <a:t>An HR-tuned model performs poorly when asked about legal compliance or sales.</a:t>
            </a:r>
            <a:endParaRPr lang="en-US" sz="870" dirty="0"/>
          </a:p>
        </p:txBody>
      </p:sp>
      <p:sp>
        <p:nvSpPr>
          <p:cNvPr id="39" name="Text 37"/>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40" name="Text 38"/>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Ethical Considerations in GenAI (I)</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Bias &amp; Fairness, and Privacy — two risks baked into how models are trained</a:t>
            </a:r>
            <a:endParaRPr lang="en-US" sz="1400" dirty="0"/>
          </a:p>
        </p:txBody>
      </p:sp>
      <p:sp>
        <p:nvSpPr>
          <p:cNvPr id="4" name="Shape 2"/>
          <p:cNvSpPr/>
          <p:nvPr/>
        </p:nvSpPr>
        <p:spPr>
          <a:xfrm>
            <a:off x="457200" y="1417320"/>
            <a:ext cx="5440680" cy="4892040"/>
          </a:xfrm>
          <a:prstGeom prst="roundRect">
            <a:avLst>
              <a:gd name="adj" fmla="val 1495"/>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Shape 3"/>
          <p:cNvSpPr/>
          <p:nvPr/>
        </p:nvSpPr>
        <p:spPr>
          <a:xfrm>
            <a:off x="731520" y="1691640"/>
            <a:ext cx="548640" cy="548640"/>
          </a:xfrm>
          <a:prstGeom prst="ellipse">
            <a:avLst/>
          </a:prstGeom>
          <a:solidFill>
            <a:srgbClr val="F2994A"/>
          </a:solidFill>
          <a:ln/>
        </p:spPr>
      </p:sp>
      <p:sp>
        <p:nvSpPr>
          <p:cNvPr id="6" name="Text 4"/>
          <p:cNvSpPr/>
          <p:nvPr/>
        </p:nvSpPr>
        <p:spPr>
          <a:xfrm>
            <a:off x="731520" y="16916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463040" y="1737360"/>
            <a:ext cx="420624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1. Bias &amp; Fairness</a:t>
            </a:r>
            <a:endParaRPr lang="en-US" sz="1600" dirty="0"/>
          </a:p>
        </p:txBody>
      </p:sp>
      <p:sp>
        <p:nvSpPr>
          <p:cNvPr id="8" name="Text 6"/>
          <p:cNvSpPr/>
          <p:nvPr/>
        </p:nvSpPr>
        <p:spPr>
          <a:xfrm>
            <a:off x="685800" y="2331720"/>
            <a:ext cx="4983480" cy="457200"/>
          </a:xfrm>
          <a:prstGeom prst="rect">
            <a:avLst/>
          </a:prstGeom>
          <a:noFill/>
          <a:ln/>
        </p:spPr>
        <p:txBody>
          <a:bodyPr wrap="square" rtlCol="0" anchor="ctr"/>
          <a:lstStyle/>
          <a:p>
            <a:pPr indent="0" marL="0">
              <a:buNone/>
            </a:pPr>
            <a:r>
              <a:rPr lang="en-US" sz="1100" i="1" dirty="0">
                <a:solidFill>
                  <a:srgbClr val="5A6B87"/>
                </a:solidFill>
                <a:latin typeface="Calibri" pitchFamily="34" charset="0"/>
                <a:ea typeface="Calibri" pitchFamily="34" charset="-122"/>
                <a:cs typeface="Calibri" pitchFamily="34" charset="-120"/>
              </a:rPr>
              <a:t>"If AI is trained on biased data, it continues the cycle of inequality — even faster."</a:t>
            </a:r>
            <a:endParaRPr lang="en-US" sz="1100" dirty="0"/>
          </a:p>
        </p:txBody>
      </p:sp>
      <p:sp>
        <p:nvSpPr>
          <p:cNvPr id="9" name="Text 7"/>
          <p:cNvSpPr/>
          <p:nvPr/>
        </p:nvSpPr>
        <p:spPr>
          <a:xfrm>
            <a:off x="685800" y="2834640"/>
            <a:ext cx="4983480" cy="91440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If a career-recommendation chatbot is trained mostly on data where engineers were men and nurses were women, it may keep suggesting those roles by gender — even with identical skills. Bias is often baked unintentionally into the data.</a:t>
            </a:r>
            <a:endParaRPr lang="en-US" sz="1050" dirty="0"/>
          </a:p>
        </p:txBody>
      </p:sp>
      <p:sp>
        <p:nvSpPr>
          <p:cNvPr id="10" name="Shape 8"/>
          <p:cNvSpPr/>
          <p:nvPr/>
        </p:nvSpPr>
        <p:spPr>
          <a:xfrm>
            <a:off x="685800" y="3794760"/>
            <a:ext cx="4983480" cy="868680"/>
          </a:xfrm>
          <a:prstGeom prst="roundRect">
            <a:avLst>
              <a:gd name="adj" fmla="val 8421"/>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1" name="Text 9"/>
          <p:cNvSpPr/>
          <p:nvPr/>
        </p:nvSpPr>
        <p:spPr>
          <a:xfrm>
            <a:off x="822960" y="3794760"/>
            <a:ext cx="4709160" cy="868680"/>
          </a:xfrm>
          <a:prstGeom prst="rect">
            <a:avLst/>
          </a:prstGeom>
          <a:noFill/>
          <a:ln/>
        </p:spPr>
        <p:txBody>
          <a:bodyPr wrap="square" rtlCol="0" anchor="ctr"/>
          <a:lstStyle/>
          <a:p>
            <a:pPr indent="0" marL="0">
              <a:buNone/>
            </a:pPr>
            <a:r>
              <a:rPr lang="en-US" sz="950" dirty="0">
                <a:solidFill>
                  <a:srgbClr val="1E2761"/>
                </a:solidFill>
                <a:latin typeface="Calibri" pitchFamily="34" charset="0"/>
                <a:ea typeface="Calibri" pitchFamily="34" charset="-122"/>
                <a:cs typeface="Calibri" pitchFamily="34" charset="-120"/>
              </a:rPr>
              <a:t>Real example: Amazon (2018) scrapped an AI hiring tool that downgraded résumés containing "women's" (e.g. "women's chess club") — learned from 10 years of male-dominated hiring data.</a:t>
            </a:r>
            <a:endParaRPr lang="en-US" sz="950" dirty="0"/>
          </a:p>
        </p:txBody>
      </p:sp>
      <p:sp>
        <p:nvSpPr>
          <p:cNvPr id="12" name="Text 10"/>
          <p:cNvSpPr/>
          <p:nvPr/>
        </p:nvSpPr>
        <p:spPr>
          <a:xfrm>
            <a:off x="685800" y="4800600"/>
            <a:ext cx="4983480" cy="27432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How to handle it:</a:t>
            </a:r>
            <a:endParaRPr lang="en-US" sz="1100" dirty="0"/>
          </a:p>
        </p:txBody>
      </p:sp>
      <p:sp>
        <p:nvSpPr>
          <p:cNvPr id="13" name="Shape 11"/>
          <p:cNvSpPr/>
          <p:nvPr/>
        </p:nvSpPr>
        <p:spPr>
          <a:xfrm>
            <a:off x="731520" y="5138928"/>
            <a:ext cx="118872" cy="118872"/>
          </a:xfrm>
          <a:prstGeom prst="ellipse">
            <a:avLst/>
          </a:prstGeom>
          <a:solidFill>
            <a:srgbClr val="27AE60"/>
          </a:solidFill>
          <a:ln/>
        </p:spPr>
      </p:sp>
      <p:sp>
        <p:nvSpPr>
          <p:cNvPr id="14" name="Text 12"/>
          <p:cNvSpPr/>
          <p:nvPr/>
        </p:nvSpPr>
        <p:spPr>
          <a:xfrm>
            <a:off x="960120" y="5047488"/>
            <a:ext cx="4572000" cy="292608"/>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Use balanced, diverse datasets</a:t>
            </a:r>
            <a:endParaRPr lang="en-US" sz="1000" dirty="0"/>
          </a:p>
        </p:txBody>
      </p:sp>
      <p:sp>
        <p:nvSpPr>
          <p:cNvPr id="15" name="Shape 13"/>
          <p:cNvSpPr/>
          <p:nvPr/>
        </p:nvSpPr>
        <p:spPr>
          <a:xfrm>
            <a:off x="731520" y="5458968"/>
            <a:ext cx="118872" cy="118872"/>
          </a:xfrm>
          <a:prstGeom prst="ellipse">
            <a:avLst/>
          </a:prstGeom>
          <a:solidFill>
            <a:srgbClr val="27AE60"/>
          </a:solidFill>
          <a:ln/>
        </p:spPr>
      </p:sp>
      <p:sp>
        <p:nvSpPr>
          <p:cNvPr id="16" name="Text 14"/>
          <p:cNvSpPr/>
          <p:nvPr/>
        </p:nvSpPr>
        <p:spPr>
          <a:xfrm>
            <a:off x="960120" y="5367528"/>
            <a:ext cx="4572000" cy="292608"/>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Regularly audit model outputs</a:t>
            </a:r>
            <a:endParaRPr lang="en-US" sz="1000" dirty="0"/>
          </a:p>
        </p:txBody>
      </p:sp>
      <p:sp>
        <p:nvSpPr>
          <p:cNvPr id="17" name="Shape 15"/>
          <p:cNvSpPr/>
          <p:nvPr/>
        </p:nvSpPr>
        <p:spPr>
          <a:xfrm>
            <a:off x="731520" y="5779008"/>
            <a:ext cx="118872" cy="118872"/>
          </a:xfrm>
          <a:prstGeom prst="ellipse">
            <a:avLst/>
          </a:prstGeom>
          <a:solidFill>
            <a:srgbClr val="27AE60"/>
          </a:solidFill>
          <a:ln/>
        </p:spPr>
      </p:sp>
      <p:sp>
        <p:nvSpPr>
          <p:cNvPr id="18" name="Text 16"/>
          <p:cNvSpPr/>
          <p:nvPr/>
        </p:nvSpPr>
        <p:spPr>
          <a:xfrm>
            <a:off x="960120" y="5687568"/>
            <a:ext cx="4572000" cy="292608"/>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Keep humans in high-stakes decisions</a:t>
            </a:r>
            <a:endParaRPr lang="en-US" sz="1000" dirty="0"/>
          </a:p>
        </p:txBody>
      </p:sp>
      <p:sp>
        <p:nvSpPr>
          <p:cNvPr id="19" name="Shape 17"/>
          <p:cNvSpPr/>
          <p:nvPr/>
        </p:nvSpPr>
        <p:spPr>
          <a:xfrm>
            <a:off x="6263640" y="1417320"/>
            <a:ext cx="5440680" cy="4892040"/>
          </a:xfrm>
          <a:prstGeom prst="roundRect">
            <a:avLst>
              <a:gd name="adj" fmla="val 1495"/>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0" name="Shape 18"/>
          <p:cNvSpPr/>
          <p:nvPr/>
        </p:nvSpPr>
        <p:spPr>
          <a:xfrm>
            <a:off x="6537960" y="1691640"/>
            <a:ext cx="548640" cy="548640"/>
          </a:xfrm>
          <a:prstGeom prst="ellipse">
            <a:avLst/>
          </a:prstGeom>
          <a:solidFill>
            <a:srgbClr val="3EC1D3"/>
          </a:solidFill>
          <a:ln/>
        </p:spPr>
      </p:sp>
      <p:sp>
        <p:nvSpPr>
          <p:cNvPr id="21" name="Text 19"/>
          <p:cNvSpPr/>
          <p:nvPr/>
        </p:nvSpPr>
        <p:spPr>
          <a:xfrm>
            <a:off x="6537960" y="1691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269480" y="1737360"/>
            <a:ext cx="420624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2. Privacy Concerns</a:t>
            </a:r>
            <a:endParaRPr lang="en-US" sz="1600" dirty="0"/>
          </a:p>
        </p:txBody>
      </p:sp>
      <p:sp>
        <p:nvSpPr>
          <p:cNvPr id="23" name="Text 21"/>
          <p:cNvSpPr/>
          <p:nvPr/>
        </p:nvSpPr>
        <p:spPr>
          <a:xfrm>
            <a:off x="6492240" y="2331720"/>
            <a:ext cx="4983480" cy="457200"/>
          </a:xfrm>
          <a:prstGeom prst="rect">
            <a:avLst/>
          </a:prstGeom>
          <a:noFill/>
          <a:ln/>
        </p:spPr>
        <p:txBody>
          <a:bodyPr wrap="square" rtlCol="0" anchor="ctr"/>
          <a:lstStyle/>
          <a:p>
            <a:pPr indent="0" marL="0">
              <a:buNone/>
            </a:pPr>
            <a:r>
              <a:rPr lang="en-US" sz="1100" i="1" dirty="0">
                <a:solidFill>
                  <a:srgbClr val="5A6B87"/>
                </a:solidFill>
                <a:latin typeface="Calibri" pitchFamily="34" charset="0"/>
                <a:ea typeface="Calibri" pitchFamily="34" charset="-122"/>
                <a:cs typeface="Calibri" pitchFamily="34" charset="-120"/>
              </a:rPr>
              <a:t>"If AI trains on your data, who owns your privacy?"</a:t>
            </a:r>
            <a:endParaRPr lang="en-US" sz="1100" dirty="0"/>
          </a:p>
        </p:txBody>
      </p:sp>
      <p:sp>
        <p:nvSpPr>
          <p:cNvPr id="24" name="Text 22"/>
          <p:cNvSpPr/>
          <p:nvPr/>
        </p:nvSpPr>
        <p:spPr>
          <a:xfrm>
            <a:off x="6492240" y="2834640"/>
            <a:ext cx="4983480" cy="91440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Uploading school notes, assignments, or a private journal to an AI summarizer could mean that content is stored and later used to train another model — without your consent.</a:t>
            </a:r>
            <a:endParaRPr lang="en-US" sz="1050" dirty="0"/>
          </a:p>
        </p:txBody>
      </p:sp>
      <p:sp>
        <p:nvSpPr>
          <p:cNvPr id="25" name="Shape 23"/>
          <p:cNvSpPr/>
          <p:nvPr/>
        </p:nvSpPr>
        <p:spPr>
          <a:xfrm>
            <a:off x="6492240" y="3794760"/>
            <a:ext cx="4983480" cy="868680"/>
          </a:xfrm>
          <a:prstGeom prst="roundRect">
            <a:avLst>
              <a:gd name="adj" fmla="val 8421"/>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6" name="Text 24"/>
          <p:cNvSpPr/>
          <p:nvPr/>
        </p:nvSpPr>
        <p:spPr>
          <a:xfrm>
            <a:off x="6629400" y="3794760"/>
            <a:ext cx="4709160" cy="868680"/>
          </a:xfrm>
          <a:prstGeom prst="rect">
            <a:avLst/>
          </a:prstGeom>
          <a:noFill/>
          <a:ln/>
        </p:spPr>
        <p:txBody>
          <a:bodyPr wrap="square" rtlCol="0" anchor="ctr"/>
          <a:lstStyle/>
          <a:p>
            <a:pPr indent="0" marL="0">
              <a:buNone/>
            </a:pPr>
            <a:r>
              <a:rPr lang="en-US" sz="950" dirty="0">
                <a:solidFill>
                  <a:srgbClr val="1E2761"/>
                </a:solidFill>
                <a:latin typeface="Calibri" pitchFamily="34" charset="0"/>
                <a:ea typeface="Calibri" pitchFamily="34" charset="-122"/>
                <a:cs typeface="Calibri" pitchFamily="34" charset="-120"/>
              </a:rPr>
              <a:t>Real example: Samsung employees (2023) accidentally leaked sensitive source code by pasting it into ChatGPT. Data stored on OpenAI's servers couldn't be retrieved — Samsung banned internal ChatGPT use.</a:t>
            </a:r>
            <a:endParaRPr lang="en-US" sz="950" dirty="0"/>
          </a:p>
        </p:txBody>
      </p:sp>
      <p:sp>
        <p:nvSpPr>
          <p:cNvPr id="27" name="Text 25"/>
          <p:cNvSpPr/>
          <p:nvPr/>
        </p:nvSpPr>
        <p:spPr>
          <a:xfrm>
            <a:off x="6492240" y="4800600"/>
            <a:ext cx="4983480" cy="27432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How to handle it:</a:t>
            </a:r>
            <a:endParaRPr lang="en-US" sz="1100" dirty="0"/>
          </a:p>
        </p:txBody>
      </p:sp>
      <p:sp>
        <p:nvSpPr>
          <p:cNvPr id="28" name="Shape 26"/>
          <p:cNvSpPr/>
          <p:nvPr/>
        </p:nvSpPr>
        <p:spPr>
          <a:xfrm>
            <a:off x="6537960" y="5138928"/>
            <a:ext cx="118872" cy="118872"/>
          </a:xfrm>
          <a:prstGeom prst="ellipse">
            <a:avLst/>
          </a:prstGeom>
          <a:solidFill>
            <a:srgbClr val="27AE60"/>
          </a:solidFill>
          <a:ln/>
        </p:spPr>
      </p:sp>
      <p:sp>
        <p:nvSpPr>
          <p:cNvPr id="29" name="Text 27"/>
          <p:cNvSpPr/>
          <p:nvPr/>
        </p:nvSpPr>
        <p:spPr>
          <a:xfrm>
            <a:off x="6766560" y="5047488"/>
            <a:ext cx="4572000" cy="292608"/>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Never input private/sensitive info into untrusted AI tools</a:t>
            </a:r>
            <a:endParaRPr lang="en-US" sz="1000" dirty="0"/>
          </a:p>
        </p:txBody>
      </p:sp>
      <p:sp>
        <p:nvSpPr>
          <p:cNvPr id="30" name="Shape 28"/>
          <p:cNvSpPr/>
          <p:nvPr/>
        </p:nvSpPr>
        <p:spPr>
          <a:xfrm>
            <a:off x="6537960" y="5458968"/>
            <a:ext cx="118872" cy="118872"/>
          </a:xfrm>
          <a:prstGeom prst="ellipse">
            <a:avLst/>
          </a:prstGeom>
          <a:solidFill>
            <a:srgbClr val="27AE60"/>
          </a:solidFill>
          <a:ln/>
        </p:spPr>
      </p:sp>
      <p:sp>
        <p:nvSpPr>
          <p:cNvPr id="31" name="Text 29"/>
          <p:cNvSpPr/>
          <p:nvPr/>
        </p:nvSpPr>
        <p:spPr>
          <a:xfrm>
            <a:off x="6766560" y="5367528"/>
            <a:ext cx="4572000" cy="292608"/>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Use tools that anonymize or delete user data</a:t>
            </a:r>
            <a:endParaRPr lang="en-US" sz="1000" dirty="0"/>
          </a:p>
        </p:txBody>
      </p:sp>
      <p:sp>
        <p:nvSpPr>
          <p:cNvPr id="32" name="Shape 30"/>
          <p:cNvSpPr/>
          <p:nvPr/>
        </p:nvSpPr>
        <p:spPr>
          <a:xfrm>
            <a:off x="6537960" y="5779008"/>
            <a:ext cx="118872" cy="118872"/>
          </a:xfrm>
          <a:prstGeom prst="ellipse">
            <a:avLst/>
          </a:prstGeom>
          <a:solidFill>
            <a:srgbClr val="27AE60"/>
          </a:solidFill>
          <a:ln/>
        </p:spPr>
      </p:sp>
      <p:sp>
        <p:nvSpPr>
          <p:cNvPr id="33" name="Text 31"/>
          <p:cNvSpPr/>
          <p:nvPr/>
        </p:nvSpPr>
        <p:spPr>
          <a:xfrm>
            <a:off x="6766560" y="5687568"/>
            <a:ext cx="4572000" cy="292608"/>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Learn local laws (e.g. GDPR in Europe)</a:t>
            </a:r>
            <a:endParaRPr lang="en-US" sz="1000" dirty="0"/>
          </a:p>
        </p:txBody>
      </p:sp>
      <p:sp>
        <p:nvSpPr>
          <p:cNvPr id="34" name="Text 32"/>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5" name="Text 33"/>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Ethical Considerations in GenAI (II)</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Intellectual Property, Misinformation, and Deepfakes</a:t>
            </a:r>
            <a:endParaRPr lang="en-US" sz="1400" dirty="0"/>
          </a:p>
        </p:txBody>
      </p:sp>
      <p:sp>
        <p:nvSpPr>
          <p:cNvPr id="4" name="Shape 2"/>
          <p:cNvSpPr/>
          <p:nvPr/>
        </p:nvSpPr>
        <p:spPr>
          <a:xfrm>
            <a:off x="457200" y="1417320"/>
            <a:ext cx="3611880" cy="4892040"/>
          </a:xfrm>
          <a:prstGeom prst="roundRect">
            <a:avLst>
              <a:gd name="adj" fmla="val 2025"/>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Shape 3"/>
          <p:cNvSpPr/>
          <p:nvPr/>
        </p:nvSpPr>
        <p:spPr>
          <a:xfrm>
            <a:off x="685800" y="1618488"/>
            <a:ext cx="502920" cy="502920"/>
          </a:xfrm>
          <a:prstGeom prst="ellipse">
            <a:avLst/>
          </a:prstGeom>
          <a:solidFill>
            <a:srgbClr val="F2994A"/>
          </a:solidFill>
          <a:ln/>
        </p:spPr>
      </p:sp>
      <p:sp>
        <p:nvSpPr>
          <p:cNvPr id="6" name="Text 4"/>
          <p:cNvSpPr/>
          <p:nvPr/>
        </p:nvSpPr>
        <p:spPr>
          <a:xfrm>
            <a:off x="685800" y="1618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325880" y="1673352"/>
            <a:ext cx="2560320"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3. Intellectual Property</a:t>
            </a:r>
            <a:endParaRPr lang="en-US" sz="1350" dirty="0"/>
          </a:p>
        </p:txBody>
      </p:sp>
      <p:sp>
        <p:nvSpPr>
          <p:cNvPr id="8" name="Text 6"/>
          <p:cNvSpPr/>
          <p:nvPr/>
        </p:nvSpPr>
        <p:spPr>
          <a:xfrm>
            <a:off x="685800" y="2286000"/>
            <a:ext cx="3154680" cy="457200"/>
          </a:xfrm>
          <a:prstGeom prst="rect">
            <a:avLst/>
          </a:prstGeom>
          <a:noFill/>
          <a:ln/>
        </p:spPr>
        <p:txBody>
          <a:bodyPr wrap="square" rtlCol="0" anchor="ctr"/>
          <a:lstStyle/>
          <a:p>
            <a:pPr indent="0" marL="0">
              <a:buNone/>
            </a:pPr>
            <a:r>
              <a:rPr lang="en-US" sz="1000" i="1" dirty="0">
                <a:solidFill>
                  <a:srgbClr val="5A6B87"/>
                </a:solidFill>
                <a:latin typeface="Calibri" pitchFamily="34" charset="0"/>
                <a:ea typeface="Calibri" pitchFamily="34" charset="-122"/>
                <a:cs typeface="Calibri" pitchFamily="34" charset="-120"/>
              </a:rPr>
              <a:t>"When AI creates something, who owns it?"</a:t>
            </a:r>
            <a:endParaRPr lang="en-US" sz="1000" dirty="0"/>
          </a:p>
        </p:txBody>
      </p:sp>
      <p:sp>
        <p:nvSpPr>
          <p:cNvPr id="9" name="Text 7"/>
          <p:cNvSpPr/>
          <p:nvPr/>
        </p:nvSpPr>
        <p:spPr>
          <a:xfrm>
            <a:off x="685800" y="2788920"/>
            <a:ext cx="3154680" cy="822960"/>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Asking AI to generate an image "in the style of" a copyrighted character may pull styles from protected work.</a:t>
            </a:r>
            <a:endParaRPr lang="en-US" sz="1000" dirty="0"/>
          </a:p>
        </p:txBody>
      </p:sp>
      <p:sp>
        <p:nvSpPr>
          <p:cNvPr id="10" name="Shape 8"/>
          <p:cNvSpPr/>
          <p:nvPr/>
        </p:nvSpPr>
        <p:spPr>
          <a:xfrm>
            <a:off x="640080" y="3657600"/>
            <a:ext cx="3246120" cy="1051560"/>
          </a:xfrm>
          <a:prstGeom prst="roundRect">
            <a:avLst>
              <a:gd name="adj" fmla="val 6957"/>
            </a:avLst>
          </a:prstGeom>
          <a:solidFill>
            <a:srgbClr val="F4F6FB"/>
          </a:solidFill>
          <a:ln w="12700">
            <a:solidFill>
              <a:srgbClr val="CADCFC"/>
            </a:solidFill>
            <a:prstDash val="solid"/>
          </a:ln>
        </p:spPr>
      </p:sp>
      <p:sp>
        <p:nvSpPr>
          <p:cNvPr id="11" name="Text 9"/>
          <p:cNvSpPr/>
          <p:nvPr/>
        </p:nvSpPr>
        <p:spPr>
          <a:xfrm>
            <a:off x="777240" y="3657600"/>
            <a:ext cx="2971800" cy="1051560"/>
          </a:xfrm>
          <a:prstGeom prst="rect">
            <a:avLst/>
          </a:prstGeom>
          <a:noFill/>
          <a:ln/>
        </p:spPr>
        <p:txBody>
          <a:bodyPr wrap="square" rtlCol="0" anchor="ctr"/>
          <a:lstStyle/>
          <a:p>
            <a:pPr indent="0" marL="0">
              <a:buNone/>
            </a:pPr>
            <a:r>
              <a:rPr lang="en-US" sz="900" dirty="0">
                <a:solidFill>
                  <a:srgbClr val="1E2761"/>
                </a:solidFill>
                <a:latin typeface="Calibri" pitchFamily="34" charset="0"/>
                <a:ea typeface="Calibri" pitchFamily="34" charset="-122"/>
                <a:cs typeface="Calibri" pitchFamily="34" charset="-120"/>
              </a:rPr>
              <a:t>Getty Images sued Stability AI (2023) for allegedly training on millions of copyrighted images without permission.</a:t>
            </a:r>
            <a:endParaRPr lang="en-US" sz="900" dirty="0"/>
          </a:p>
        </p:txBody>
      </p:sp>
      <p:sp>
        <p:nvSpPr>
          <p:cNvPr id="12" name="Text 10"/>
          <p:cNvSpPr/>
          <p:nvPr/>
        </p:nvSpPr>
        <p:spPr>
          <a:xfrm>
            <a:off x="685800" y="4818888"/>
            <a:ext cx="3154680" cy="256032"/>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How to handle it:</a:t>
            </a:r>
            <a:endParaRPr lang="en-US" sz="950" dirty="0"/>
          </a:p>
        </p:txBody>
      </p:sp>
      <p:sp>
        <p:nvSpPr>
          <p:cNvPr id="13" name="Text 11"/>
          <p:cNvSpPr/>
          <p:nvPr/>
        </p:nvSpPr>
        <p:spPr>
          <a:xfrm>
            <a:off x="685800" y="5074920"/>
            <a:ext cx="3154680" cy="1188720"/>
          </a:xfrm>
          <a:prstGeom prst="rect">
            <a:avLst/>
          </a:prstGeom>
          <a:noFill/>
          <a:ln/>
        </p:spPr>
        <p:txBody>
          <a:bodyPr wrap="square" rtlCol="0" anchor="ctr"/>
          <a:lstStyle/>
          <a:p>
            <a:pPr indent="0" marL="0">
              <a:buNone/>
            </a:pPr>
            <a:r>
              <a:rPr lang="en-US" sz="900" dirty="0">
                <a:solidFill>
                  <a:srgbClr val="5A6B87"/>
                </a:solidFill>
                <a:latin typeface="Calibri" pitchFamily="34" charset="0"/>
                <a:ea typeface="Calibri" pitchFamily="34" charset="-122"/>
                <a:cs typeface="Calibri" pitchFamily="34" charset="-120"/>
              </a:rPr>
              <a:t>Use open/public-domain datasets • label AI-generated content • credit sources</a:t>
            </a:r>
            <a:endParaRPr lang="en-US" sz="900" dirty="0"/>
          </a:p>
        </p:txBody>
      </p:sp>
      <p:sp>
        <p:nvSpPr>
          <p:cNvPr id="14" name="Shape 12"/>
          <p:cNvSpPr/>
          <p:nvPr/>
        </p:nvSpPr>
        <p:spPr>
          <a:xfrm>
            <a:off x="4270248" y="1417320"/>
            <a:ext cx="3611880" cy="4892040"/>
          </a:xfrm>
          <a:prstGeom prst="roundRect">
            <a:avLst>
              <a:gd name="adj" fmla="val 2025"/>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5" name="Shape 13"/>
          <p:cNvSpPr/>
          <p:nvPr/>
        </p:nvSpPr>
        <p:spPr>
          <a:xfrm>
            <a:off x="4498848" y="1618488"/>
            <a:ext cx="502920" cy="502920"/>
          </a:xfrm>
          <a:prstGeom prst="ellipse">
            <a:avLst/>
          </a:prstGeom>
          <a:solidFill>
            <a:srgbClr val="EB5757"/>
          </a:solidFill>
          <a:ln/>
        </p:spPr>
      </p:sp>
      <p:sp>
        <p:nvSpPr>
          <p:cNvPr id="16" name="Text 14"/>
          <p:cNvSpPr/>
          <p:nvPr/>
        </p:nvSpPr>
        <p:spPr>
          <a:xfrm>
            <a:off x="4498848" y="1618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5138928" y="1673352"/>
            <a:ext cx="2560320"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4. Misinformation</a:t>
            </a:r>
            <a:endParaRPr lang="en-US" sz="1350" dirty="0"/>
          </a:p>
        </p:txBody>
      </p:sp>
      <p:sp>
        <p:nvSpPr>
          <p:cNvPr id="18" name="Text 16"/>
          <p:cNvSpPr/>
          <p:nvPr/>
        </p:nvSpPr>
        <p:spPr>
          <a:xfrm>
            <a:off x="4498848" y="2286000"/>
            <a:ext cx="3154680" cy="457200"/>
          </a:xfrm>
          <a:prstGeom prst="rect">
            <a:avLst/>
          </a:prstGeom>
          <a:noFill/>
          <a:ln/>
        </p:spPr>
        <p:txBody>
          <a:bodyPr wrap="square" rtlCol="0" anchor="ctr"/>
          <a:lstStyle/>
          <a:p>
            <a:pPr indent="0" marL="0">
              <a:buNone/>
            </a:pPr>
            <a:r>
              <a:rPr lang="en-US" sz="1000" i="1" dirty="0">
                <a:solidFill>
                  <a:srgbClr val="5A6B87"/>
                </a:solidFill>
                <a:latin typeface="Calibri" pitchFamily="34" charset="0"/>
                <a:ea typeface="Calibri" pitchFamily="34" charset="-122"/>
                <a:cs typeface="Calibri" pitchFamily="34" charset="-120"/>
              </a:rPr>
              <a:t>"AI doesn't know the truth. It only knows patterns."</a:t>
            </a:r>
            <a:endParaRPr lang="en-US" sz="1000" dirty="0"/>
          </a:p>
        </p:txBody>
      </p:sp>
      <p:sp>
        <p:nvSpPr>
          <p:cNvPr id="19" name="Text 17"/>
          <p:cNvSpPr/>
          <p:nvPr/>
        </p:nvSpPr>
        <p:spPr>
          <a:xfrm>
            <a:off x="4498848" y="2788920"/>
            <a:ext cx="3154680" cy="822960"/>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AI can generate false but confident-sounding answers — this is called hallucination.</a:t>
            </a:r>
            <a:endParaRPr lang="en-US" sz="1000" dirty="0"/>
          </a:p>
        </p:txBody>
      </p:sp>
      <p:sp>
        <p:nvSpPr>
          <p:cNvPr id="20" name="Shape 18"/>
          <p:cNvSpPr/>
          <p:nvPr/>
        </p:nvSpPr>
        <p:spPr>
          <a:xfrm>
            <a:off x="4453128" y="3657600"/>
            <a:ext cx="3246120" cy="1051560"/>
          </a:xfrm>
          <a:prstGeom prst="roundRect">
            <a:avLst>
              <a:gd name="adj" fmla="val 6957"/>
            </a:avLst>
          </a:prstGeom>
          <a:solidFill>
            <a:srgbClr val="F4F6FB"/>
          </a:solidFill>
          <a:ln w="12700">
            <a:solidFill>
              <a:srgbClr val="CADCFC"/>
            </a:solidFill>
            <a:prstDash val="solid"/>
          </a:ln>
        </p:spPr>
      </p:sp>
      <p:sp>
        <p:nvSpPr>
          <p:cNvPr id="21" name="Text 19"/>
          <p:cNvSpPr/>
          <p:nvPr/>
        </p:nvSpPr>
        <p:spPr>
          <a:xfrm>
            <a:off x="4590288" y="3657600"/>
            <a:ext cx="2971800" cy="1051560"/>
          </a:xfrm>
          <a:prstGeom prst="rect">
            <a:avLst/>
          </a:prstGeom>
          <a:noFill/>
          <a:ln/>
        </p:spPr>
        <p:txBody>
          <a:bodyPr wrap="square" rtlCol="0" anchor="ctr"/>
          <a:lstStyle/>
          <a:p>
            <a:pPr indent="0" marL="0">
              <a:buNone/>
            </a:pPr>
            <a:r>
              <a:rPr lang="en-US" sz="900" dirty="0">
                <a:solidFill>
                  <a:srgbClr val="1E2761"/>
                </a:solidFill>
                <a:latin typeface="Calibri" pitchFamily="34" charset="0"/>
                <a:ea typeface="Calibri" pitchFamily="34" charset="-122"/>
                <a:cs typeface="Calibri" pitchFamily="34" charset="-120"/>
              </a:rPr>
              <a:t>A New York lawyer (2023) submitted ChatGPT-fabricated legal case references to a court and was sanctioned.</a:t>
            </a:r>
            <a:endParaRPr lang="en-US" sz="900" dirty="0"/>
          </a:p>
        </p:txBody>
      </p:sp>
      <p:sp>
        <p:nvSpPr>
          <p:cNvPr id="22" name="Text 20"/>
          <p:cNvSpPr/>
          <p:nvPr/>
        </p:nvSpPr>
        <p:spPr>
          <a:xfrm>
            <a:off x="4498848" y="4818888"/>
            <a:ext cx="3154680" cy="256032"/>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How to handle it:</a:t>
            </a:r>
            <a:endParaRPr lang="en-US" sz="950" dirty="0"/>
          </a:p>
        </p:txBody>
      </p:sp>
      <p:sp>
        <p:nvSpPr>
          <p:cNvPr id="23" name="Text 21"/>
          <p:cNvSpPr/>
          <p:nvPr/>
        </p:nvSpPr>
        <p:spPr>
          <a:xfrm>
            <a:off x="4498848" y="5074920"/>
            <a:ext cx="3154680" cy="1188720"/>
          </a:xfrm>
          <a:prstGeom prst="rect">
            <a:avLst/>
          </a:prstGeom>
          <a:noFill/>
          <a:ln/>
        </p:spPr>
        <p:txBody>
          <a:bodyPr wrap="square" rtlCol="0" anchor="ctr"/>
          <a:lstStyle/>
          <a:p>
            <a:pPr indent="0" marL="0">
              <a:buNone/>
            </a:pPr>
            <a:r>
              <a:rPr lang="en-US" sz="900" dirty="0">
                <a:solidFill>
                  <a:srgbClr val="5A6B87"/>
                </a:solidFill>
                <a:latin typeface="Calibri" pitchFamily="34" charset="0"/>
                <a:ea typeface="Calibri" pitchFamily="34" charset="-122"/>
                <a:cs typeface="Calibri" pitchFamily="34" charset="-120"/>
              </a:rPr>
              <a:t>Always fact-check AI outputs • cross-check with trusted sources • use verified training data</a:t>
            </a:r>
            <a:endParaRPr lang="en-US" sz="900" dirty="0"/>
          </a:p>
        </p:txBody>
      </p:sp>
      <p:sp>
        <p:nvSpPr>
          <p:cNvPr id="24" name="Shape 22"/>
          <p:cNvSpPr/>
          <p:nvPr/>
        </p:nvSpPr>
        <p:spPr>
          <a:xfrm>
            <a:off x="8083296" y="1417320"/>
            <a:ext cx="3611880" cy="4892040"/>
          </a:xfrm>
          <a:prstGeom prst="roundRect">
            <a:avLst>
              <a:gd name="adj" fmla="val 2025"/>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5" name="Shape 23"/>
          <p:cNvSpPr/>
          <p:nvPr/>
        </p:nvSpPr>
        <p:spPr>
          <a:xfrm>
            <a:off x="8311896" y="1618488"/>
            <a:ext cx="502920" cy="502920"/>
          </a:xfrm>
          <a:prstGeom prst="ellipse">
            <a:avLst/>
          </a:prstGeom>
          <a:solidFill>
            <a:srgbClr val="1E2761"/>
          </a:solidFill>
          <a:ln/>
        </p:spPr>
      </p:sp>
      <p:sp>
        <p:nvSpPr>
          <p:cNvPr id="26" name="Text 24"/>
          <p:cNvSpPr/>
          <p:nvPr/>
        </p:nvSpPr>
        <p:spPr>
          <a:xfrm>
            <a:off x="8311896" y="1618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8951976" y="1673352"/>
            <a:ext cx="2560320" cy="45720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5. Deepfakes &amp; Misuse</a:t>
            </a:r>
            <a:endParaRPr lang="en-US" sz="1350" dirty="0"/>
          </a:p>
        </p:txBody>
      </p:sp>
      <p:sp>
        <p:nvSpPr>
          <p:cNvPr id="28" name="Text 26"/>
          <p:cNvSpPr/>
          <p:nvPr/>
        </p:nvSpPr>
        <p:spPr>
          <a:xfrm>
            <a:off x="8311896" y="2286000"/>
            <a:ext cx="3154680" cy="457200"/>
          </a:xfrm>
          <a:prstGeom prst="rect">
            <a:avLst/>
          </a:prstGeom>
          <a:noFill/>
          <a:ln/>
        </p:spPr>
        <p:txBody>
          <a:bodyPr wrap="square" rtlCol="0" anchor="ctr"/>
          <a:lstStyle/>
          <a:p>
            <a:pPr indent="0" marL="0">
              <a:buNone/>
            </a:pPr>
            <a:r>
              <a:rPr lang="en-US" sz="1000" i="1" dirty="0">
                <a:solidFill>
                  <a:srgbClr val="5A6B87"/>
                </a:solidFill>
                <a:latin typeface="Calibri" pitchFamily="34" charset="0"/>
                <a:ea typeface="Calibri" pitchFamily="34" charset="-122"/>
                <a:cs typeface="Calibri" pitchFamily="34" charset="-120"/>
              </a:rPr>
              <a:t>"The same AI that makes a fun meme can also ruin lives."</a:t>
            </a:r>
            <a:endParaRPr lang="en-US" sz="1000" dirty="0"/>
          </a:p>
        </p:txBody>
      </p:sp>
      <p:sp>
        <p:nvSpPr>
          <p:cNvPr id="29" name="Text 27"/>
          <p:cNvSpPr/>
          <p:nvPr/>
        </p:nvSpPr>
        <p:spPr>
          <a:xfrm>
            <a:off x="8311896" y="2788920"/>
            <a:ext cx="3154680" cy="822960"/>
          </a:xfrm>
          <a:prstGeom prst="rect">
            <a:avLst/>
          </a:prstGeom>
          <a:noFill/>
          <a:ln/>
        </p:spPr>
        <p:txBody>
          <a:bodyPr wrap="square" rtlCol="0" anchor="ctr"/>
          <a:lstStyle/>
          <a:p>
            <a:pPr indent="0" marL="0">
              <a:buNone/>
            </a:pPr>
            <a:r>
              <a:rPr lang="en-US" sz="1000" dirty="0">
                <a:solidFill>
                  <a:srgbClr val="5A6B87"/>
                </a:solidFill>
                <a:latin typeface="Calibri" pitchFamily="34" charset="0"/>
                <a:ea typeface="Calibri" pitchFamily="34" charset="-122"/>
                <a:cs typeface="Calibri" pitchFamily="34" charset="-120"/>
              </a:rPr>
              <a:t>AI-generated fake videos/voices can look and sound real — dangerous for deception or blackmail.</a:t>
            </a:r>
            <a:endParaRPr lang="en-US" sz="1000" dirty="0"/>
          </a:p>
        </p:txBody>
      </p:sp>
      <p:sp>
        <p:nvSpPr>
          <p:cNvPr id="30" name="Shape 28"/>
          <p:cNvSpPr/>
          <p:nvPr/>
        </p:nvSpPr>
        <p:spPr>
          <a:xfrm>
            <a:off x="8266176" y="3657600"/>
            <a:ext cx="3246120" cy="1051560"/>
          </a:xfrm>
          <a:prstGeom prst="roundRect">
            <a:avLst>
              <a:gd name="adj" fmla="val 6957"/>
            </a:avLst>
          </a:prstGeom>
          <a:solidFill>
            <a:srgbClr val="F4F6FB"/>
          </a:solidFill>
          <a:ln w="12700">
            <a:solidFill>
              <a:srgbClr val="CADCFC"/>
            </a:solidFill>
            <a:prstDash val="solid"/>
          </a:ln>
        </p:spPr>
      </p:sp>
      <p:sp>
        <p:nvSpPr>
          <p:cNvPr id="31" name="Text 29"/>
          <p:cNvSpPr/>
          <p:nvPr/>
        </p:nvSpPr>
        <p:spPr>
          <a:xfrm>
            <a:off x="8403336" y="3657600"/>
            <a:ext cx="2971800" cy="1051560"/>
          </a:xfrm>
          <a:prstGeom prst="rect">
            <a:avLst/>
          </a:prstGeom>
          <a:noFill/>
          <a:ln/>
        </p:spPr>
        <p:txBody>
          <a:bodyPr wrap="square" rtlCol="0" anchor="ctr"/>
          <a:lstStyle/>
          <a:p>
            <a:pPr indent="0" marL="0">
              <a:buNone/>
            </a:pPr>
            <a:r>
              <a:rPr lang="en-US" sz="900" dirty="0">
                <a:solidFill>
                  <a:srgbClr val="1E2761"/>
                </a:solidFill>
                <a:latin typeface="Calibri" pitchFamily="34" charset="0"/>
                <a:ea typeface="Calibri" pitchFamily="34" charset="-122"/>
                <a:cs typeface="Calibri" pitchFamily="34" charset="-120"/>
              </a:rPr>
              <a:t>A 2024 deepfake of a world leader urging troops to surrender spread online during wartime before being debunked.</a:t>
            </a:r>
            <a:endParaRPr lang="en-US" sz="900" dirty="0"/>
          </a:p>
        </p:txBody>
      </p:sp>
      <p:sp>
        <p:nvSpPr>
          <p:cNvPr id="32" name="Text 30"/>
          <p:cNvSpPr/>
          <p:nvPr/>
        </p:nvSpPr>
        <p:spPr>
          <a:xfrm>
            <a:off x="8311896" y="4818888"/>
            <a:ext cx="3154680" cy="256032"/>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How to handle it:</a:t>
            </a:r>
            <a:endParaRPr lang="en-US" sz="950" dirty="0"/>
          </a:p>
        </p:txBody>
      </p:sp>
      <p:sp>
        <p:nvSpPr>
          <p:cNvPr id="33" name="Text 31"/>
          <p:cNvSpPr/>
          <p:nvPr/>
        </p:nvSpPr>
        <p:spPr>
          <a:xfrm>
            <a:off x="8311896" y="5074920"/>
            <a:ext cx="3154680" cy="1188720"/>
          </a:xfrm>
          <a:prstGeom prst="rect">
            <a:avLst/>
          </a:prstGeom>
          <a:noFill/>
          <a:ln/>
        </p:spPr>
        <p:txBody>
          <a:bodyPr wrap="square" rtlCol="0" anchor="ctr"/>
          <a:lstStyle/>
          <a:p>
            <a:pPr indent="0" marL="0">
              <a:buNone/>
            </a:pPr>
            <a:r>
              <a:rPr lang="en-US" sz="900" dirty="0">
                <a:solidFill>
                  <a:srgbClr val="5A6B87"/>
                </a:solidFill>
                <a:latin typeface="Calibri" pitchFamily="34" charset="0"/>
                <a:ea typeface="Calibri" pitchFamily="34" charset="-122"/>
                <a:cs typeface="Calibri" pitchFamily="34" charset="-120"/>
              </a:rPr>
              <a:t>Watermark/label AI content • use deepfake detection tools • build public awareness</a:t>
            </a:r>
            <a:endParaRPr lang="en-US" sz="900" dirty="0"/>
          </a:p>
        </p:txBody>
      </p:sp>
      <p:sp>
        <p:nvSpPr>
          <p:cNvPr id="34" name="Text 32"/>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5" name="Text 33"/>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Best Practices — Building AI Ethically</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"The goal isn't to stop AI — it's to guide it responsibly."</a:t>
            </a:r>
            <a:endParaRPr lang="en-US" sz="1400" dirty="0"/>
          </a:p>
        </p:txBody>
      </p:sp>
      <p:sp>
        <p:nvSpPr>
          <p:cNvPr id="4" name="Shape 2"/>
          <p:cNvSpPr/>
          <p:nvPr/>
        </p:nvSpPr>
        <p:spPr>
          <a:xfrm>
            <a:off x="457200" y="1463040"/>
            <a:ext cx="11247120" cy="1005840"/>
          </a:xfrm>
          <a:prstGeom prst="roundRect">
            <a:avLst>
              <a:gd name="adj" fmla="val 7273"/>
            </a:avLst>
          </a:prstGeom>
          <a:solidFill>
            <a:srgbClr val="1E2761"/>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731520" y="1554480"/>
            <a:ext cx="10698480" cy="320040"/>
          </a:xfrm>
          <a:prstGeom prst="rect">
            <a:avLst/>
          </a:prstGeom>
          <a:noFill/>
          <a:ln/>
        </p:spPr>
        <p:txBody>
          <a:bodyPr wrap="square" rtlCol="0" anchor="ctr"/>
          <a:lstStyle/>
          <a:p>
            <a:pPr indent="0" marL="0">
              <a:buNone/>
            </a:pPr>
            <a:r>
              <a:rPr lang="en-US" sz="1250" b="1" dirty="0">
                <a:solidFill>
                  <a:srgbClr val="3EC1D3"/>
                </a:solidFill>
                <a:latin typeface="Calibri" pitchFamily="34" charset="0"/>
                <a:ea typeface="Calibri" pitchFamily="34" charset="-122"/>
                <a:cs typeface="Calibri" pitchFamily="34" charset="-120"/>
              </a:rPr>
              <a:t>Real-world example — Google's AI Principles (2018)</a:t>
            </a:r>
            <a:endParaRPr lang="en-US" sz="1250" dirty="0"/>
          </a:p>
        </p:txBody>
      </p:sp>
      <p:sp>
        <p:nvSpPr>
          <p:cNvPr id="6" name="Text 4"/>
          <p:cNvSpPr/>
          <p:nvPr/>
        </p:nvSpPr>
        <p:spPr>
          <a:xfrm>
            <a:off x="731520" y="1874520"/>
            <a:ext cx="10698480" cy="5029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public commitment not to pursue AI for surveillance or weapons, and to design models with fairness, privacy, and accountability in mind.</a:t>
            </a:r>
            <a:endParaRPr lang="en-US" sz="1150" dirty="0"/>
          </a:p>
        </p:txBody>
      </p:sp>
      <p:sp>
        <p:nvSpPr>
          <p:cNvPr id="7" name="Shape 5"/>
          <p:cNvSpPr/>
          <p:nvPr/>
        </p:nvSpPr>
        <p:spPr>
          <a:xfrm>
            <a:off x="457200" y="2788920"/>
            <a:ext cx="2121408" cy="35204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8" name="Shape 6"/>
          <p:cNvSpPr/>
          <p:nvPr/>
        </p:nvSpPr>
        <p:spPr>
          <a:xfrm>
            <a:off x="1197864" y="3063240"/>
            <a:ext cx="640080" cy="640080"/>
          </a:xfrm>
          <a:prstGeom prst="ellipse">
            <a:avLst/>
          </a:prstGeom>
          <a:solidFill>
            <a:srgbClr val="1E2761"/>
          </a:solidFill>
          <a:ln/>
        </p:spPr>
      </p:sp>
      <p:sp>
        <p:nvSpPr>
          <p:cNvPr id="9" name="Text 7"/>
          <p:cNvSpPr/>
          <p:nvPr/>
        </p:nvSpPr>
        <p:spPr>
          <a:xfrm>
            <a:off x="1197864" y="3063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594360" y="3931920"/>
            <a:ext cx="1847088" cy="54864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Transparency</a:t>
            </a:r>
            <a:endParaRPr lang="en-US" sz="1250" dirty="0"/>
          </a:p>
        </p:txBody>
      </p:sp>
      <p:sp>
        <p:nvSpPr>
          <p:cNvPr id="11" name="Text 9"/>
          <p:cNvSpPr/>
          <p:nvPr/>
        </p:nvSpPr>
        <p:spPr>
          <a:xfrm>
            <a:off x="640080" y="4572000"/>
            <a:ext cx="1755648" cy="1554480"/>
          </a:xfrm>
          <a:prstGeom prst="rect">
            <a:avLst/>
          </a:prstGeom>
          <a:noFill/>
          <a:ln/>
        </p:spPr>
        <p:txBody>
          <a:bodyPr wrap="square"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Let users know when content is AI-generated</a:t>
            </a:r>
            <a:endParaRPr lang="en-US" sz="1000" dirty="0"/>
          </a:p>
        </p:txBody>
      </p:sp>
      <p:sp>
        <p:nvSpPr>
          <p:cNvPr id="12" name="Shape 10"/>
          <p:cNvSpPr/>
          <p:nvPr/>
        </p:nvSpPr>
        <p:spPr>
          <a:xfrm>
            <a:off x="2715768" y="2788920"/>
            <a:ext cx="2121408" cy="35204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3" name="Shape 11"/>
          <p:cNvSpPr/>
          <p:nvPr/>
        </p:nvSpPr>
        <p:spPr>
          <a:xfrm>
            <a:off x="3456432" y="3063240"/>
            <a:ext cx="640080" cy="640080"/>
          </a:xfrm>
          <a:prstGeom prst="ellipse">
            <a:avLst/>
          </a:prstGeom>
          <a:solidFill>
            <a:srgbClr val="3EC1D3"/>
          </a:solidFill>
          <a:ln/>
        </p:spPr>
      </p:sp>
      <p:sp>
        <p:nvSpPr>
          <p:cNvPr id="14" name="Text 12"/>
          <p:cNvSpPr/>
          <p:nvPr/>
        </p:nvSpPr>
        <p:spPr>
          <a:xfrm>
            <a:off x="3456432" y="3063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2852928" y="3931920"/>
            <a:ext cx="1847088" cy="54864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Inclusivity</a:t>
            </a:r>
            <a:endParaRPr lang="en-US" sz="1250" dirty="0"/>
          </a:p>
        </p:txBody>
      </p:sp>
      <p:sp>
        <p:nvSpPr>
          <p:cNvPr id="16" name="Text 14"/>
          <p:cNvSpPr/>
          <p:nvPr/>
        </p:nvSpPr>
        <p:spPr>
          <a:xfrm>
            <a:off x="2898648" y="4572000"/>
            <a:ext cx="1755648" cy="1554480"/>
          </a:xfrm>
          <a:prstGeom prst="rect">
            <a:avLst/>
          </a:prstGeom>
          <a:noFill/>
          <a:ln/>
        </p:spPr>
        <p:txBody>
          <a:bodyPr wrap="square"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Test models across genders, cultures &amp; languages</a:t>
            </a:r>
            <a:endParaRPr lang="en-US" sz="1000" dirty="0"/>
          </a:p>
        </p:txBody>
      </p:sp>
      <p:sp>
        <p:nvSpPr>
          <p:cNvPr id="17" name="Shape 15"/>
          <p:cNvSpPr/>
          <p:nvPr/>
        </p:nvSpPr>
        <p:spPr>
          <a:xfrm>
            <a:off x="4974336" y="2788920"/>
            <a:ext cx="2121408" cy="35204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8" name="Shape 16"/>
          <p:cNvSpPr/>
          <p:nvPr/>
        </p:nvSpPr>
        <p:spPr>
          <a:xfrm>
            <a:off x="5715000" y="3063240"/>
            <a:ext cx="640080" cy="640080"/>
          </a:xfrm>
          <a:prstGeom prst="ellipse">
            <a:avLst/>
          </a:prstGeom>
          <a:solidFill>
            <a:srgbClr val="F2994A"/>
          </a:solidFill>
          <a:ln/>
        </p:spPr>
      </p:sp>
      <p:sp>
        <p:nvSpPr>
          <p:cNvPr id="19" name="Text 17"/>
          <p:cNvSpPr/>
          <p:nvPr/>
        </p:nvSpPr>
        <p:spPr>
          <a:xfrm>
            <a:off x="5715000" y="3063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5111496" y="3931920"/>
            <a:ext cx="1847088" cy="54864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Accountability</a:t>
            </a:r>
            <a:endParaRPr lang="en-US" sz="1250" dirty="0"/>
          </a:p>
        </p:txBody>
      </p:sp>
      <p:sp>
        <p:nvSpPr>
          <p:cNvPr id="21" name="Text 19"/>
          <p:cNvSpPr/>
          <p:nvPr/>
        </p:nvSpPr>
        <p:spPr>
          <a:xfrm>
            <a:off x="5157216" y="4572000"/>
            <a:ext cx="1755648" cy="1554480"/>
          </a:xfrm>
          <a:prstGeom prst="rect">
            <a:avLst/>
          </a:prstGeom>
          <a:noFill/>
          <a:ln/>
        </p:spPr>
        <p:txBody>
          <a:bodyPr wrap="square"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If something goes wrong, someone must own it</a:t>
            </a:r>
            <a:endParaRPr lang="en-US" sz="1000" dirty="0"/>
          </a:p>
        </p:txBody>
      </p:sp>
      <p:sp>
        <p:nvSpPr>
          <p:cNvPr id="22" name="Shape 20"/>
          <p:cNvSpPr/>
          <p:nvPr/>
        </p:nvSpPr>
        <p:spPr>
          <a:xfrm>
            <a:off x="7232904" y="2788920"/>
            <a:ext cx="2121408" cy="35204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3" name="Shape 21"/>
          <p:cNvSpPr/>
          <p:nvPr/>
        </p:nvSpPr>
        <p:spPr>
          <a:xfrm>
            <a:off x="7973568" y="3063240"/>
            <a:ext cx="640080" cy="640080"/>
          </a:xfrm>
          <a:prstGeom prst="ellipse">
            <a:avLst/>
          </a:prstGeom>
          <a:solidFill>
            <a:srgbClr val="27AE60"/>
          </a:solidFill>
          <a:ln/>
        </p:spPr>
      </p:sp>
      <p:sp>
        <p:nvSpPr>
          <p:cNvPr id="24" name="Text 22"/>
          <p:cNvSpPr/>
          <p:nvPr/>
        </p:nvSpPr>
        <p:spPr>
          <a:xfrm>
            <a:off x="7973568" y="3063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7370064" y="3931920"/>
            <a:ext cx="1847088" cy="54864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Consent</a:t>
            </a:r>
            <a:endParaRPr lang="en-US" sz="1250" dirty="0"/>
          </a:p>
        </p:txBody>
      </p:sp>
      <p:sp>
        <p:nvSpPr>
          <p:cNvPr id="26" name="Text 24"/>
          <p:cNvSpPr/>
          <p:nvPr/>
        </p:nvSpPr>
        <p:spPr>
          <a:xfrm>
            <a:off x="7415784" y="4572000"/>
            <a:ext cx="1755648" cy="1554480"/>
          </a:xfrm>
          <a:prstGeom prst="rect">
            <a:avLst/>
          </a:prstGeom>
          <a:noFill/>
          <a:ln/>
        </p:spPr>
        <p:txBody>
          <a:bodyPr wrap="square"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Always respect data privacy &amp; user rights</a:t>
            </a:r>
            <a:endParaRPr lang="en-US" sz="1000" dirty="0"/>
          </a:p>
        </p:txBody>
      </p:sp>
      <p:sp>
        <p:nvSpPr>
          <p:cNvPr id="27" name="Shape 25"/>
          <p:cNvSpPr/>
          <p:nvPr/>
        </p:nvSpPr>
        <p:spPr>
          <a:xfrm>
            <a:off x="9491472" y="2788920"/>
            <a:ext cx="2121408" cy="3520440"/>
          </a:xfrm>
          <a:prstGeom prst="roundRect">
            <a:avLst>
              <a:gd name="adj" fmla="val 3448"/>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28" name="Shape 26"/>
          <p:cNvSpPr/>
          <p:nvPr/>
        </p:nvSpPr>
        <p:spPr>
          <a:xfrm>
            <a:off x="10232136" y="3063240"/>
            <a:ext cx="640080" cy="640080"/>
          </a:xfrm>
          <a:prstGeom prst="ellipse">
            <a:avLst/>
          </a:prstGeom>
          <a:solidFill>
            <a:srgbClr val="141B45"/>
          </a:solidFill>
          <a:ln/>
        </p:spPr>
      </p:sp>
      <p:sp>
        <p:nvSpPr>
          <p:cNvPr id="29" name="Text 27"/>
          <p:cNvSpPr/>
          <p:nvPr/>
        </p:nvSpPr>
        <p:spPr>
          <a:xfrm>
            <a:off x="10232136" y="30632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0" name="Text 28"/>
          <p:cNvSpPr/>
          <p:nvPr/>
        </p:nvSpPr>
        <p:spPr>
          <a:xfrm>
            <a:off x="9628632" y="3931920"/>
            <a:ext cx="1847088" cy="54864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Continuous Feedback</a:t>
            </a:r>
            <a:endParaRPr lang="en-US" sz="1250" dirty="0"/>
          </a:p>
        </p:txBody>
      </p:sp>
      <p:sp>
        <p:nvSpPr>
          <p:cNvPr id="31" name="Text 29"/>
          <p:cNvSpPr/>
          <p:nvPr/>
        </p:nvSpPr>
        <p:spPr>
          <a:xfrm>
            <a:off x="9674352" y="4572000"/>
            <a:ext cx="1755648" cy="1554480"/>
          </a:xfrm>
          <a:prstGeom prst="rect">
            <a:avLst/>
          </a:prstGeom>
          <a:noFill/>
          <a:ln/>
        </p:spPr>
        <p:txBody>
          <a:bodyPr wrap="square"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Keep improving the model based on human input</a:t>
            </a:r>
            <a:endParaRPr lang="en-US" sz="1000" dirty="0"/>
          </a:p>
        </p:txBody>
      </p:sp>
      <p:sp>
        <p:nvSpPr>
          <p:cNvPr id="32" name="Text 30"/>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33" name="Text 31"/>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1645920"/>
            <a:ext cx="4114800" cy="4114800"/>
          </a:xfrm>
          <a:prstGeom prst="ellipse">
            <a:avLst/>
          </a:prstGeom>
          <a:solidFill>
            <a:srgbClr val="141B45"/>
          </a:solidFill>
          <a:ln/>
        </p:spPr>
      </p:sp>
      <p:sp>
        <p:nvSpPr>
          <p:cNvPr id="3" name="Shape 1"/>
          <p:cNvSpPr/>
          <p:nvPr/>
        </p:nvSpPr>
        <p:spPr>
          <a:xfrm>
            <a:off x="10241280" y="5120640"/>
            <a:ext cx="3108960" cy="3108960"/>
          </a:xfrm>
          <a:prstGeom prst="ellipse">
            <a:avLst/>
          </a:prstGeom>
          <a:solidFill>
            <a:srgbClr val="141B45"/>
          </a:solidFill>
          <a:ln/>
        </p:spPr>
      </p:sp>
      <p:sp>
        <p:nvSpPr>
          <p:cNvPr id="4" name="Text 2"/>
          <p:cNvSpPr/>
          <p:nvPr/>
        </p:nvSpPr>
        <p:spPr>
          <a:xfrm>
            <a:off x="548640" y="365760"/>
            <a:ext cx="73152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5" name="Shape 3"/>
          <p:cNvSpPr/>
          <p:nvPr/>
        </p:nvSpPr>
        <p:spPr>
          <a:xfrm>
            <a:off x="548640" y="1188720"/>
            <a:ext cx="457200" cy="457200"/>
          </a:xfrm>
          <a:prstGeom prst="ellipse">
            <a:avLst/>
          </a:prstGeom>
          <a:solidFill>
            <a:srgbClr val="F2994A"/>
          </a:solidFill>
          <a:ln/>
        </p:spPr>
      </p:sp>
      <p:sp>
        <p:nvSpPr>
          <p:cNvPr id="6" name="Text 4"/>
          <p:cNvSpPr/>
          <p:nvPr/>
        </p:nvSpPr>
        <p:spPr>
          <a:xfrm>
            <a:off x="548640" y="11887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234440" y="1133856"/>
            <a:ext cx="102412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LLM Training Pipeline</a:t>
            </a:r>
            <a:endParaRPr lang="en-US" sz="1400" dirty="0"/>
          </a:p>
        </p:txBody>
      </p:sp>
      <p:sp>
        <p:nvSpPr>
          <p:cNvPr id="8" name="Text 6"/>
          <p:cNvSpPr/>
          <p:nvPr/>
        </p:nvSpPr>
        <p:spPr>
          <a:xfrm>
            <a:off x="1234440" y="1481328"/>
            <a:ext cx="10241280" cy="566928"/>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Generative pre-training → Supervised fine-tuning → RLHF, aligning raw language ability with human preference.</a:t>
            </a:r>
            <a:endParaRPr lang="en-US" sz="1100" dirty="0"/>
          </a:p>
        </p:txBody>
      </p:sp>
      <p:sp>
        <p:nvSpPr>
          <p:cNvPr id="9" name="Shape 7"/>
          <p:cNvSpPr/>
          <p:nvPr/>
        </p:nvSpPr>
        <p:spPr>
          <a:xfrm>
            <a:off x="548640" y="2176272"/>
            <a:ext cx="457200" cy="457200"/>
          </a:xfrm>
          <a:prstGeom prst="ellipse">
            <a:avLst/>
          </a:prstGeom>
          <a:solidFill>
            <a:srgbClr val="F2994A"/>
          </a:solidFill>
          <a:ln/>
        </p:spPr>
      </p:sp>
      <p:sp>
        <p:nvSpPr>
          <p:cNvPr id="10" name="Text 8"/>
          <p:cNvSpPr/>
          <p:nvPr/>
        </p:nvSpPr>
        <p:spPr>
          <a:xfrm>
            <a:off x="548640" y="21762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234440" y="2121408"/>
            <a:ext cx="102412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 Open vs Closed Source</a:t>
            </a:r>
            <a:endParaRPr lang="en-US" sz="1400" dirty="0"/>
          </a:p>
        </p:txBody>
      </p:sp>
      <p:sp>
        <p:nvSpPr>
          <p:cNvPr id="12" name="Text 10"/>
          <p:cNvSpPr/>
          <p:nvPr/>
        </p:nvSpPr>
        <p:spPr>
          <a:xfrm>
            <a:off x="1234440" y="2468880"/>
            <a:ext cx="10241280" cy="566928"/>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Open (LLaMA, Gemma, Qwen) = transparent, customizable, offline. Closed (ChatGPT, Gemini, Claude) = high performance, less flexible.</a:t>
            </a:r>
            <a:endParaRPr lang="en-US" sz="1100" dirty="0"/>
          </a:p>
        </p:txBody>
      </p:sp>
      <p:sp>
        <p:nvSpPr>
          <p:cNvPr id="13" name="Shape 11"/>
          <p:cNvSpPr/>
          <p:nvPr/>
        </p:nvSpPr>
        <p:spPr>
          <a:xfrm>
            <a:off x="548640" y="3163824"/>
            <a:ext cx="457200" cy="457200"/>
          </a:xfrm>
          <a:prstGeom prst="ellipse">
            <a:avLst/>
          </a:prstGeom>
          <a:solidFill>
            <a:srgbClr val="F2994A"/>
          </a:solidFill>
          <a:ln/>
        </p:spPr>
      </p:sp>
      <p:sp>
        <p:nvSpPr>
          <p:cNvPr id="14" name="Text 12"/>
          <p:cNvSpPr/>
          <p:nvPr/>
        </p:nvSpPr>
        <p:spPr>
          <a:xfrm>
            <a:off x="548640" y="316382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234440" y="3108960"/>
            <a:ext cx="102412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3. Small Language Models</a:t>
            </a:r>
            <a:endParaRPr lang="en-US" sz="1400" dirty="0"/>
          </a:p>
        </p:txBody>
      </p:sp>
      <p:sp>
        <p:nvSpPr>
          <p:cNvPr id="16" name="Text 14"/>
          <p:cNvSpPr/>
          <p:nvPr/>
        </p:nvSpPr>
        <p:spPr>
          <a:xfrm>
            <a:off x="1234440" y="3456432"/>
            <a:ext cx="10241280" cy="566928"/>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Phi, Gemma (2B/7B) — lightweight, resource-efficient alternatives ideal for mobile, offline &amp; data-sensitive use.</a:t>
            </a:r>
            <a:endParaRPr lang="en-US" sz="1100" dirty="0"/>
          </a:p>
        </p:txBody>
      </p:sp>
      <p:sp>
        <p:nvSpPr>
          <p:cNvPr id="17" name="Shape 15"/>
          <p:cNvSpPr/>
          <p:nvPr/>
        </p:nvSpPr>
        <p:spPr>
          <a:xfrm>
            <a:off x="548640" y="4151376"/>
            <a:ext cx="457200" cy="457200"/>
          </a:xfrm>
          <a:prstGeom prst="ellipse">
            <a:avLst/>
          </a:prstGeom>
          <a:solidFill>
            <a:srgbClr val="F2994A"/>
          </a:solidFill>
          <a:ln/>
        </p:spPr>
      </p:sp>
      <p:sp>
        <p:nvSpPr>
          <p:cNvPr id="18" name="Text 16"/>
          <p:cNvSpPr/>
          <p:nvPr/>
        </p:nvSpPr>
        <p:spPr>
          <a:xfrm>
            <a:off x="548640" y="415137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234440" y="4096512"/>
            <a:ext cx="102412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4. Ethics in GenAI</a:t>
            </a:r>
            <a:endParaRPr lang="en-US" sz="1400" dirty="0"/>
          </a:p>
        </p:txBody>
      </p:sp>
      <p:sp>
        <p:nvSpPr>
          <p:cNvPr id="20" name="Text 18"/>
          <p:cNvSpPr/>
          <p:nvPr/>
        </p:nvSpPr>
        <p:spPr>
          <a:xfrm>
            <a:off x="1234440" y="4443984"/>
            <a:ext cx="10241280" cy="566928"/>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Responsible use means watching for bias, privacy breaches, misinformation, IP issues &amp; misuse — with transparency &amp; human oversight.</a:t>
            </a:r>
            <a:endParaRPr lang="en-US" sz="1100" dirty="0"/>
          </a:p>
        </p:txBody>
      </p:sp>
      <p:sp>
        <p:nvSpPr>
          <p:cNvPr id="21" name="Shape 19"/>
          <p:cNvSpPr/>
          <p:nvPr/>
        </p:nvSpPr>
        <p:spPr>
          <a:xfrm>
            <a:off x="548640" y="5138928"/>
            <a:ext cx="457200" cy="457200"/>
          </a:xfrm>
          <a:prstGeom prst="ellipse">
            <a:avLst/>
          </a:prstGeom>
          <a:solidFill>
            <a:srgbClr val="F2994A"/>
          </a:solidFill>
          <a:ln/>
        </p:spPr>
      </p:sp>
      <p:sp>
        <p:nvSpPr>
          <p:cNvPr id="22" name="Text 20"/>
          <p:cNvSpPr/>
          <p:nvPr/>
        </p:nvSpPr>
        <p:spPr>
          <a:xfrm>
            <a:off x="548640" y="513892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234440" y="5084064"/>
            <a:ext cx="102412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5. Practice Matters</a:t>
            </a:r>
            <a:endParaRPr lang="en-US" sz="1400" dirty="0"/>
          </a:p>
        </p:txBody>
      </p:sp>
      <p:sp>
        <p:nvSpPr>
          <p:cNvPr id="24" name="Text 22"/>
          <p:cNvSpPr/>
          <p:nvPr/>
        </p:nvSpPr>
        <p:spPr>
          <a:xfrm>
            <a:off x="1234440" y="5431536"/>
            <a:ext cx="10241280" cy="566928"/>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Try both open-source (Hugging Face) and closed-source tools (ChatGPT, Gemini, Claude) with good &amp; bad prompts to see behavior differ.</a:t>
            </a:r>
            <a:endParaRPr lang="en-US" sz="1100" dirty="0"/>
          </a:p>
        </p:txBody>
      </p:sp>
      <p:sp>
        <p:nvSpPr>
          <p:cNvPr id="25" name="Text 23"/>
          <p:cNvSpPr/>
          <p:nvPr/>
        </p:nvSpPr>
        <p:spPr>
          <a:xfrm>
            <a:off x="457200" y="6528816"/>
            <a:ext cx="7315200" cy="274320"/>
          </a:xfrm>
          <a:prstGeom prst="rect">
            <a:avLst/>
          </a:prstGeom>
          <a:noFill/>
          <a:ln/>
        </p:spPr>
        <p:txBody>
          <a:bodyPr wrap="square" rtlCol="0" anchor="ctr"/>
          <a:lstStyle/>
          <a:p>
            <a:pPr algn="l" indent="0" marL="0">
              <a:buNone/>
            </a:pPr>
            <a:endParaRPr lang="en-US" sz="1000" dirty="0"/>
          </a:p>
        </p:txBody>
      </p:sp>
      <p:sp>
        <p:nvSpPr>
          <p:cNvPr id="26" name="Text 24"/>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Resources for Hands-On Practice</a:t>
            </a:r>
            <a:endParaRPr lang="en-US" sz="3000" dirty="0"/>
          </a:p>
        </p:txBody>
      </p:sp>
      <p:sp>
        <p:nvSpPr>
          <p:cNvPr id="3" name="Text 1"/>
          <p:cNvSpPr/>
          <p:nvPr/>
        </p:nvSpPr>
        <p:spPr>
          <a:xfrm>
            <a:off x="457200" y="896112"/>
            <a:ext cx="11247120" cy="365760"/>
          </a:xfrm>
          <a:prstGeom prst="rect">
            <a:avLst/>
          </a:prstGeom>
          <a:noFill/>
          <a:ln/>
        </p:spPr>
        <p:txBody>
          <a:bodyPr wrap="square" rtlCol="0" anchor="ctr"/>
          <a:lstStyle/>
          <a:p>
            <a:pPr indent="0" marL="0">
              <a:buNone/>
            </a:pPr>
            <a:r>
              <a:rPr lang="en-US" sz="1400" i="1" dirty="0">
                <a:solidFill>
                  <a:srgbClr val="5A6B87"/>
                </a:solidFill>
                <a:latin typeface="Calibri" pitchFamily="34" charset="0"/>
                <a:ea typeface="Calibri" pitchFamily="34" charset="-122"/>
                <a:cs typeface="Calibri" pitchFamily="34" charset="-120"/>
              </a:rPr>
              <a:t>Try these platforms yourself — test good vs. bad prompts and compare</a:t>
            </a:r>
            <a:endParaRPr lang="en-US" sz="1400" dirty="0"/>
          </a:p>
        </p:txBody>
      </p:sp>
      <p:sp>
        <p:nvSpPr>
          <p:cNvPr id="4" name="Shape 2"/>
          <p:cNvSpPr/>
          <p:nvPr/>
        </p:nvSpPr>
        <p:spPr>
          <a:xfrm>
            <a:off x="457200" y="1463040"/>
            <a:ext cx="5440680" cy="3657600"/>
          </a:xfrm>
          <a:prstGeom prst="roundRect">
            <a:avLst>
              <a:gd name="adj" fmla="val 2000"/>
            </a:avLst>
          </a:prstGeom>
          <a:solidFill>
            <a:srgbClr val="FFFFFF"/>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5" name="Text 3"/>
          <p:cNvSpPr/>
          <p:nvPr/>
        </p:nvSpPr>
        <p:spPr>
          <a:xfrm>
            <a:off x="685800" y="1645920"/>
            <a:ext cx="502920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 Open-Source (free to use, modify &amp; deploy)</a:t>
            </a:r>
            <a:endParaRPr lang="en-US" sz="1350" dirty="0"/>
          </a:p>
        </p:txBody>
      </p:sp>
      <p:sp>
        <p:nvSpPr>
          <p:cNvPr id="6" name="Text 4"/>
          <p:cNvSpPr/>
          <p:nvPr/>
        </p:nvSpPr>
        <p:spPr>
          <a:xfrm>
            <a:off x="685800" y="2148840"/>
            <a:ext cx="5029200" cy="320040"/>
          </a:xfrm>
          <a:prstGeom prst="rect">
            <a:avLst/>
          </a:prstGeom>
          <a:noFill/>
          <a:ln/>
        </p:spPr>
        <p:txBody>
          <a:bodyPr wrap="square" rtlCol="0" anchor="ctr"/>
          <a:lstStyle/>
          <a:p>
            <a:pPr indent="0" marL="0">
              <a:buNone/>
            </a:pPr>
            <a:r>
              <a:rPr lang="en-US" sz="1150" dirty="0">
                <a:solidFill>
                  <a:srgbClr val="5A6B87"/>
                </a:solidFill>
                <a:latin typeface="Calibri" pitchFamily="34" charset="0"/>
                <a:ea typeface="Calibri" pitchFamily="34" charset="-122"/>
                <a:cs typeface="Calibri" pitchFamily="34" charset="-120"/>
              </a:rPr>
              <a:t>Hugging Face — platform for exploring open-source models</a:t>
            </a:r>
            <a:endParaRPr lang="en-US" sz="1150" dirty="0"/>
          </a:p>
        </p:txBody>
      </p:sp>
      <p:sp>
        <p:nvSpPr>
          <p:cNvPr id="7" name="Text 5"/>
          <p:cNvSpPr/>
          <p:nvPr/>
        </p:nvSpPr>
        <p:spPr>
          <a:xfrm>
            <a:off x="685800" y="2468880"/>
            <a:ext cx="5029200" cy="274320"/>
          </a:xfrm>
          <a:prstGeom prst="rect">
            <a:avLst/>
          </a:prstGeom>
          <a:noFill/>
          <a:ln/>
        </p:spPr>
        <p:txBody>
          <a:bodyPr wrap="square" rtlCol="0" anchor="ctr"/>
          <a:lstStyle/>
          <a:p>
            <a:pPr indent="0" marL="0">
              <a:buNone/>
            </a:pPr>
            <a:r>
              <a:rPr lang="en-US" sz="1050" b="1" dirty="0">
                <a:solidFill>
                  <a:srgbClr val="3EC1D3"/>
                </a:solidFill>
                <a:latin typeface="Calibri" pitchFamily="34" charset="0"/>
                <a:ea typeface="Calibri" pitchFamily="34" charset="-122"/>
                <a:cs typeface="Calibri" pitchFamily="34" charset="-120"/>
              </a:rPr>
              <a:t>huggingface.co</a:t>
            </a:r>
            <a:endParaRPr lang="en-US" sz="1050" dirty="0"/>
          </a:p>
        </p:txBody>
      </p:sp>
      <p:sp>
        <p:nvSpPr>
          <p:cNvPr id="8" name="Text 6"/>
          <p:cNvSpPr/>
          <p:nvPr/>
        </p:nvSpPr>
        <p:spPr>
          <a:xfrm>
            <a:off x="685800" y="2788920"/>
            <a:ext cx="5029200" cy="274320"/>
          </a:xfrm>
          <a:prstGeom prst="rect">
            <a:avLst/>
          </a:prstGeom>
          <a:noFill/>
          <a:ln/>
        </p:spPr>
        <p:txBody>
          <a:bodyPr wrap="square" rtlCol="0" anchor="ctr"/>
          <a:lstStyle/>
          <a:p>
            <a:pPr indent="0" marL="0">
              <a:buNone/>
            </a:pPr>
            <a:r>
              <a:rPr lang="en-US" sz="1050" dirty="0">
                <a:solidFill>
                  <a:srgbClr val="3EC1D3"/>
                </a:solidFill>
                <a:latin typeface="Calibri" pitchFamily="34" charset="0"/>
                <a:ea typeface="Calibri" pitchFamily="34" charset="-122"/>
                <a:cs typeface="Calibri" pitchFamily="34" charset="-120"/>
              </a:rPr>
              <a:t>Try models directly: huggingface.co/chat</a:t>
            </a:r>
            <a:endParaRPr lang="en-US" sz="1050" dirty="0"/>
          </a:p>
        </p:txBody>
      </p:sp>
      <p:sp>
        <p:nvSpPr>
          <p:cNvPr id="9" name="Text 7"/>
          <p:cNvSpPr/>
          <p:nvPr/>
        </p:nvSpPr>
        <p:spPr>
          <a:xfrm>
            <a:off x="685800" y="3383280"/>
            <a:ext cx="502920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 Closed-Source (access via platform)</a:t>
            </a:r>
            <a:endParaRPr lang="en-US" sz="1350" dirty="0"/>
          </a:p>
        </p:txBody>
      </p:sp>
      <p:sp>
        <p:nvSpPr>
          <p:cNvPr id="10" name="Text 8"/>
          <p:cNvSpPr/>
          <p:nvPr/>
        </p:nvSpPr>
        <p:spPr>
          <a:xfrm>
            <a:off x="822960" y="3840480"/>
            <a:ext cx="4846320" cy="32004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ChatGPT (OpenAI)  —  chatgpt.com</a:t>
            </a:r>
            <a:endParaRPr lang="en-US" sz="1050" dirty="0"/>
          </a:p>
        </p:txBody>
      </p:sp>
      <p:sp>
        <p:nvSpPr>
          <p:cNvPr id="11" name="Text 9"/>
          <p:cNvSpPr/>
          <p:nvPr/>
        </p:nvSpPr>
        <p:spPr>
          <a:xfrm>
            <a:off x="822960" y="4224528"/>
            <a:ext cx="4846320" cy="32004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Gemini (Google DeepMind)  —  gemini.google.com/app</a:t>
            </a:r>
            <a:endParaRPr lang="en-US" sz="1050" dirty="0"/>
          </a:p>
        </p:txBody>
      </p:sp>
      <p:sp>
        <p:nvSpPr>
          <p:cNvPr id="12" name="Text 10"/>
          <p:cNvSpPr/>
          <p:nvPr/>
        </p:nvSpPr>
        <p:spPr>
          <a:xfrm>
            <a:off x="822960" y="4608576"/>
            <a:ext cx="4846320" cy="320040"/>
          </a:xfrm>
          <a:prstGeom prst="rect">
            <a:avLst/>
          </a:prstGeom>
          <a:noFill/>
          <a:ln/>
        </p:spPr>
        <p:txBody>
          <a:bodyPr wrap="square" rtlCol="0" anchor="ctr"/>
          <a:lstStyle/>
          <a:p>
            <a:pPr indent="0" marL="0">
              <a:buNone/>
            </a:pPr>
            <a:r>
              <a:rPr lang="en-US" sz="1050" dirty="0">
                <a:solidFill>
                  <a:srgbClr val="5A6B87"/>
                </a:solidFill>
                <a:latin typeface="Calibri" pitchFamily="34" charset="0"/>
                <a:ea typeface="Calibri" pitchFamily="34" charset="-122"/>
                <a:cs typeface="Calibri" pitchFamily="34" charset="-120"/>
              </a:rPr>
              <a:t>Claude (Anthropic)  —  claude.ai/new</a:t>
            </a:r>
            <a:endParaRPr lang="en-US" sz="1050" dirty="0"/>
          </a:p>
        </p:txBody>
      </p:sp>
      <p:sp>
        <p:nvSpPr>
          <p:cNvPr id="13" name="Shape 11"/>
          <p:cNvSpPr/>
          <p:nvPr/>
        </p:nvSpPr>
        <p:spPr>
          <a:xfrm>
            <a:off x="6263640" y="1463040"/>
            <a:ext cx="5440680" cy="3657600"/>
          </a:xfrm>
          <a:prstGeom prst="roundRect">
            <a:avLst>
              <a:gd name="adj" fmla="val 2000"/>
            </a:avLst>
          </a:prstGeom>
          <a:solidFill>
            <a:srgbClr val="F4F6FB"/>
          </a:solidFill>
          <a:ln w="12700">
            <a:solidFill>
              <a:srgbClr val="CADCFC"/>
            </a:solidFill>
            <a:prstDash val="solid"/>
          </a:ln>
          <a:effectLst>
            <a:outerShdw sx="100000" sy="100000" kx="0" ky="0" algn="bl" rotWithShape="0" blurRad="76200" dist="25400" dir="5400000">
              <a:srgbClr val="9AA5B1">
                <a:alpha val="25000"/>
              </a:srgbClr>
            </a:outerShdw>
          </a:effectLst>
        </p:spPr>
      </p:sp>
      <p:sp>
        <p:nvSpPr>
          <p:cNvPr id="14" name="Text 12"/>
          <p:cNvSpPr/>
          <p:nvPr/>
        </p:nvSpPr>
        <p:spPr>
          <a:xfrm>
            <a:off x="6492240" y="1645920"/>
            <a:ext cx="502920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 Stay Current</a:t>
            </a:r>
            <a:endParaRPr lang="en-US" sz="1350" dirty="0"/>
          </a:p>
        </p:txBody>
      </p:sp>
      <p:sp>
        <p:nvSpPr>
          <p:cNvPr id="15" name="Text 13"/>
          <p:cNvSpPr/>
          <p:nvPr/>
        </p:nvSpPr>
        <p:spPr>
          <a:xfrm>
            <a:off x="6492240" y="2148840"/>
            <a:ext cx="5029200" cy="32004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News Trends in AI: artificialintelligence-news.com</a:t>
            </a:r>
            <a:endParaRPr lang="en-US" sz="1100" dirty="0"/>
          </a:p>
        </p:txBody>
      </p:sp>
      <p:sp>
        <p:nvSpPr>
          <p:cNvPr id="16" name="Text 14"/>
          <p:cNvSpPr/>
          <p:nvPr/>
        </p:nvSpPr>
        <p:spPr>
          <a:xfrm>
            <a:off x="6492240" y="2514600"/>
            <a:ext cx="5029200" cy="320040"/>
          </a:xfrm>
          <a:prstGeom prst="rect">
            <a:avLst/>
          </a:prstGeom>
          <a:noFill/>
          <a:ln/>
        </p:spPr>
        <p:txBody>
          <a:bodyPr wrap="square" rtlCol="0" anchor="ctr"/>
          <a:lstStyle/>
          <a:p>
            <a:pPr indent="0" marL="0">
              <a:buNone/>
            </a:pPr>
            <a:r>
              <a:rPr lang="en-US" sz="1100" dirty="0">
                <a:solidFill>
                  <a:srgbClr val="5A6B87"/>
                </a:solidFill>
                <a:latin typeface="Calibri" pitchFamily="34" charset="0"/>
                <a:ea typeface="Calibri" pitchFamily="34" charset="-122"/>
                <a:cs typeface="Calibri" pitchFamily="34" charset="-120"/>
              </a:rPr>
              <a:t>Analytics Trends in AI: artificialanalysis.ai</a:t>
            </a:r>
            <a:endParaRPr lang="en-US" sz="1100" dirty="0"/>
          </a:p>
        </p:txBody>
      </p:sp>
      <p:sp>
        <p:nvSpPr>
          <p:cNvPr id="17" name="Text 15"/>
          <p:cNvSpPr/>
          <p:nvPr/>
        </p:nvSpPr>
        <p:spPr>
          <a:xfrm>
            <a:off x="6492240" y="3063240"/>
            <a:ext cx="5029200" cy="3657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Try it yourself</a:t>
            </a:r>
            <a:endParaRPr lang="en-US" sz="1350" dirty="0"/>
          </a:p>
        </p:txBody>
      </p:sp>
      <p:sp>
        <p:nvSpPr>
          <p:cNvPr id="18" name="Text 16"/>
          <p:cNvSpPr/>
          <p:nvPr/>
        </p:nvSpPr>
        <p:spPr>
          <a:xfrm>
            <a:off x="6492240" y="3474720"/>
            <a:ext cx="5029200" cy="1463040"/>
          </a:xfrm>
          <a:prstGeom prst="rect">
            <a:avLst/>
          </a:prstGeom>
          <a:noFill/>
          <a:ln/>
        </p:spPr>
        <p:txBody>
          <a:bodyPr wrap="square" rtlCol="0" anchor="ctr"/>
          <a:lstStyle/>
          <a:p>
            <a:pPr indent="0" marL="0">
              <a:buNone/>
            </a:pPr>
            <a:r>
              <a:rPr lang="en-US" sz="1050" dirty="0">
                <a:solidFill>
                  <a:srgbClr val="1E2761"/>
                </a:solidFill>
                <a:latin typeface="Calibri" pitchFamily="34" charset="0"/>
                <a:ea typeface="Calibri" pitchFamily="34" charset="-122"/>
                <a:cs typeface="Calibri" pitchFamily="34" charset="-120"/>
              </a:rPr>
              <a:t>Pick one open-source and one closed-source tool. Give both the same "good" prompt (clear, specific) and the same "bad" prompt (vague, ambiguous). Compare tone, accuracy, and alignment in the responses.</a:t>
            </a:r>
            <a:endParaRPr lang="en-US" sz="1050" dirty="0"/>
          </a:p>
        </p:txBody>
      </p:sp>
      <p:sp>
        <p:nvSpPr>
          <p:cNvPr id="19" name="Text 17"/>
          <p:cNvSpPr/>
          <p:nvPr/>
        </p:nvSpPr>
        <p:spPr>
          <a:xfrm>
            <a:off x="457200" y="6528816"/>
            <a:ext cx="7315200" cy="274320"/>
          </a:xfrm>
          <a:prstGeom prst="rect">
            <a:avLst/>
          </a:prstGeom>
          <a:noFill/>
          <a:ln/>
        </p:spPr>
        <p:txBody>
          <a:bodyPr wrap="square" rtlCol="0" anchor="ctr"/>
          <a:lstStyle/>
          <a:p>
            <a:pPr algn="l" indent="0" marL="0">
              <a:buNone/>
            </a:pPr>
            <a:r>
              <a:rPr lang="en-US" sz="1000" dirty="0">
                <a:solidFill>
                  <a:srgbClr val="5A6B87"/>
                </a:solidFill>
                <a:latin typeface="Calibri" pitchFamily="34" charset="0"/>
                <a:ea typeface="Calibri" pitchFamily="34" charset="-122"/>
                <a:cs typeface="Calibri" pitchFamily="34" charset="-120"/>
              </a:rPr>
              <a:t>Overview of GenAI Platforms</a:t>
            </a:r>
            <a:endParaRPr lang="en-US" sz="1000" dirty="0"/>
          </a:p>
        </p:txBody>
      </p:sp>
      <p:sp>
        <p:nvSpPr>
          <p:cNvPr id="20" name="Text 18"/>
          <p:cNvSpPr/>
          <p:nvPr/>
        </p:nvSpPr>
        <p:spPr>
          <a:xfrm>
            <a:off x="11274552" y="6528816"/>
            <a:ext cx="457200" cy="274320"/>
          </a:xfrm>
          <a:prstGeom prst="rect">
            <a:avLst/>
          </a:prstGeom>
          <a:noFill/>
          <a:ln/>
        </p:spPr>
        <p:txBody>
          <a:bodyPr wrap="square" rtlCol="0" anchor="ctr"/>
          <a:lstStyle/>
          <a:p>
            <a:pPr algn="r" indent="0" marL="0">
              <a:buNone/>
            </a:pPr>
            <a:r>
              <a:rPr lang="en-US" sz="1000" dirty="0">
                <a:solidFill>
                  <a:srgbClr val="5A6B87"/>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2026-08-09T14:12:50Z</dcterms:created>
  <dcterms:modified xsi:type="dcterms:W3CDTF">2026-08-09T14:12:50Z</dcterms:modified>
</cp:coreProperties>
</file>